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Begin with the actual engineering stages. The initial ambition included video; the implemented scope is images. The original report implements three notebook phases: forensic, semantic, final GLM. The later work evaluates newer generators, fine-tunes CF and builds recorded-provenance software plus a local API. Context checks and video remain future work. Report PDF pp. 3-4 and 18.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Project record: https://app.notion.com/p/3d4b28a9701681b08a4ecf17f2c617d5</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Report PDF pp. 4-10. EfficientNet-B0 training used 28,000 balanced Tiny-GenImage images; original validation contained 7,000. The VAE trained on real images only. The earlier OpenForensics EfficientNetV2-B0 used 140,002 train / 39,428 validation / 10,905 held-out test images. Its output was P(real), so it was converted to P(fake) before fusion. FaceGate used a pretrained face detector plus custom applicability logic. VAE was retained as a supporting feature in the original fusion, despite weak standalone detection.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Phase 1 notebook: https://colab.research.google.com/drive/1dnixYaksBWkr5lI4JX_W_5ALkXEj-USt</a:t>
            </a:r>
            <a:endParaRPr/>
          </a:p>
        </p:txBody>
      </p:sp>
      <p:sp>
        <p:nvSpPr>
          <p:cNvPr id="111" name="Google Shape;11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Report PDF pp. 6, 8 and 10. Raw EfficientNet validation precision .988 / recall .752 at threshold .5; calibrated precision .891 / recall .886. AUC stayed about .954. The VAE's real/fake reconstruction errors overlapped: real mean .01270, fake mean .01362; real median .01153, fake median .01057. Standalone VAE AUC .470. Learned Phase-1 fusion results use a separate held-out fusion split and must not be mixed with Phase-3 split results. Optional MLP achieved .9561 versus GLM .9542. This does not imply MLP lost that comparison; GLM remained the interpretable basis for later fusion.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Phase 1 experiments: https://colab.research.google.com/drive/1dnixYaksBWkr5lI4JX_W_5ALkXEj-USt</a:t>
            </a:r>
            <a:endParaRPr/>
          </a:p>
        </p:txBody>
      </p:sp>
      <p:sp>
        <p:nvSpPr>
          <p:cNvPr id="139" name="Google Shape;139;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Report PDF pp. 11-13 and 18. The same Tiny-GenImage image universe supported forensic and semantic work so the caches could later be aligned by image ID. Implemented query/key/value projections and multi-head self-attention, MLP refinement, and attention pooling. Backbone frozen; 856,578 trainable custom-head parameters, about 87.2M total. Standalone semantic test on 7,000 images: AUROC .9256, recall .9063, accuracy .8393; TN2703 FP797 FN328 TP3172. The .9303 semantic AUROC on slide 6 uses the smaller Phase-3 test subset. Region reasoning was the motivation, not proof of factual/caption understanding.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Phase 2 notebook: https://colab.research.google.com/drive/1r5V9lWqO7ZM1TNSB2n80lOHfjQ_Gxnv2</a:t>
            </a:r>
            <a:endParaRPr/>
          </a:p>
        </p:txBody>
      </p:sp>
      <p:sp>
        <p:nvSpPr>
          <p:cNvPr id="168" name="Google Shape;168;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Report PDF pp. 14 and 17-18. Merged 7,000 forensic rows and 7,000 semantic rows by image identity into 7,000 aligned examples, then split meta-model data 4,200/1,400/1,400. 11 forensic features and 6 semantic features. The report calls the meta-model splits leakage-safe; that does not independently establish isolation of all upstream calibration/model selection steps. Semantic logit had standardized coefficient +2.3509; EfficientNet probability +1.5015 and calibrated probability +1.1547. Correlated logits/probabilities mean individual coefficients are not causal feature importance.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Phase 3 notebook: https://colab.research.google.com/drive/1rstMyTcOg-Hrmq22erlgfNibx7MaCmP9</a:t>
            </a:r>
            <a:endParaRPr/>
          </a:p>
        </p:txBody>
      </p:sp>
      <p:sp>
        <p:nvSpPr>
          <p:cNvPr id="199" name="Google Shape;199;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Report PDF pp. 15-17. Exact accuracy .9407, F1 .9406, Brier .0493, AUROC .9819. Naive average .9763/.9171 accuracy. Full GLM confusion TN660 FP40 FN43 TP657, compared with calibrated EfficientNet TN661 FP39 FN97 TP603. 54 extra true positives with 1 extra false positive. These are historical results on the original dataset and must not be interpreted as CF metrics. AUROC is threshold-independent ranking performance; .5 is chance-level and 1 perfect.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Original results: https://colab.research.google.com/drive/1rstMyTcOg-Hrmq22erlgfNibx7MaCmP9</a:t>
            </a:r>
            <a:endParaRPr/>
          </a:p>
        </p:txBody>
      </p:sp>
      <p:sp>
        <p:nvSpPr>
          <p:cNvPr id="229" name="Google Shape;229;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Dataset preparation notebook is the source of Qwen-Image-Bench generated images and Open Images V7 real photos. Training families: nano-banana-2.0, Seedream-5.0, FLUX.2_max, Qwen-Image-2.0-pro, GLM-Image. gpt-image-2 held out. Development split grouping uses prompt ID. Qwen's quality ratings are not used as detection labels. Dataset source version and file identities were recorded. Unseen here means held out from this project's fine-tuning/selection, not a claim about all CF pretraining. Real examples were sampled from Open Images' source validation collection and repartitioned for this project.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Dataset notebook: https://colab.research.google.com/drive/1JgyHuz_RPeWgQf4aemqB0DSry_SvWkPV</a:t>
            </a:r>
            <a:endParaRPr/>
          </a:p>
          <a:p>
            <a:pPr indent="0" lvl="0" marL="0" rtl="0" algn="l">
              <a:spcBef>
                <a:spcPts val="0"/>
              </a:spcBef>
              <a:spcAft>
                <a:spcPts val="0"/>
              </a:spcAft>
              <a:buNone/>
            </a:pPr>
            <a:r>
              <a:rPr lang="en-US"/>
              <a:t>Qwen data: https://huggingface.co/datasets/Qwen/Qwen-Image-Bench</a:t>
            </a:r>
            <a:endParaRPr/>
          </a:p>
          <a:p>
            <a:pPr indent="0" lvl="0" marL="0" rtl="0" algn="l">
              <a:spcBef>
                <a:spcPts val="0"/>
              </a:spcBef>
              <a:spcAft>
                <a:spcPts val="0"/>
              </a:spcAft>
              <a:buNone/>
            </a:pPr>
            <a:r>
              <a:rPr lang="en-US"/>
              <a:t>Real photos: https://storage.googleapis.com/openimages/web/download_v7.html</a:t>
            </a:r>
            <a:endParaRPr/>
          </a:p>
        </p:txBody>
      </p:sp>
      <p:sp>
        <p:nvSpPr>
          <p:cNvPr id="265" name="Google Shape;265;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6" name="Google Shape;29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Same-image evaluation notebook and original report. The old full GLM's original .9819 AUROC and newer .606/.599 are on different datasets; the contrast diagnoses limited transfer, not a training trajectory. Cached every branch's outputs and aligned predictions to the same final image identities. Compared saved AI Shield, original CF and fine-tuned CF; saved disagreement tables. JPEG/resize robustness remains pending. The audit does not establish a single cause for the distribution shift.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Comparison notebook: https://colab.research.google.com/drive/10jl7g0qknxLUCGF1VddbqbVf43oef4oD</a:t>
            </a:r>
            <a:endParaRPr/>
          </a:p>
        </p:txBody>
      </p:sp>
      <p:sp>
        <p:nvSpPr>
          <p:cNvPr id="297" name="Google Shape;297;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 training notebook: pretrained validation AUROC 0.8780; head-only fine-tuning for three epochs reached 0.9804; unfreezing the final two transformer blocks, normalization and head for three more epochs reached 0.9870. Checkpoint selection and thresholds used validation data. This adapted an existing published model. The model revision, preprocessing and source files are recorded in the experiment manifest.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CF training notebook: https://colab.research.google.com/drive/1q5CB7k9fdY9ylfqMDQgClVl4k_ogNJef</a:t>
            </a:r>
            <a:endParaRPr/>
          </a:p>
        </p:txBody>
      </p:sp>
      <p:sp>
        <p:nvSpPr>
          <p:cNvPr id="325" name="Google Shape;32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All four models were evaluated on the same Dataset v1 final images. Fine-tuned CF accuracy was 95.16% on the ordinary test and 96.60% on the GPT Image 2 evaluation. The new fusion used CF, calibrated EfficientNet and FaceGate/OpenForensics with a new logistic regression. It excluded the VAE and did not reuse the original Phase-3 GLM. Its AUROC was slightly below CF alone on both sets; statistical significance of that difference was not established. Qwen Image 2 recall declined slightly after CF fine-tuning, so improvement was not uniform.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Same-image comparison: https://colab.research.google.com/drive/10jl7g0qknxLUCGF1VddbqbVf43oef4oD</a:t>
            </a:r>
            <a:endParaRPr/>
          </a:p>
          <a:p>
            <a:pPr indent="0" lvl="0" marL="0" rtl="0" algn="l">
              <a:spcBef>
                <a:spcPts val="0"/>
              </a:spcBef>
              <a:spcAft>
                <a:spcPts val="0"/>
              </a:spcAft>
              <a:buNone/>
            </a:pPr>
            <a:r>
              <a:rPr lang="en-US"/>
              <a:t>New fusion study: https://colab.research.google.com/drive/1Kus5at9casCE1rSVYUSZbEeiZpvNCkOE</a:t>
            </a:r>
            <a:endParaRPr/>
          </a:p>
        </p:txBody>
      </p:sp>
      <p:sp>
        <p:nvSpPr>
          <p:cNvPr id="354" name="Google Shape;354;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current backend runs CF alone. Previous detectors and the semantic attention head remain historical experiments. The default validation max-F1 threshold is 0.6339887976646423; the low-FPR alternative is 0.7482541799545288. Fixed preparation: frame 0, EXIF orientation, RGB, shorter-side resize 440 with bilinear antialiasing, center crop 384, ImageNet normalization, float32. The fine-tuned best.pt SHA-256 begins 51532d28 and is different from the pretrained and repository-root files. Six saved validation images matched standalone and live HTTP outputs within tolerance. These are implementation checks, not a new accuracy benchmark. SDAIE was discussed but not implemented.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Freeze notebook: https://colab.research.google.com/drive/1x1PmNrAi1RffEsunQq52HzGmjpY1oj0G</a:t>
            </a:r>
            <a:endParaRPr/>
          </a:p>
        </p:txBody>
      </p:sp>
      <p:sp>
        <p:nvSpPr>
          <p:cNvPr id="389" name="Google Shape;389;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 src/ai_shield_provenance.py and docs/PROVENANCE.md. ExifTool reads metadata from the original file. Conflicting tag values remain visible; embedded dates and filesystem dates are separate. GPS is opt-in. Metadata values are unverified recorded claims. Missing tags imply unknown origin. Camera tags or Photoshop tags do not independently establish authenticity or AI generation. The shown report is illustrative, not the output of a particular tested image.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Implementation record: https://app.notion.com/p/3d4b28a9701681b08a4ecf17f2c617d5</a:t>
            </a:r>
            <a:endParaRPr/>
          </a:p>
        </p:txBody>
      </p:sp>
      <p:sp>
        <p:nvSpPr>
          <p:cNvPr id="409" name="Google Shape;409;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0" name="Google Shape;43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 local provenance module and tests. Signature, image integrity and signer trust are independent checks. A signed manifest can retain a valid signature after image pixels are changed, while the asset-binding check fails. Trust anchors are configured independently of uploaded files. States include validated, untrusted, failed, incomplete, absent, remote reference, unsupported, unavailable and error. Verification is offline: remote manifests and live revocation responses are not retrieved. Valid credentials do not prove scene truth or human creation.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Provenance implementation: https://app.notion.com/p/3d4b28a9701681b08a4ecf17f2c617d5</a:t>
            </a:r>
            <a:endParaRPr/>
          </a:p>
        </p:txBody>
      </p:sp>
      <p:sp>
        <p:nvSpPr>
          <p:cNvPr id="431" name="Google Shape;431;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 name="Google Shape;45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 backend/app.py, backend/pipeline.py, backend/detector.py and docs/BACKEND.md. The original upload is inspected for provenance before CF preprocessing. /analyze returns detection and evidence; /health reports readiness and model identity. Metadata does not alter CF's score. The score is not claimed to be a calibrated probability. The local API validates JPEG/PNG/WebP, limits files to 25 MiB and images to 20 million pixels, limits concurrency and removes temporary uploads. Recorded verification passed 38 automated tests and six real HTTP reference-image checks. Public deployment still needs server-level native-processing timeouts and resource limits.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Backend progress: https://app.notion.com/p/3d4b28a9701681b08a4ecf17f2c617d5</a:t>
            </a:r>
            <a:endParaRPr/>
          </a:p>
          <a:p>
            <a:pPr indent="0" lvl="0" marL="0" rtl="0" algn="l">
              <a:spcBef>
                <a:spcPts val="0"/>
              </a:spcBef>
              <a:spcAft>
                <a:spcPts val="0"/>
              </a:spcAft>
              <a:buNone/>
            </a:pPr>
            <a:r>
              <a:rPr lang="en-US"/>
              <a:t>Detector verification: https://colab.research.google.com/drive/1x1PmNrAi1RffEsunQq52HzGmjpY1oj0G</a:t>
            </a:r>
            <a:endParaRPr/>
          </a:p>
        </p:txBody>
      </p:sp>
      <p:sp>
        <p:nvSpPr>
          <p:cNvPr id="460" name="Google Shape;460;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9" name="Google Shape;48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Current local implementation includes frozen CF inference, EXIF/C2PA evidence reporting and a combined FastAPI service. The hosted Hugging Face demo remains the old fusion. At the last recorded implementation state, provenance had a local unpushed commit and backend changes were uncommitted. No Oracle deployment or complete ARM runtime validation has been completed. JPEG/resize robustness and evaluation on artwork, renders and edited photos remain next work. Context checks and video are later extensions.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Project status: https://app.notion.com/p/3d4b28a9701681b08a4ecf17f2c617d5</a:t>
            </a:r>
            <a:endParaRPr/>
          </a:p>
          <a:p>
            <a:pPr indent="0" lvl="0" marL="0" rtl="0" algn="l">
              <a:spcBef>
                <a:spcPts val="0"/>
              </a:spcBef>
              <a:spcAft>
                <a:spcPts val="0"/>
              </a:spcAft>
              <a:buNone/>
            </a:pPr>
            <a:r>
              <a:rPr lang="en-US"/>
              <a:t>Repository: https://github.com/Abdulrahmansoliman/AI-SHEILD-MINI-CAPSTONE</a:t>
            </a:r>
            <a:endParaRPr/>
          </a:p>
        </p:txBody>
      </p:sp>
      <p:sp>
        <p:nvSpPr>
          <p:cNvPr id="490" name="Google Shape;490;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pp.notion.com/p/3d4b28a9701681b08a4ecf17f2c617d5"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colab.research.google.com/drive/1dnixYaksBWkr5lI4JX_W_5ALkXEj-US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colab.research.google.com/drive/1dnixYaksBWkr5lI4JX_W_5ALkXEj-US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colab.research.google.com/drive/1r5V9lWqO7ZM1TNSB2n80lOHfjQ_Gxnv2"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colab.research.google.com/drive/1rstMyTcOg-Hrmq22erlgfNibx7MaCmP9"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colab.research.google.com/drive/1rstMyTcOg-Hrmq22erlgfNibx7MaCmP9"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colab.research.google.com/drive/1JgyHuz_RPeWgQf4aemqB0DSry_SvWkPV" TargetMode="External"/><Relationship Id="rId4" Type="http://schemas.openxmlformats.org/officeDocument/2006/relationships/hyperlink" Target="https://huggingface.co/datasets/Qwen/Qwen-Image-Bench" TargetMode="External"/><Relationship Id="rId5" Type="http://schemas.openxmlformats.org/officeDocument/2006/relationships/hyperlink" Target="https://storage.googleapis.com/openimages/web/download_v7.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colab.research.google.com/drive/10jl7g0qknxLUCGF1VddbqbVf43oef4o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colab.research.google.com/drive/1q5CB7k9fdY9ylfqMDQgClVl4k_ogNJe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colab.research.google.com/drive/10jl7g0qknxLUCGF1VddbqbVf43oef4oD" TargetMode="External"/><Relationship Id="rId4" Type="http://schemas.openxmlformats.org/officeDocument/2006/relationships/hyperlink" Target="https://colab.research.google.com/drive/1Kus5at9casCE1rSVYUSZbEeiZpvNCkO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colab.research.google.com/drive/1x1PmNrAi1RffEsunQq52HzGmjpY1oj0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app.notion.com/p/3d4b28a9701681b08a4ecf17f2c617d5"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app.notion.com/p/3d4b28a9701681b08a4ecf17f2c617d5"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app.notion.com/p/3d4b28a9701681b08a4ecf17f2c617d5" TargetMode="External"/><Relationship Id="rId4" Type="http://schemas.openxmlformats.org/officeDocument/2006/relationships/hyperlink" Target="https://colab.research.google.com/drive/1x1PmNrAi1RffEsunQq52HzGmjpY1oj0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app.notion.com/p/3d4b28a9701681b08a4ecf17f2c617d5" TargetMode="External"/><Relationship Id="rId4" Type="http://schemas.openxmlformats.org/officeDocument/2006/relationships/hyperlink" Target="https://github.com/Abdulrahmansoliman/AI-SHEILD-MINI-CAPSTON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2192000"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p:nvPr/>
        </p:nvSpPr>
        <p:spPr>
          <a:xfrm>
            <a:off x="0" y="0"/>
            <a:ext cx="101600" cy="6858000"/>
          </a:xfrm>
          <a:prstGeom prst="rect">
            <a:avLst/>
          </a:prstGeom>
          <a:solidFill>
            <a:srgbClr val="00796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txBox="1"/>
          <p:nvPr/>
        </p:nvSpPr>
        <p:spPr>
          <a:xfrm>
            <a:off x="558800" y="304800"/>
            <a:ext cx="10160000" cy="19304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1000">
                <a:solidFill>
                  <a:srgbClr val="00796B"/>
                </a:solidFill>
              </a:rPr>
              <a:t>AI SHIELD / SYSTEM DEVELOPMENT</a:t>
            </a:r>
            <a:endParaRPr b="1" sz="1000">
              <a:solidFill>
                <a:srgbClr val="00796B"/>
              </a:solidFill>
            </a:endParaRPr>
          </a:p>
        </p:txBody>
      </p:sp>
      <p:sp>
        <p:nvSpPr>
          <p:cNvPr id="88" name="Google Shape;88;p13"/>
          <p:cNvSpPr txBox="1"/>
          <p:nvPr/>
        </p:nvSpPr>
        <p:spPr>
          <a:xfrm>
            <a:off x="10947400" y="304800"/>
            <a:ext cx="736600" cy="19304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000" u="none" cap="none" strike="noStrike">
                <a:solidFill>
                  <a:srgbClr val="546966"/>
                </a:solidFill>
                <a:latin typeface="Arial"/>
                <a:ea typeface="Arial"/>
                <a:cs typeface="Arial"/>
                <a:sym typeface="Arial"/>
              </a:rPr>
              <a:t>01 / 15</a:t>
            </a:r>
            <a:endParaRPr/>
          </a:p>
        </p:txBody>
      </p:sp>
      <p:sp>
        <p:nvSpPr>
          <p:cNvPr id="89" name="Google Shape;89;p13"/>
          <p:cNvSpPr txBox="1"/>
          <p:nvPr/>
        </p:nvSpPr>
        <p:spPr>
          <a:xfrm>
            <a:off x="558800" y="723900"/>
            <a:ext cx="11074500" cy="6096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2800">
                <a:solidFill>
                  <a:srgbClr val="172C2B"/>
                </a:solidFill>
              </a:rPr>
              <a:t>AI Shield: the systems I built</a:t>
            </a:r>
            <a:endParaRPr b="1" sz="2800">
              <a:solidFill>
                <a:srgbClr val="172C2B"/>
              </a:solidFill>
            </a:endParaRPr>
          </a:p>
        </p:txBody>
      </p:sp>
      <p:cxnSp>
        <p:nvCxnSpPr>
          <p:cNvPr id="90" name="Google Shape;90;p13"/>
          <p:cNvCxnSpPr/>
          <p:nvPr/>
        </p:nvCxnSpPr>
        <p:spPr>
          <a:xfrm>
            <a:off x="558800" y="6375400"/>
            <a:ext cx="11074400" cy="0"/>
          </a:xfrm>
          <a:prstGeom prst="straightConnector1">
            <a:avLst/>
          </a:prstGeom>
          <a:noFill/>
          <a:ln cap="flat" cmpd="sng" w="12700">
            <a:solidFill>
              <a:srgbClr val="DCE5E2"/>
            </a:solidFill>
            <a:prstDash val="solid"/>
            <a:round/>
            <a:headEnd len="sm" w="sm" type="none"/>
            <a:tailEnd len="sm" w="sm" type="none"/>
          </a:ln>
          <a:effectLst>
            <a:outerShdw blurRad="40000" rotWithShape="0" dir="5400000" dist="20000">
              <a:srgbClr val="000000">
                <a:alpha val="38039"/>
              </a:srgbClr>
            </a:outerShdw>
          </a:effectLst>
        </p:spPr>
      </p:cxnSp>
      <p:sp>
        <p:nvSpPr>
          <p:cNvPr id="91" name="Google Shape;91;p13"/>
          <p:cNvSpPr txBox="1"/>
          <p:nvPr/>
        </p:nvSpPr>
        <p:spPr>
          <a:xfrm>
            <a:off x="558800" y="6540500"/>
            <a:ext cx="5080000" cy="169799"/>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850" u="none" cap="none" strike="noStrike">
                <a:solidFill>
                  <a:srgbClr val="546966"/>
                </a:solidFill>
                <a:latin typeface="Arial"/>
                <a:ea typeface="Arial"/>
                <a:cs typeface="Arial"/>
                <a:sym typeface="Arial"/>
              </a:rPr>
              <a:t>AI SHIELD / ABDELRAHMAN SOLIMAN</a:t>
            </a:r>
            <a:endParaRPr/>
          </a:p>
        </p:txBody>
      </p:sp>
      <p:sp>
        <p:nvSpPr>
          <p:cNvPr id="92" name="Google Shape;92;p13"/>
          <p:cNvSpPr txBox="1"/>
          <p:nvPr/>
        </p:nvSpPr>
        <p:spPr>
          <a:xfrm>
            <a:off x="558800" y="1409700"/>
            <a:ext cx="110745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546966"/>
                </a:solidFill>
              </a:rPr>
              <a:t>Abdelrahman Soliman | Image detection, model evaluation, and recorded provenance</a:t>
            </a:r>
            <a:endParaRPr>
              <a:solidFill>
                <a:srgbClr val="546966"/>
              </a:solidFill>
            </a:endParaRPr>
          </a:p>
        </p:txBody>
      </p:sp>
      <p:sp>
        <p:nvSpPr>
          <p:cNvPr id="93" name="Google Shape;93;p13"/>
          <p:cNvSpPr/>
          <p:nvPr/>
        </p:nvSpPr>
        <p:spPr>
          <a:xfrm>
            <a:off x="558800" y="2108200"/>
            <a:ext cx="3530700" cy="27813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4" name="Google Shape;94;p13"/>
          <p:cNvSpPr/>
          <p:nvPr/>
        </p:nvSpPr>
        <p:spPr>
          <a:xfrm>
            <a:off x="558800" y="2108200"/>
            <a:ext cx="50700" cy="2781300"/>
          </a:xfrm>
          <a:prstGeom prst="rect">
            <a:avLst/>
          </a:prstGeom>
          <a:solidFill>
            <a:srgbClr val="0079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5" name="Google Shape;95;p13"/>
          <p:cNvSpPr txBox="1"/>
          <p:nvPr/>
        </p:nvSpPr>
        <p:spPr>
          <a:xfrm>
            <a:off x="762000" y="2260600"/>
            <a:ext cx="3124200" cy="6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100">
                <a:solidFill>
                  <a:srgbClr val="00796B"/>
                </a:solidFill>
              </a:rPr>
              <a:t>1  Original ML pipeline</a:t>
            </a:r>
            <a:endParaRPr b="1" sz="2100">
              <a:solidFill>
                <a:srgbClr val="00796B"/>
              </a:solidFill>
            </a:endParaRPr>
          </a:p>
        </p:txBody>
      </p:sp>
      <p:sp>
        <p:nvSpPr>
          <p:cNvPr id="96" name="Google Shape;96;p13"/>
          <p:cNvSpPr txBox="1"/>
          <p:nvPr/>
        </p:nvSpPr>
        <p:spPr>
          <a:xfrm>
            <a:off x="762000" y="3022600"/>
            <a:ext cx="3124200" cy="176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EfficientNet + custom VAE</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OpenForensics + FaceGate</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Custom ViT attention head</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Forensic + semantic GLM</a:t>
            </a:r>
            <a:endParaRPr sz="1700">
              <a:solidFill>
                <a:srgbClr val="172C2B"/>
              </a:solidFill>
            </a:endParaRPr>
          </a:p>
        </p:txBody>
      </p:sp>
      <p:sp>
        <p:nvSpPr>
          <p:cNvPr id="97" name="Google Shape;97;p13"/>
          <p:cNvSpPr/>
          <p:nvPr/>
        </p:nvSpPr>
        <p:spPr>
          <a:xfrm>
            <a:off x="4330700" y="2108200"/>
            <a:ext cx="3530700" cy="27813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8" name="Google Shape;98;p13"/>
          <p:cNvSpPr/>
          <p:nvPr/>
        </p:nvSpPr>
        <p:spPr>
          <a:xfrm>
            <a:off x="4330700" y="2108200"/>
            <a:ext cx="50700" cy="2781300"/>
          </a:xfrm>
          <a:prstGeom prst="rect">
            <a:avLst/>
          </a:prstGeom>
          <a:solidFill>
            <a:srgbClr val="0079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9" name="Google Shape;99;p13"/>
          <p:cNvSpPr txBox="1"/>
          <p:nvPr/>
        </p:nvSpPr>
        <p:spPr>
          <a:xfrm>
            <a:off x="4533900" y="2260600"/>
            <a:ext cx="3124200" cy="6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100">
                <a:solidFill>
                  <a:srgbClr val="00796B"/>
                </a:solidFill>
              </a:rPr>
              <a:t>2  Detector replacement</a:t>
            </a:r>
            <a:endParaRPr b="1" sz="2100">
              <a:solidFill>
                <a:srgbClr val="00796B"/>
              </a:solidFill>
            </a:endParaRPr>
          </a:p>
        </p:txBody>
      </p:sp>
      <p:sp>
        <p:nvSpPr>
          <p:cNvPr id="100" name="Google Shape;100;p13"/>
          <p:cNvSpPr txBox="1"/>
          <p:nvPr/>
        </p:nvSpPr>
        <p:spPr>
          <a:xfrm>
            <a:off x="4533900" y="3022600"/>
            <a:ext cx="3124200" cy="176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New multi-generator dataset</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Same-image comparison</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Two-stage CF fine-tuning</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Second fusion experiment</a:t>
            </a:r>
            <a:endParaRPr sz="1700">
              <a:solidFill>
                <a:srgbClr val="172C2B"/>
              </a:solidFill>
            </a:endParaRPr>
          </a:p>
        </p:txBody>
      </p:sp>
      <p:sp>
        <p:nvSpPr>
          <p:cNvPr id="101" name="Google Shape;101;p13"/>
          <p:cNvSpPr/>
          <p:nvPr/>
        </p:nvSpPr>
        <p:spPr>
          <a:xfrm>
            <a:off x="8102600" y="2108200"/>
            <a:ext cx="3530700" cy="27813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2" name="Google Shape;102;p13"/>
          <p:cNvSpPr/>
          <p:nvPr/>
        </p:nvSpPr>
        <p:spPr>
          <a:xfrm>
            <a:off x="8102600" y="2108200"/>
            <a:ext cx="50700" cy="2781300"/>
          </a:xfrm>
          <a:prstGeom prst="rect">
            <a:avLst/>
          </a:prstGeom>
          <a:solidFill>
            <a:srgbClr val="0079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3" name="Google Shape;103;p13"/>
          <p:cNvSpPr txBox="1"/>
          <p:nvPr/>
        </p:nvSpPr>
        <p:spPr>
          <a:xfrm>
            <a:off x="8305800" y="2260600"/>
            <a:ext cx="3124200" cy="6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100">
                <a:solidFill>
                  <a:srgbClr val="00796B"/>
                </a:solidFill>
              </a:rPr>
              <a:t>3  Current implementation</a:t>
            </a:r>
            <a:endParaRPr b="1" sz="2100">
              <a:solidFill>
                <a:srgbClr val="00796B"/>
              </a:solidFill>
            </a:endParaRPr>
          </a:p>
        </p:txBody>
      </p:sp>
      <p:sp>
        <p:nvSpPr>
          <p:cNvPr id="104" name="Google Shape;104;p13"/>
          <p:cNvSpPr txBox="1"/>
          <p:nvPr/>
        </p:nvSpPr>
        <p:spPr>
          <a:xfrm>
            <a:off x="8305800" y="3022600"/>
            <a:ext cx="3124200" cy="176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Frozen CF inference</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EXIF metadata extraction</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C2PA credential checks</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Combined FastAPI backend</a:t>
            </a:r>
            <a:endParaRPr sz="1700">
              <a:solidFill>
                <a:srgbClr val="172C2B"/>
              </a:solidFill>
            </a:endParaRPr>
          </a:p>
        </p:txBody>
      </p:sp>
      <p:sp>
        <p:nvSpPr>
          <p:cNvPr id="105" name="Google Shape;105;p13"/>
          <p:cNvSpPr/>
          <p:nvPr/>
        </p:nvSpPr>
        <p:spPr>
          <a:xfrm>
            <a:off x="558800" y="5702300"/>
            <a:ext cx="11074500" cy="5079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6" name="Google Shape;106;p13"/>
          <p:cNvSpPr txBox="1"/>
          <p:nvPr/>
        </p:nvSpPr>
        <p:spPr>
          <a:xfrm>
            <a:off x="711200" y="5765800"/>
            <a:ext cx="107697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Current system: fine-tuned Community Forensics + separate provenance evidence.</a:t>
            </a:r>
            <a:endParaRPr b="1" sz="1700">
              <a:solidFill>
                <a:srgbClr val="00796B"/>
              </a:solidFill>
            </a:endParaRPr>
          </a:p>
        </p:txBody>
      </p:sp>
      <p:sp>
        <p:nvSpPr>
          <p:cNvPr id="107" name="Google Shape;107;p13"/>
          <p:cNvSpPr txBox="1"/>
          <p:nvPr/>
        </p:nvSpPr>
        <p:spPr>
          <a:xfrm>
            <a:off x="70358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3"/>
              </a:rPr>
              <a:t>Project record</a:t>
            </a:r>
            <a:endParaRPr sz="850">
              <a:solidFill>
                <a:srgbClr val="54696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4"/>
          <p:cNvSpPr/>
          <p:nvPr/>
        </p:nvSpPr>
        <p:spPr>
          <a:xfrm>
            <a:off x="0" y="0"/>
            <a:ext cx="12192000"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4"/>
          <p:cNvSpPr/>
          <p:nvPr/>
        </p:nvSpPr>
        <p:spPr>
          <a:xfrm>
            <a:off x="0" y="0"/>
            <a:ext cx="101600" cy="6858000"/>
          </a:xfrm>
          <a:prstGeom prst="rect">
            <a:avLst/>
          </a:prstGeom>
          <a:solidFill>
            <a:srgbClr val="00796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14"/>
          <p:cNvSpPr txBox="1"/>
          <p:nvPr/>
        </p:nvSpPr>
        <p:spPr>
          <a:xfrm>
            <a:off x="558800" y="304800"/>
            <a:ext cx="10160000" cy="19304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1000">
                <a:solidFill>
                  <a:srgbClr val="00796B"/>
                </a:solidFill>
              </a:rPr>
              <a:t>ORIGINAL SYSTEM / PHASE 1</a:t>
            </a:r>
            <a:endParaRPr b="1" sz="1000">
              <a:solidFill>
                <a:srgbClr val="00796B"/>
              </a:solidFill>
            </a:endParaRPr>
          </a:p>
        </p:txBody>
      </p:sp>
      <p:sp>
        <p:nvSpPr>
          <p:cNvPr id="116" name="Google Shape;116;p14"/>
          <p:cNvSpPr txBox="1"/>
          <p:nvPr/>
        </p:nvSpPr>
        <p:spPr>
          <a:xfrm>
            <a:off x="10947400" y="304800"/>
            <a:ext cx="736600" cy="19304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000" u="none" cap="none" strike="noStrike">
                <a:solidFill>
                  <a:srgbClr val="546966"/>
                </a:solidFill>
                <a:latin typeface="Arial"/>
                <a:ea typeface="Arial"/>
                <a:cs typeface="Arial"/>
                <a:sym typeface="Arial"/>
              </a:rPr>
              <a:t>02 / 15</a:t>
            </a:r>
            <a:endParaRPr/>
          </a:p>
        </p:txBody>
      </p:sp>
      <p:sp>
        <p:nvSpPr>
          <p:cNvPr id="117" name="Google Shape;117;p14"/>
          <p:cNvSpPr txBox="1"/>
          <p:nvPr/>
        </p:nvSpPr>
        <p:spPr>
          <a:xfrm>
            <a:off x="558800" y="723900"/>
            <a:ext cx="11074500" cy="6096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2800">
                <a:solidFill>
                  <a:srgbClr val="172C2B"/>
                </a:solidFill>
              </a:rPr>
              <a:t>Forensic layer: three different visual signals</a:t>
            </a:r>
            <a:endParaRPr b="1" sz="2800">
              <a:solidFill>
                <a:srgbClr val="172C2B"/>
              </a:solidFill>
            </a:endParaRPr>
          </a:p>
        </p:txBody>
      </p:sp>
      <p:sp>
        <p:nvSpPr>
          <p:cNvPr id="118" name="Google Shape;118;p14"/>
          <p:cNvSpPr txBox="1"/>
          <p:nvPr/>
        </p:nvSpPr>
        <p:spPr>
          <a:xfrm>
            <a:off x="584200" y="1409700"/>
            <a:ext cx="11049000" cy="255015"/>
          </a:xfrm>
          <a:prstGeom prst="rect">
            <a:avLst/>
          </a:prstGeom>
          <a:noFill/>
          <a:ln>
            <a:noFill/>
          </a:ln>
        </p:spPr>
        <p:txBody>
          <a:bodyPr anchorCtr="0" anchor="t" bIns="0" lIns="0" spcFirstLastPara="1" rIns="0" wrap="square" tIns="0">
            <a:noAutofit/>
          </a:bodyPr>
          <a:lstStyle/>
          <a:p>
            <a:pPr indent="0" lvl="0" marL="0" marR="0" rtl="0" algn="l">
              <a:lnSpc>
                <a:spcPct val="121928"/>
              </a:lnSpc>
              <a:spcBef>
                <a:spcPts val="0"/>
              </a:spcBef>
              <a:spcAft>
                <a:spcPts val="0"/>
              </a:spcAft>
              <a:buNone/>
            </a:pPr>
            <a:r>
              <a:rPr lang="en-US">
                <a:solidFill>
                  <a:srgbClr val="546966"/>
                </a:solidFill>
              </a:rPr>
              <a:t>Tiny-GenImage supplied general images; OpenForensics supplied face-manipulation training.</a:t>
            </a:r>
            <a:endParaRPr>
              <a:solidFill>
                <a:srgbClr val="546966"/>
              </a:solidFill>
            </a:endParaRPr>
          </a:p>
        </p:txBody>
      </p:sp>
      <p:cxnSp>
        <p:nvCxnSpPr>
          <p:cNvPr id="119" name="Google Shape;119;p14"/>
          <p:cNvCxnSpPr/>
          <p:nvPr/>
        </p:nvCxnSpPr>
        <p:spPr>
          <a:xfrm>
            <a:off x="558800" y="6375400"/>
            <a:ext cx="11074400" cy="0"/>
          </a:xfrm>
          <a:prstGeom prst="straightConnector1">
            <a:avLst/>
          </a:prstGeom>
          <a:noFill/>
          <a:ln cap="flat" cmpd="sng" w="12700">
            <a:solidFill>
              <a:srgbClr val="DCE5E2"/>
            </a:solidFill>
            <a:prstDash val="solid"/>
            <a:round/>
            <a:headEnd len="sm" w="sm" type="none"/>
            <a:tailEnd len="sm" w="sm" type="none"/>
          </a:ln>
          <a:effectLst>
            <a:outerShdw blurRad="40000" rotWithShape="0" dir="5400000" dist="20000">
              <a:srgbClr val="000000">
                <a:alpha val="38039"/>
              </a:srgbClr>
            </a:outerShdw>
          </a:effectLst>
        </p:spPr>
      </p:cxnSp>
      <p:sp>
        <p:nvSpPr>
          <p:cNvPr id="120" name="Google Shape;120;p14"/>
          <p:cNvSpPr txBox="1"/>
          <p:nvPr/>
        </p:nvSpPr>
        <p:spPr>
          <a:xfrm>
            <a:off x="558800" y="6540500"/>
            <a:ext cx="5080000" cy="169799"/>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850" u="none" cap="none" strike="noStrike">
                <a:solidFill>
                  <a:srgbClr val="546966"/>
                </a:solidFill>
                <a:latin typeface="Arial"/>
                <a:ea typeface="Arial"/>
                <a:cs typeface="Arial"/>
                <a:sym typeface="Arial"/>
              </a:rPr>
              <a:t>AI SHIELD / ABDELRAHMAN SOLIMAN</a:t>
            </a:r>
            <a:endParaRPr/>
          </a:p>
        </p:txBody>
      </p:sp>
      <p:sp>
        <p:nvSpPr>
          <p:cNvPr id="121" name="Google Shape;121;p14"/>
          <p:cNvSpPr/>
          <p:nvPr/>
        </p:nvSpPr>
        <p:spPr>
          <a:xfrm>
            <a:off x="558800" y="2070100"/>
            <a:ext cx="3530700" cy="29211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2" name="Google Shape;122;p14"/>
          <p:cNvSpPr/>
          <p:nvPr/>
        </p:nvSpPr>
        <p:spPr>
          <a:xfrm>
            <a:off x="558800" y="2070100"/>
            <a:ext cx="50700" cy="2921100"/>
          </a:xfrm>
          <a:prstGeom prst="rect">
            <a:avLst/>
          </a:prstGeom>
          <a:solidFill>
            <a:srgbClr val="0079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3" name="Google Shape;123;p14"/>
          <p:cNvSpPr txBox="1"/>
          <p:nvPr/>
        </p:nvSpPr>
        <p:spPr>
          <a:xfrm>
            <a:off x="762000" y="2222500"/>
            <a:ext cx="3124200" cy="6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100">
                <a:solidFill>
                  <a:srgbClr val="00796B"/>
                </a:solidFill>
              </a:rPr>
              <a:t>EfficientNet-B0</a:t>
            </a:r>
            <a:endParaRPr b="1" sz="2100">
              <a:solidFill>
                <a:srgbClr val="00796B"/>
              </a:solidFill>
            </a:endParaRPr>
          </a:p>
        </p:txBody>
      </p:sp>
      <p:sp>
        <p:nvSpPr>
          <p:cNvPr id="124" name="Google Shape;124;p14"/>
          <p:cNvSpPr txBox="1"/>
          <p:nvPr/>
        </p:nvSpPr>
        <p:spPr>
          <a:xfrm>
            <a:off x="762000" y="2984500"/>
            <a:ext cx="3124200" cy="190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Learn real/fake artifacts.</a:t>
            </a:r>
            <a:endParaRPr sz="1700">
              <a:solidFill>
                <a:srgbClr val="172C2B"/>
              </a:solidFill>
            </a:endParaRPr>
          </a:p>
          <a:p>
            <a:pPr indent="0" lvl="0" marL="0" rtl="0" algn="l">
              <a:lnSpc>
                <a:spcPct val="115000"/>
              </a:lnSpc>
              <a:spcBef>
                <a:spcPts val="0"/>
              </a:spcBef>
              <a:spcAft>
                <a:spcPts val="0"/>
              </a:spcAft>
              <a:buNone/>
            </a:pPr>
            <a:r>
              <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Trained on 28,000 images;</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calibrated scores and</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cached predictions.</a:t>
            </a:r>
            <a:endParaRPr sz="1700">
              <a:solidFill>
                <a:srgbClr val="172C2B"/>
              </a:solidFill>
            </a:endParaRPr>
          </a:p>
        </p:txBody>
      </p:sp>
      <p:sp>
        <p:nvSpPr>
          <p:cNvPr id="125" name="Google Shape;125;p14"/>
          <p:cNvSpPr/>
          <p:nvPr/>
        </p:nvSpPr>
        <p:spPr>
          <a:xfrm>
            <a:off x="4330700" y="2070100"/>
            <a:ext cx="3530700" cy="29211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6" name="Google Shape;126;p14"/>
          <p:cNvSpPr/>
          <p:nvPr/>
        </p:nvSpPr>
        <p:spPr>
          <a:xfrm>
            <a:off x="4330700" y="2070100"/>
            <a:ext cx="50700" cy="2921100"/>
          </a:xfrm>
          <a:prstGeom prst="rect">
            <a:avLst/>
          </a:prstGeom>
          <a:solidFill>
            <a:srgbClr val="B77B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7" name="Google Shape;127;p14"/>
          <p:cNvSpPr txBox="1"/>
          <p:nvPr/>
        </p:nvSpPr>
        <p:spPr>
          <a:xfrm>
            <a:off x="4533900" y="2222500"/>
            <a:ext cx="3124200" cy="6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100">
                <a:solidFill>
                  <a:srgbClr val="B77B00"/>
                </a:solidFill>
              </a:rPr>
              <a:t>Custom real-only VAE</a:t>
            </a:r>
            <a:endParaRPr b="1" sz="2100">
              <a:solidFill>
                <a:srgbClr val="B77B00"/>
              </a:solidFill>
            </a:endParaRPr>
          </a:p>
        </p:txBody>
      </p:sp>
      <p:sp>
        <p:nvSpPr>
          <p:cNvPr id="128" name="Google Shape;128;p14"/>
          <p:cNvSpPr txBox="1"/>
          <p:nvPr/>
        </p:nvSpPr>
        <p:spPr>
          <a:xfrm>
            <a:off x="4533900" y="2984500"/>
            <a:ext cx="3124200" cy="190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Test reconstruction error.</a:t>
            </a:r>
            <a:endParaRPr sz="1700">
              <a:solidFill>
                <a:srgbClr val="172C2B"/>
              </a:solidFill>
            </a:endParaRPr>
          </a:p>
          <a:p>
            <a:pPr indent="0" lvl="0" marL="0" rtl="0" algn="l">
              <a:lnSpc>
                <a:spcPct val="115000"/>
              </a:lnSpc>
              <a:spcBef>
                <a:spcPts val="0"/>
              </a:spcBef>
              <a:spcAft>
                <a:spcPts val="0"/>
              </a:spcAft>
              <a:buNone/>
            </a:pPr>
            <a:r>
              <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Built encoder, decoder,</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latent sampling, losses,</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and training loop.</a:t>
            </a:r>
            <a:endParaRPr sz="1700">
              <a:solidFill>
                <a:srgbClr val="172C2B"/>
              </a:solidFill>
            </a:endParaRPr>
          </a:p>
        </p:txBody>
      </p:sp>
      <p:sp>
        <p:nvSpPr>
          <p:cNvPr id="129" name="Google Shape;129;p14"/>
          <p:cNvSpPr/>
          <p:nvPr/>
        </p:nvSpPr>
        <p:spPr>
          <a:xfrm>
            <a:off x="8102600" y="2070100"/>
            <a:ext cx="3530700" cy="29211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0" name="Google Shape;130;p14"/>
          <p:cNvSpPr/>
          <p:nvPr/>
        </p:nvSpPr>
        <p:spPr>
          <a:xfrm>
            <a:off x="8102600" y="2070100"/>
            <a:ext cx="50700" cy="2921100"/>
          </a:xfrm>
          <a:prstGeom prst="rect">
            <a:avLst/>
          </a:prstGeom>
          <a:solidFill>
            <a:srgbClr val="0079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1" name="Google Shape;131;p14"/>
          <p:cNvSpPr txBox="1"/>
          <p:nvPr/>
        </p:nvSpPr>
        <p:spPr>
          <a:xfrm>
            <a:off x="8305800" y="2222500"/>
            <a:ext cx="3124200" cy="6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100">
                <a:solidFill>
                  <a:srgbClr val="00796B"/>
                </a:solidFill>
              </a:rPr>
              <a:t>OpenForensics + gate</a:t>
            </a:r>
            <a:endParaRPr b="1" sz="2100">
              <a:solidFill>
                <a:srgbClr val="00796B"/>
              </a:solidFill>
            </a:endParaRPr>
          </a:p>
        </p:txBody>
      </p:sp>
      <p:sp>
        <p:nvSpPr>
          <p:cNvPr id="132" name="Google Shape;132;p14"/>
          <p:cNvSpPr txBox="1"/>
          <p:nvPr/>
        </p:nvSpPr>
        <p:spPr>
          <a:xfrm>
            <a:off x="8305800" y="2984500"/>
            <a:ext cx="3124200" cy="190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Detect face manipulation.</a:t>
            </a:r>
            <a:endParaRPr sz="1700">
              <a:solidFill>
                <a:srgbClr val="172C2B"/>
              </a:solidFill>
            </a:endParaRPr>
          </a:p>
          <a:p>
            <a:pPr indent="0" lvl="0" marL="0" rtl="0" algn="l">
              <a:lnSpc>
                <a:spcPct val="115000"/>
              </a:lnSpc>
              <a:spcBef>
                <a:spcPts val="0"/>
              </a:spcBef>
              <a:spcAft>
                <a:spcPts val="0"/>
              </a:spcAft>
              <a:buNone/>
            </a:pPr>
            <a:r>
              <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Fine-tuned face model;</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FaceGate uses its score</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only with a valid face.</a:t>
            </a:r>
            <a:endParaRPr sz="1700">
              <a:solidFill>
                <a:srgbClr val="172C2B"/>
              </a:solidFill>
            </a:endParaRPr>
          </a:p>
        </p:txBody>
      </p:sp>
      <p:sp>
        <p:nvSpPr>
          <p:cNvPr id="133" name="Google Shape;133;p14"/>
          <p:cNvSpPr/>
          <p:nvPr/>
        </p:nvSpPr>
        <p:spPr>
          <a:xfrm>
            <a:off x="558800" y="5702300"/>
            <a:ext cx="11074500" cy="5079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4" name="Google Shape;134;p14"/>
          <p:cNvSpPr txBox="1"/>
          <p:nvPr/>
        </p:nvSpPr>
        <p:spPr>
          <a:xfrm>
            <a:off x="711200" y="5765800"/>
            <a:ext cx="107697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FaceGate records applicability, face count, size and confidence before fusion.</a:t>
            </a:r>
            <a:endParaRPr b="1" sz="1700">
              <a:solidFill>
                <a:srgbClr val="00796B"/>
              </a:solidFill>
            </a:endParaRPr>
          </a:p>
        </p:txBody>
      </p:sp>
      <p:sp>
        <p:nvSpPr>
          <p:cNvPr id="135" name="Google Shape;135;p14"/>
          <p:cNvSpPr txBox="1"/>
          <p:nvPr/>
        </p:nvSpPr>
        <p:spPr>
          <a:xfrm>
            <a:off x="70358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3"/>
              </a:rPr>
              <a:t>Phase 1 notebook</a:t>
            </a:r>
            <a:endParaRPr sz="850">
              <a:solidFill>
                <a:srgbClr val="54696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p:nvPr/>
        </p:nvSpPr>
        <p:spPr>
          <a:xfrm>
            <a:off x="0" y="0"/>
            <a:ext cx="12192000"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15"/>
          <p:cNvSpPr/>
          <p:nvPr/>
        </p:nvSpPr>
        <p:spPr>
          <a:xfrm>
            <a:off x="0" y="0"/>
            <a:ext cx="101600" cy="6858000"/>
          </a:xfrm>
          <a:prstGeom prst="rect">
            <a:avLst/>
          </a:prstGeom>
          <a:solidFill>
            <a:srgbClr val="00796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15"/>
          <p:cNvSpPr txBox="1"/>
          <p:nvPr/>
        </p:nvSpPr>
        <p:spPr>
          <a:xfrm>
            <a:off x="558800" y="304800"/>
            <a:ext cx="10160000" cy="19304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1000">
                <a:solidFill>
                  <a:srgbClr val="00796B"/>
                </a:solidFill>
              </a:rPr>
              <a:t>ORIGINAL SYSTEM / PHASE 1 EXPERIMENTS</a:t>
            </a:r>
            <a:endParaRPr b="1" sz="1000">
              <a:solidFill>
                <a:srgbClr val="00796B"/>
              </a:solidFill>
            </a:endParaRPr>
          </a:p>
        </p:txBody>
      </p:sp>
      <p:sp>
        <p:nvSpPr>
          <p:cNvPr id="144" name="Google Shape;144;p15"/>
          <p:cNvSpPr txBox="1"/>
          <p:nvPr/>
        </p:nvSpPr>
        <p:spPr>
          <a:xfrm>
            <a:off x="10947400" y="304800"/>
            <a:ext cx="736600" cy="19304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000" u="none" cap="none" strike="noStrike">
                <a:solidFill>
                  <a:srgbClr val="546966"/>
                </a:solidFill>
                <a:latin typeface="Arial"/>
                <a:ea typeface="Arial"/>
                <a:cs typeface="Arial"/>
                <a:sym typeface="Arial"/>
              </a:rPr>
              <a:t>03 / 15</a:t>
            </a:r>
            <a:endParaRPr/>
          </a:p>
        </p:txBody>
      </p:sp>
      <p:sp>
        <p:nvSpPr>
          <p:cNvPr id="145" name="Google Shape;145;p15"/>
          <p:cNvSpPr txBox="1"/>
          <p:nvPr/>
        </p:nvSpPr>
        <p:spPr>
          <a:xfrm>
            <a:off x="558800" y="723900"/>
            <a:ext cx="11074500" cy="6096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2800">
                <a:solidFill>
                  <a:srgbClr val="172C2B"/>
                </a:solidFill>
              </a:rPr>
              <a:t>What the forensic experiments changed</a:t>
            </a:r>
            <a:endParaRPr b="1" sz="2800">
              <a:solidFill>
                <a:srgbClr val="172C2B"/>
              </a:solidFill>
            </a:endParaRPr>
          </a:p>
        </p:txBody>
      </p:sp>
      <p:sp>
        <p:nvSpPr>
          <p:cNvPr id="146" name="Google Shape;146;p15"/>
          <p:cNvSpPr txBox="1"/>
          <p:nvPr/>
        </p:nvSpPr>
        <p:spPr>
          <a:xfrm>
            <a:off x="584200" y="1409700"/>
            <a:ext cx="11049000" cy="255015"/>
          </a:xfrm>
          <a:prstGeom prst="rect">
            <a:avLst/>
          </a:prstGeom>
          <a:noFill/>
          <a:ln>
            <a:noFill/>
          </a:ln>
        </p:spPr>
        <p:txBody>
          <a:bodyPr anchorCtr="0" anchor="t" bIns="0" lIns="0" spcFirstLastPara="1" rIns="0" wrap="square" tIns="0">
            <a:noAutofit/>
          </a:bodyPr>
          <a:lstStyle/>
          <a:p>
            <a:pPr indent="0" lvl="0" marL="0" marR="0" rtl="0" algn="l">
              <a:lnSpc>
                <a:spcPct val="121928"/>
              </a:lnSpc>
              <a:spcBef>
                <a:spcPts val="0"/>
              </a:spcBef>
              <a:spcAft>
                <a:spcPts val="0"/>
              </a:spcAft>
              <a:buNone/>
            </a:pPr>
            <a:r>
              <a:rPr lang="en-US">
                <a:solidFill>
                  <a:srgbClr val="546966"/>
                </a:solidFill>
              </a:rPr>
              <a:t>Calibration, reconstruction testing, and two learned fusion alternatives.</a:t>
            </a:r>
            <a:endParaRPr>
              <a:solidFill>
                <a:srgbClr val="546966"/>
              </a:solidFill>
            </a:endParaRPr>
          </a:p>
        </p:txBody>
      </p:sp>
      <p:cxnSp>
        <p:nvCxnSpPr>
          <p:cNvPr id="147" name="Google Shape;147;p15"/>
          <p:cNvCxnSpPr/>
          <p:nvPr/>
        </p:nvCxnSpPr>
        <p:spPr>
          <a:xfrm>
            <a:off x="558800" y="6375400"/>
            <a:ext cx="11074400" cy="0"/>
          </a:xfrm>
          <a:prstGeom prst="straightConnector1">
            <a:avLst/>
          </a:prstGeom>
          <a:noFill/>
          <a:ln cap="flat" cmpd="sng" w="12700">
            <a:solidFill>
              <a:srgbClr val="DCE5E2"/>
            </a:solidFill>
            <a:prstDash val="solid"/>
            <a:round/>
            <a:headEnd len="sm" w="sm" type="none"/>
            <a:tailEnd len="sm" w="sm" type="none"/>
          </a:ln>
          <a:effectLst>
            <a:outerShdw blurRad="40000" rotWithShape="0" dir="5400000" dist="20000">
              <a:srgbClr val="000000">
                <a:alpha val="38039"/>
              </a:srgbClr>
            </a:outerShdw>
          </a:effectLst>
        </p:spPr>
      </p:cxnSp>
      <p:sp>
        <p:nvSpPr>
          <p:cNvPr id="148" name="Google Shape;148;p15"/>
          <p:cNvSpPr txBox="1"/>
          <p:nvPr/>
        </p:nvSpPr>
        <p:spPr>
          <a:xfrm>
            <a:off x="558800" y="6540500"/>
            <a:ext cx="5080000" cy="169799"/>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850" u="none" cap="none" strike="noStrike">
                <a:solidFill>
                  <a:srgbClr val="546966"/>
                </a:solidFill>
                <a:latin typeface="Arial"/>
                <a:ea typeface="Arial"/>
                <a:cs typeface="Arial"/>
                <a:sym typeface="Arial"/>
              </a:rPr>
              <a:t>AI SHIELD / ABDELRAHMAN SOLIMAN</a:t>
            </a:r>
            <a:endParaRPr/>
          </a:p>
        </p:txBody>
      </p:sp>
      <p:sp>
        <p:nvSpPr>
          <p:cNvPr id="149" name="Google Shape;149;p15"/>
          <p:cNvSpPr txBox="1"/>
          <p:nvPr/>
        </p:nvSpPr>
        <p:spPr>
          <a:xfrm>
            <a:off x="558800" y="2019300"/>
            <a:ext cx="5105400" cy="41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100">
                <a:solidFill>
                  <a:srgbClr val="00796B"/>
                </a:solidFill>
              </a:rPr>
              <a:t>Calibration improved recall</a:t>
            </a:r>
            <a:endParaRPr b="1" sz="2100">
              <a:solidFill>
                <a:srgbClr val="00796B"/>
              </a:solidFill>
            </a:endParaRPr>
          </a:p>
        </p:txBody>
      </p:sp>
      <p:sp>
        <p:nvSpPr>
          <p:cNvPr id="150" name="Google Shape;150;p15"/>
          <p:cNvSpPr txBox="1"/>
          <p:nvPr/>
        </p:nvSpPr>
        <p:spPr>
          <a:xfrm>
            <a:off x="558800" y="2578100"/>
            <a:ext cx="5105400" cy="114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800">
                <a:solidFill>
                  <a:srgbClr val="172C2B"/>
                </a:solidFill>
              </a:rPr>
              <a:t>At cutoff 0.5: 75.2% -&gt; 88.6%.</a:t>
            </a:r>
            <a:endParaRPr sz="1800">
              <a:solidFill>
                <a:srgbClr val="172C2B"/>
              </a:solidFill>
            </a:endParaRPr>
          </a:p>
          <a:p>
            <a:pPr indent="0" lvl="0" marL="0" rtl="0" algn="l">
              <a:lnSpc>
                <a:spcPct val="115000"/>
              </a:lnSpc>
              <a:spcBef>
                <a:spcPts val="0"/>
              </a:spcBef>
              <a:spcAft>
                <a:spcPts val="0"/>
              </a:spcAft>
              <a:buNone/>
            </a:pPr>
            <a:r>
              <a:rPr lang="en-US" sz="1800">
                <a:solidFill>
                  <a:srgbClr val="172C2B"/>
                </a:solidFill>
              </a:rPr>
              <a:t>Score adjustment made EfficientNet</a:t>
            </a:r>
            <a:endParaRPr sz="1800">
              <a:solidFill>
                <a:srgbClr val="172C2B"/>
              </a:solidFill>
            </a:endParaRPr>
          </a:p>
          <a:p>
            <a:pPr indent="0" lvl="0" marL="0" rtl="0" algn="l">
              <a:lnSpc>
                <a:spcPct val="115000"/>
              </a:lnSpc>
              <a:spcBef>
                <a:spcPts val="0"/>
              </a:spcBef>
              <a:spcAft>
                <a:spcPts val="0"/>
              </a:spcAft>
              <a:buNone/>
            </a:pPr>
            <a:r>
              <a:rPr lang="en-US" sz="1800">
                <a:solidFill>
                  <a:srgbClr val="172C2B"/>
                </a:solidFill>
              </a:rPr>
              <a:t>less conservative.</a:t>
            </a:r>
            <a:endParaRPr sz="1800">
              <a:solidFill>
                <a:srgbClr val="172C2B"/>
              </a:solidFill>
            </a:endParaRPr>
          </a:p>
        </p:txBody>
      </p:sp>
      <p:sp>
        <p:nvSpPr>
          <p:cNvPr id="151" name="Google Shape;151;p15"/>
          <p:cNvSpPr txBox="1"/>
          <p:nvPr/>
        </p:nvSpPr>
        <p:spPr>
          <a:xfrm>
            <a:off x="558800" y="4013200"/>
            <a:ext cx="5105400" cy="41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100">
                <a:solidFill>
                  <a:srgbClr val="C84760"/>
                </a:solidFill>
              </a:rPr>
              <a:t>VAE reconstruction overlapped</a:t>
            </a:r>
            <a:endParaRPr b="1" sz="2100">
              <a:solidFill>
                <a:srgbClr val="C84760"/>
              </a:solidFill>
            </a:endParaRPr>
          </a:p>
        </p:txBody>
      </p:sp>
      <p:sp>
        <p:nvSpPr>
          <p:cNvPr id="152" name="Google Shape;152;p15"/>
          <p:cNvSpPr txBox="1"/>
          <p:nvPr/>
        </p:nvSpPr>
        <p:spPr>
          <a:xfrm>
            <a:off x="558800" y="4559300"/>
            <a:ext cx="5105400" cy="101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800">
                <a:solidFill>
                  <a:srgbClr val="172C2B"/>
                </a:solidFill>
              </a:rPr>
              <a:t>Standalone AUROC ~0.470.</a:t>
            </a:r>
            <a:endParaRPr sz="1800">
              <a:solidFill>
                <a:srgbClr val="172C2B"/>
              </a:solidFill>
            </a:endParaRPr>
          </a:p>
          <a:p>
            <a:pPr indent="0" lvl="0" marL="0" rtl="0" algn="l">
              <a:lnSpc>
                <a:spcPct val="115000"/>
              </a:lnSpc>
              <a:spcBef>
                <a:spcPts val="0"/>
              </a:spcBef>
              <a:spcAft>
                <a:spcPts val="0"/>
              </a:spcAft>
              <a:buNone/>
            </a:pPr>
            <a:r>
              <a:rPr lang="en-US" sz="1800">
                <a:solidFill>
                  <a:srgbClr val="172C2B"/>
                </a:solidFill>
              </a:rPr>
              <a:t>Kept as a supporting feature in the</a:t>
            </a:r>
            <a:endParaRPr sz="1800">
              <a:solidFill>
                <a:srgbClr val="172C2B"/>
              </a:solidFill>
            </a:endParaRPr>
          </a:p>
          <a:p>
            <a:pPr indent="0" lvl="0" marL="0" rtl="0" algn="l">
              <a:lnSpc>
                <a:spcPct val="115000"/>
              </a:lnSpc>
              <a:spcBef>
                <a:spcPts val="0"/>
              </a:spcBef>
              <a:spcAft>
                <a:spcPts val="0"/>
              </a:spcAft>
              <a:buNone/>
            </a:pPr>
            <a:r>
              <a:rPr lang="en-US" sz="1800">
                <a:solidFill>
                  <a:srgbClr val="172C2B"/>
                </a:solidFill>
              </a:rPr>
              <a:t>original fusion, not its main detector.</a:t>
            </a:r>
            <a:endParaRPr sz="1800">
              <a:solidFill>
                <a:srgbClr val="172C2B"/>
              </a:solidFill>
            </a:endParaRPr>
          </a:p>
        </p:txBody>
      </p:sp>
      <p:sp>
        <p:nvSpPr>
          <p:cNvPr id="153" name="Google Shape;153;p15"/>
          <p:cNvSpPr txBox="1"/>
          <p:nvPr/>
        </p:nvSpPr>
        <p:spPr>
          <a:xfrm>
            <a:off x="6248400" y="2032000"/>
            <a:ext cx="39750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a:solidFill>
                  <a:srgbClr val="546966"/>
                </a:solidFill>
              </a:rPr>
              <a:t>Phase 1 held-out split</a:t>
            </a:r>
            <a:endParaRPr b="1">
              <a:solidFill>
                <a:srgbClr val="546966"/>
              </a:solidFill>
            </a:endParaRPr>
          </a:p>
        </p:txBody>
      </p:sp>
      <p:sp>
        <p:nvSpPr>
          <p:cNvPr id="154" name="Google Shape;154;p15"/>
          <p:cNvSpPr txBox="1"/>
          <p:nvPr/>
        </p:nvSpPr>
        <p:spPr>
          <a:xfrm>
            <a:off x="10426700" y="2032000"/>
            <a:ext cx="11049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a:solidFill>
                  <a:srgbClr val="546966"/>
                </a:solidFill>
              </a:rPr>
              <a:t>AUROC</a:t>
            </a:r>
            <a:endParaRPr b="1">
              <a:solidFill>
                <a:srgbClr val="546966"/>
              </a:solidFill>
            </a:endParaRPr>
          </a:p>
        </p:txBody>
      </p:sp>
      <p:sp>
        <p:nvSpPr>
          <p:cNvPr id="155" name="Google Shape;155;p15"/>
          <p:cNvSpPr/>
          <p:nvPr/>
        </p:nvSpPr>
        <p:spPr>
          <a:xfrm>
            <a:off x="6146800" y="2540000"/>
            <a:ext cx="5486400" cy="12600"/>
          </a:xfrm>
          <a:prstGeom prst="rect">
            <a:avLst/>
          </a:prstGeom>
          <a:solidFill>
            <a:srgbClr val="DCE5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6" name="Google Shape;156;p15"/>
          <p:cNvSpPr txBox="1"/>
          <p:nvPr/>
        </p:nvSpPr>
        <p:spPr>
          <a:xfrm>
            <a:off x="6248400" y="2705100"/>
            <a:ext cx="3975000" cy="57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Calibrated EfficientNet</a:t>
            </a:r>
            <a:endParaRPr sz="1700">
              <a:solidFill>
                <a:srgbClr val="172C2B"/>
              </a:solidFill>
            </a:endParaRPr>
          </a:p>
        </p:txBody>
      </p:sp>
      <p:sp>
        <p:nvSpPr>
          <p:cNvPr id="157" name="Google Shape;157;p15"/>
          <p:cNvSpPr txBox="1"/>
          <p:nvPr/>
        </p:nvSpPr>
        <p:spPr>
          <a:xfrm>
            <a:off x="10426700" y="2705100"/>
            <a:ext cx="1104900" cy="57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0.9517</a:t>
            </a:r>
            <a:endParaRPr sz="1700">
              <a:solidFill>
                <a:srgbClr val="172C2B"/>
              </a:solidFill>
            </a:endParaRPr>
          </a:p>
        </p:txBody>
      </p:sp>
      <p:sp>
        <p:nvSpPr>
          <p:cNvPr id="158" name="Google Shape;158;p15"/>
          <p:cNvSpPr txBox="1"/>
          <p:nvPr/>
        </p:nvSpPr>
        <p:spPr>
          <a:xfrm>
            <a:off x="6248400" y="3378200"/>
            <a:ext cx="3975000" cy="57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Logistic fusion (GLM)</a:t>
            </a:r>
            <a:endParaRPr sz="1700">
              <a:solidFill>
                <a:srgbClr val="172C2B"/>
              </a:solidFill>
            </a:endParaRPr>
          </a:p>
        </p:txBody>
      </p:sp>
      <p:sp>
        <p:nvSpPr>
          <p:cNvPr id="159" name="Google Shape;159;p15"/>
          <p:cNvSpPr txBox="1"/>
          <p:nvPr/>
        </p:nvSpPr>
        <p:spPr>
          <a:xfrm>
            <a:off x="10426700" y="3378200"/>
            <a:ext cx="1104900" cy="57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0.9542</a:t>
            </a:r>
            <a:endParaRPr sz="1700">
              <a:solidFill>
                <a:srgbClr val="172C2B"/>
              </a:solidFill>
            </a:endParaRPr>
          </a:p>
        </p:txBody>
      </p:sp>
      <p:sp>
        <p:nvSpPr>
          <p:cNvPr id="160" name="Google Shape;160;p15"/>
          <p:cNvSpPr/>
          <p:nvPr/>
        </p:nvSpPr>
        <p:spPr>
          <a:xfrm>
            <a:off x="6146800" y="3962400"/>
            <a:ext cx="5486400" cy="6477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1" name="Google Shape;161;p15"/>
          <p:cNvSpPr txBox="1"/>
          <p:nvPr/>
        </p:nvSpPr>
        <p:spPr>
          <a:xfrm>
            <a:off x="6248400" y="4051300"/>
            <a:ext cx="3975000" cy="57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Small neural fusion (MLP)</a:t>
            </a:r>
            <a:endParaRPr b="1" sz="1700">
              <a:solidFill>
                <a:srgbClr val="00796B"/>
              </a:solidFill>
            </a:endParaRPr>
          </a:p>
        </p:txBody>
      </p:sp>
      <p:sp>
        <p:nvSpPr>
          <p:cNvPr id="162" name="Google Shape;162;p15"/>
          <p:cNvSpPr txBox="1"/>
          <p:nvPr/>
        </p:nvSpPr>
        <p:spPr>
          <a:xfrm>
            <a:off x="10426700" y="4051300"/>
            <a:ext cx="1104900" cy="57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0.9561</a:t>
            </a:r>
            <a:endParaRPr b="1" sz="1700">
              <a:solidFill>
                <a:srgbClr val="00796B"/>
              </a:solidFill>
            </a:endParaRPr>
          </a:p>
        </p:txBody>
      </p:sp>
      <p:sp>
        <p:nvSpPr>
          <p:cNvPr id="163" name="Google Shape;163;p15"/>
          <p:cNvSpPr txBox="1"/>
          <p:nvPr/>
        </p:nvSpPr>
        <p:spPr>
          <a:xfrm>
            <a:off x="6248400" y="4902200"/>
            <a:ext cx="5207100" cy="76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546966"/>
                </a:solidFill>
              </a:rPr>
              <a:t>Small gains from forensic fusion;</a:t>
            </a:r>
            <a:endParaRPr sz="1700">
              <a:solidFill>
                <a:srgbClr val="546966"/>
              </a:solidFill>
            </a:endParaRPr>
          </a:p>
          <a:p>
            <a:pPr indent="0" lvl="0" marL="0" rtl="0" algn="l">
              <a:lnSpc>
                <a:spcPct val="115000"/>
              </a:lnSpc>
              <a:spcBef>
                <a:spcPts val="0"/>
              </a:spcBef>
              <a:spcAft>
                <a:spcPts val="0"/>
              </a:spcAft>
              <a:buNone/>
            </a:pPr>
            <a:r>
              <a:rPr lang="en-US" sz="1700">
                <a:solidFill>
                  <a:srgbClr val="546966"/>
                </a:solidFill>
              </a:rPr>
              <a:t>next, test image-region relationships.</a:t>
            </a:r>
            <a:endParaRPr sz="1700">
              <a:solidFill>
                <a:srgbClr val="546966"/>
              </a:solidFill>
            </a:endParaRPr>
          </a:p>
        </p:txBody>
      </p:sp>
      <p:sp>
        <p:nvSpPr>
          <p:cNvPr id="164" name="Google Shape;164;p15"/>
          <p:cNvSpPr txBox="1"/>
          <p:nvPr/>
        </p:nvSpPr>
        <p:spPr>
          <a:xfrm>
            <a:off x="70358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3"/>
              </a:rPr>
              <a:t>Phase 1 experiments</a:t>
            </a:r>
            <a:endParaRPr sz="850">
              <a:solidFill>
                <a:srgbClr val="54696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6"/>
          <p:cNvSpPr/>
          <p:nvPr/>
        </p:nvSpPr>
        <p:spPr>
          <a:xfrm>
            <a:off x="0" y="0"/>
            <a:ext cx="12192000"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16"/>
          <p:cNvSpPr/>
          <p:nvPr/>
        </p:nvSpPr>
        <p:spPr>
          <a:xfrm>
            <a:off x="0" y="0"/>
            <a:ext cx="101600" cy="6858000"/>
          </a:xfrm>
          <a:prstGeom prst="rect">
            <a:avLst/>
          </a:prstGeom>
          <a:solidFill>
            <a:srgbClr val="00796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16"/>
          <p:cNvSpPr txBox="1"/>
          <p:nvPr/>
        </p:nvSpPr>
        <p:spPr>
          <a:xfrm>
            <a:off x="558800" y="304800"/>
            <a:ext cx="10160000" cy="19304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1000">
                <a:solidFill>
                  <a:srgbClr val="00796B"/>
                </a:solidFill>
              </a:rPr>
              <a:t>ORIGINAL SYSTEM / PHASE 2</a:t>
            </a:r>
            <a:endParaRPr b="1" sz="1000">
              <a:solidFill>
                <a:srgbClr val="00796B"/>
              </a:solidFill>
            </a:endParaRPr>
          </a:p>
        </p:txBody>
      </p:sp>
      <p:sp>
        <p:nvSpPr>
          <p:cNvPr id="173" name="Google Shape;173;p16"/>
          <p:cNvSpPr txBox="1"/>
          <p:nvPr/>
        </p:nvSpPr>
        <p:spPr>
          <a:xfrm>
            <a:off x="10947400" y="304800"/>
            <a:ext cx="736600" cy="19304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000" u="none" cap="none" strike="noStrike">
                <a:solidFill>
                  <a:srgbClr val="546966"/>
                </a:solidFill>
                <a:latin typeface="Arial"/>
                <a:ea typeface="Arial"/>
                <a:cs typeface="Arial"/>
                <a:sym typeface="Arial"/>
              </a:rPr>
              <a:t>04 / 15</a:t>
            </a:r>
            <a:endParaRPr/>
          </a:p>
        </p:txBody>
      </p:sp>
      <p:sp>
        <p:nvSpPr>
          <p:cNvPr id="174" name="Google Shape;174;p16"/>
          <p:cNvSpPr txBox="1"/>
          <p:nvPr/>
        </p:nvSpPr>
        <p:spPr>
          <a:xfrm>
            <a:off x="558800" y="723900"/>
            <a:ext cx="11074500" cy="6096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2800">
                <a:solidFill>
                  <a:srgbClr val="172C2B"/>
                </a:solidFill>
              </a:rPr>
              <a:t>Semantic layer: my custom attention head</a:t>
            </a:r>
            <a:endParaRPr b="1" sz="2800">
              <a:solidFill>
                <a:srgbClr val="172C2B"/>
              </a:solidFill>
            </a:endParaRPr>
          </a:p>
        </p:txBody>
      </p:sp>
      <p:sp>
        <p:nvSpPr>
          <p:cNvPr id="175" name="Google Shape;175;p16"/>
          <p:cNvSpPr txBox="1"/>
          <p:nvPr/>
        </p:nvSpPr>
        <p:spPr>
          <a:xfrm>
            <a:off x="584200" y="1409700"/>
            <a:ext cx="11049000" cy="255015"/>
          </a:xfrm>
          <a:prstGeom prst="rect">
            <a:avLst/>
          </a:prstGeom>
          <a:noFill/>
          <a:ln>
            <a:noFill/>
          </a:ln>
        </p:spPr>
        <p:txBody>
          <a:bodyPr anchorCtr="0" anchor="t" bIns="0" lIns="0" spcFirstLastPara="1" rIns="0" wrap="square" tIns="0">
            <a:noAutofit/>
          </a:bodyPr>
          <a:lstStyle/>
          <a:p>
            <a:pPr indent="0" lvl="0" marL="0" marR="0" rtl="0" algn="l">
              <a:lnSpc>
                <a:spcPct val="121928"/>
              </a:lnSpc>
              <a:spcBef>
                <a:spcPts val="0"/>
              </a:spcBef>
              <a:spcAft>
                <a:spcPts val="0"/>
              </a:spcAft>
              <a:buNone/>
            </a:pPr>
            <a:r>
              <a:rPr lang="en-US">
                <a:solidFill>
                  <a:srgbClr val="546966"/>
                </a:solidFill>
              </a:rPr>
              <a:t>Pretrained ViT patch features + a trainable PyTorch head.</a:t>
            </a:r>
            <a:endParaRPr>
              <a:solidFill>
                <a:srgbClr val="546966"/>
              </a:solidFill>
            </a:endParaRPr>
          </a:p>
        </p:txBody>
      </p:sp>
      <p:cxnSp>
        <p:nvCxnSpPr>
          <p:cNvPr id="176" name="Google Shape;176;p16"/>
          <p:cNvCxnSpPr/>
          <p:nvPr/>
        </p:nvCxnSpPr>
        <p:spPr>
          <a:xfrm>
            <a:off x="558800" y="6375400"/>
            <a:ext cx="11074400" cy="0"/>
          </a:xfrm>
          <a:prstGeom prst="straightConnector1">
            <a:avLst/>
          </a:prstGeom>
          <a:noFill/>
          <a:ln cap="flat" cmpd="sng" w="12700">
            <a:solidFill>
              <a:srgbClr val="DCE5E2"/>
            </a:solidFill>
            <a:prstDash val="solid"/>
            <a:round/>
            <a:headEnd len="sm" w="sm" type="none"/>
            <a:tailEnd len="sm" w="sm" type="none"/>
          </a:ln>
          <a:effectLst>
            <a:outerShdw blurRad="40000" rotWithShape="0" dir="5400000" dist="20000">
              <a:srgbClr val="000000">
                <a:alpha val="38039"/>
              </a:srgbClr>
            </a:outerShdw>
          </a:effectLst>
        </p:spPr>
      </p:cxnSp>
      <p:sp>
        <p:nvSpPr>
          <p:cNvPr id="177" name="Google Shape;177;p16"/>
          <p:cNvSpPr txBox="1"/>
          <p:nvPr/>
        </p:nvSpPr>
        <p:spPr>
          <a:xfrm>
            <a:off x="558800" y="6540500"/>
            <a:ext cx="5080000" cy="169799"/>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850" u="none" cap="none" strike="noStrike">
                <a:solidFill>
                  <a:srgbClr val="546966"/>
                </a:solidFill>
                <a:latin typeface="Arial"/>
                <a:ea typeface="Arial"/>
                <a:cs typeface="Arial"/>
                <a:sym typeface="Arial"/>
              </a:rPr>
              <a:t>AI SHIELD / ABDELRAHMAN SOLIMAN</a:t>
            </a:r>
            <a:endParaRPr/>
          </a:p>
        </p:txBody>
      </p:sp>
      <p:sp>
        <p:nvSpPr>
          <p:cNvPr id="178" name="Google Shape;178;p16"/>
          <p:cNvSpPr/>
          <p:nvPr/>
        </p:nvSpPr>
        <p:spPr>
          <a:xfrm>
            <a:off x="558800" y="2184400"/>
            <a:ext cx="2616300" cy="10413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9" name="Google Shape;179;p16"/>
          <p:cNvSpPr txBox="1"/>
          <p:nvPr/>
        </p:nvSpPr>
        <p:spPr>
          <a:xfrm>
            <a:off x="685800" y="2413000"/>
            <a:ext cx="2362200" cy="6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900">
                <a:solidFill>
                  <a:srgbClr val="172C2B"/>
                </a:solidFill>
              </a:rPr>
              <a:t>ViT patch tokens</a:t>
            </a:r>
            <a:endParaRPr b="1" sz="1900">
              <a:solidFill>
                <a:srgbClr val="172C2B"/>
              </a:solidFill>
            </a:endParaRPr>
          </a:p>
        </p:txBody>
      </p:sp>
      <p:sp>
        <p:nvSpPr>
          <p:cNvPr id="180" name="Google Shape;180;p16"/>
          <p:cNvSpPr txBox="1"/>
          <p:nvPr/>
        </p:nvSpPr>
        <p:spPr>
          <a:xfrm>
            <a:off x="3187700" y="2476500"/>
            <a:ext cx="2160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000">
                <a:solidFill>
                  <a:srgbClr val="00796B"/>
                </a:solidFill>
              </a:rPr>
              <a:t>&gt;</a:t>
            </a:r>
            <a:endParaRPr b="1" sz="2000">
              <a:solidFill>
                <a:srgbClr val="00796B"/>
              </a:solidFill>
            </a:endParaRPr>
          </a:p>
        </p:txBody>
      </p:sp>
      <p:sp>
        <p:nvSpPr>
          <p:cNvPr id="181" name="Google Shape;181;p16"/>
          <p:cNvSpPr/>
          <p:nvPr/>
        </p:nvSpPr>
        <p:spPr>
          <a:xfrm>
            <a:off x="3378200" y="2184400"/>
            <a:ext cx="2616300" cy="10413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2" name="Google Shape;182;p16"/>
          <p:cNvSpPr txBox="1"/>
          <p:nvPr/>
        </p:nvSpPr>
        <p:spPr>
          <a:xfrm>
            <a:off x="3505200" y="2413000"/>
            <a:ext cx="2362200" cy="6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900">
                <a:solidFill>
                  <a:srgbClr val="00796B"/>
                </a:solidFill>
              </a:rPr>
              <a:t>Multi-head attention</a:t>
            </a:r>
            <a:endParaRPr b="1" sz="1900">
              <a:solidFill>
                <a:srgbClr val="00796B"/>
              </a:solidFill>
            </a:endParaRPr>
          </a:p>
        </p:txBody>
      </p:sp>
      <p:sp>
        <p:nvSpPr>
          <p:cNvPr id="183" name="Google Shape;183;p16"/>
          <p:cNvSpPr txBox="1"/>
          <p:nvPr/>
        </p:nvSpPr>
        <p:spPr>
          <a:xfrm>
            <a:off x="6007100" y="2476500"/>
            <a:ext cx="2160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000">
                <a:solidFill>
                  <a:srgbClr val="00796B"/>
                </a:solidFill>
              </a:rPr>
              <a:t>&gt;</a:t>
            </a:r>
            <a:endParaRPr b="1" sz="2000">
              <a:solidFill>
                <a:srgbClr val="00796B"/>
              </a:solidFill>
            </a:endParaRPr>
          </a:p>
        </p:txBody>
      </p:sp>
      <p:sp>
        <p:nvSpPr>
          <p:cNvPr id="184" name="Google Shape;184;p16"/>
          <p:cNvSpPr/>
          <p:nvPr/>
        </p:nvSpPr>
        <p:spPr>
          <a:xfrm>
            <a:off x="6197600" y="2184400"/>
            <a:ext cx="2616300" cy="10413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5" name="Google Shape;185;p16"/>
          <p:cNvSpPr txBox="1"/>
          <p:nvPr/>
        </p:nvSpPr>
        <p:spPr>
          <a:xfrm>
            <a:off x="6324600" y="2413000"/>
            <a:ext cx="2362200" cy="6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900">
                <a:solidFill>
                  <a:srgbClr val="00796B"/>
                </a:solidFill>
              </a:rPr>
              <a:t>MLP refinement</a:t>
            </a:r>
            <a:endParaRPr b="1" sz="1900">
              <a:solidFill>
                <a:srgbClr val="00796B"/>
              </a:solidFill>
            </a:endParaRPr>
          </a:p>
        </p:txBody>
      </p:sp>
      <p:sp>
        <p:nvSpPr>
          <p:cNvPr id="186" name="Google Shape;186;p16"/>
          <p:cNvSpPr txBox="1"/>
          <p:nvPr/>
        </p:nvSpPr>
        <p:spPr>
          <a:xfrm>
            <a:off x="8826500" y="2476500"/>
            <a:ext cx="2160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000">
                <a:solidFill>
                  <a:srgbClr val="00796B"/>
                </a:solidFill>
              </a:rPr>
              <a:t>&gt;</a:t>
            </a:r>
            <a:endParaRPr b="1" sz="2000">
              <a:solidFill>
                <a:srgbClr val="00796B"/>
              </a:solidFill>
            </a:endParaRPr>
          </a:p>
        </p:txBody>
      </p:sp>
      <p:sp>
        <p:nvSpPr>
          <p:cNvPr id="187" name="Google Shape;187;p16"/>
          <p:cNvSpPr/>
          <p:nvPr/>
        </p:nvSpPr>
        <p:spPr>
          <a:xfrm>
            <a:off x="9017000" y="2184400"/>
            <a:ext cx="2616300" cy="10413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8" name="Google Shape;188;p16"/>
          <p:cNvSpPr txBox="1"/>
          <p:nvPr/>
        </p:nvSpPr>
        <p:spPr>
          <a:xfrm>
            <a:off x="9144000" y="2413000"/>
            <a:ext cx="2362200" cy="6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900">
                <a:solidFill>
                  <a:srgbClr val="00796B"/>
                </a:solidFill>
              </a:rPr>
              <a:t>Attention pooling</a:t>
            </a:r>
            <a:endParaRPr b="1" sz="1900">
              <a:solidFill>
                <a:srgbClr val="00796B"/>
              </a:solidFill>
            </a:endParaRPr>
          </a:p>
        </p:txBody>
      </p:sp>
      <p:sp>
        <p:nvSpPr>
          <p:cNvPr id="189" name="Google Shape;189;p16"/>
          <p:cNvSpPr txBox="1"/>
          <p:nvPr/>
        </p:nvSpPr>
        <p:spPr>
          <a:xfrm>
            <a:off x="558800" y="3695700"/>
            <a:ext cx="54609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200">
                <a:solidFill>
                  <a:srgbClr val="00796B"/>
                </a:solidFill>
              </a:rPr>
              <a:t>What I implemented</a:t>
            </a:r>
            <a:endParaRPr b="1" sz="2200">
              <a:solidFill>
                <a:srgbClr val="00796B"/>
              </a:solidFill>
            </a:endParaRPr>
          </a:p>
        </p:txBody>
      </p:sp>
      <p:sp>
        <p:nvSpPr>
          <p:cNvPr id="190" name="Google Shape;190;p16"/>
          <p:cNvSpPr txBox="1"/>
          <p:nvPr/>
        </p:nvSpPr>
        <p:spPr>
          <a:xfrm>
            <a:off x="558800" y="4330700"/>
            <a:ext cx="5460900" cy="114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900">
                <a:solidFill>
                  <a:srgbClr val="172C2B"/>
                </a:solidFill>
              </a:rPr>
              <a:t>Queries, keys and values; patch interactions;</a:t>
            </a:r>
            <a:endParaRPr sz="1900">
              <a:solidFill>
                <a:srgbClr val="172C2B"/>
              </a:solidFill>
            </a:endParaRPr>
          </a:p>
          <a:p>
            <a:pPr indent="0" lvl="0" marL="0" rtl="0" algn="l">
              <a:lnSpc>
                <a:spcPct val="115000"/>
              </a:lnSpc>
              <a:spcBef>
                <a:spcPts val="0"/>
              </a:spcBef>
              <a:spcAft>
                <a:spcPts val="0"/>
              </a:spcAft>
              <a:buNone/>
            </a:pPr>
            <a:r>
              <a:rPr lang="en-US" sz="1900">
                <a:solidFill>
                  <a:srgbClr val="172C2B"/>
                </a:solidFill>
              </a:rPr>
              <a:t>refinement and learned pooling.</a:t>
            </a:r>
            <a:endParaRPr sz="1900">
              <a:solidFill>
                <a:srgbClr val="172C2B"/>
              </a:solidFill>
            </a:endParaRPr>
          </a:p>
          <a:p>
            <a:pPr indent="0" lvl="0" marL="0" rtl="0" algn="l">
              <a:lnSpc>
                <a:spcPct val="115000"/>
              </a:lnSpc>
              <a:spcBef>
                <a:spcPts val="0"/>
              </a:spcBef>
              <a:spcAft>
                <a:spcPts val="0"/>
              </a:spcAft>
              <a:buNone/>
            </a:pPr>
            <a:r>
              <a:rPr lang="en-US" sz="1900">
                <a:solidFill>
                  <a:srgbClr val="172C2B"/>
                </a:solidFill>
              </a:rPr>
              <a:t>856,578 trainable parameters.</a:t>
            </a:r>
            <a:endParaRPr sz="1900">
              <a:solidFill>
                <a:srgbClr val="172C2B"/>
              </a:solidFill>
            </a:endParaRPr>
          </a:p>
        </p:txBody>
      </p:sp>
      <p:sp>
        <p:nvSpPr>
          <p:cNvPr id="191" name="Google Shape;191;p16"/>
          <p:cNvSpPr txBox="1"/>
          <p:nvPr/>
        </p:nvSpPr>
        <p:spPr>
          <a:xfrm>
            <a:off x="6477000" y="3695700"/>
            <a:ext cx="51561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200">
                <a:solidFill>
                  <a:srgbClr val="00796B"/>
                </a:solidFill>
              </a:rPr>
              <a:t>What the test showed</a:t>
            </a:r>
            <a:endParaRPr b="1" sz="2200">
              <a:solidFill>
                <a:srgbClr val="00796B"/>
              </a:solidFill>
            </a:endParaRPr>
          </a:p>
        </p:txBody>
      </p:sp>
      <p:sp>
        <p:nvSpPr>
          <p:cNvPr id="192" name="Google Shape;192;p16"/>
          <p:cNvSpPr txBox="1"/>
          <p:nvPr/>
        </p:nvSpPr>
        <p:spPr>
          <a:xfrm>
            <a:off x="6477000" y="4330700"/>
            <a:ext cx="5156100" cy="114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800">
                <a:solidFill>
                  <a:srgbClr val="172C2B"/>
                </a:solidFill>
              </a:rPr>
              <a:t>AUROC 0.9256; recall 90.63%.</a:t>
            </a:r>
            <a:endParaRPr sz="1800">
              <a:solidFill>
                <a:srgbClr val="172C2B"/>
              </a:solidFill>
            </a:endParaRPr>
          </a:p>
          <a:p>
            <a:pPr indent="0" lvl="0" marL="0" rtl="0" algn="l">
              <a:lnSpc>
                <a:spcPct val="115000"/>
              </a:lnSpc>
              <a:spcBef>
                <a:spcPts val="0"/>
              </a:spcBef>
              <a:spcAft>
                <a:spcPts val="0"/>
              </a:spcAft>
              <a:buNone/>
            </a:pPr>
            <a:r>
              <a:rPr lang="en-US" sz="1800">
                <a:solidFill>
                  <a:srgbClr val="172C2B"/>
                </a:solidFill>
              </a:rPr>
              <a:t>Caught many generated images,</a:t>
            </a:r>
            <a:endParaRPr sz="1800">
              <a:solidFill>
                <a:srgbClr val="172C2B"/>
              </a:solidFill>
            </a:endParaRPr>
          </a:p>
          <a:p>
            <a:pPr indent="0" lvl="0" marL="0" rtl="0" algn="l">
              <a:lnSpc>
                <a:spcPct val="115000"/>
              </a:lnSpc>
              <a:spcBef>
                <a:spcPts val="0"/>
              </a:spcBef>
              <a:spcAft>
                <a:spcPts val="0"/>
              </a:spcAft>
              <a:buNone/>
            </a:pPr>
            <a:r>
              <a:rPr lang="en-US" sz="1800">
                <a:solidFill>
                  <a:srgbClr val="172C2B"/>
                </a:solidFill>
              </a:rPr>
              <a:t>but also flagged 797 / 3,500 real images.</a:t>
            </a:r>
            <a:endParaRPr sz="1800">
              <a:solidFill>
                <a:srgbClr val="172C2B"/>
              </a:solidFill>
            </a:endParaRPr>
          </a:p>
        </p:txBody>
      </p:sp>
      <p:sp>
        <p:nvSpPr>
          <p:cNvPr id="193" name="Google Shape;193;p16"/>
          <p:cNvSpPr/>
          <p:nvPr/>
        </p:nvSpPr>
        <p:spPr>
          <a:xfrm>
            <a:off x="558800" y="5702300"/>
            <a:ext cx="11074500" cy="5079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4" name="Google Shape;194;p16"/>
          <p:cNvSpPr txBox="1"/>
          <p:nvPr/>
        </p:nvSpPr>
        <p:spPr>
          <a:xfrm>
            <a:off x="711200" y="5765800"/>
            <a:ext cx="107697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Useful complementary signal; tested with the forensic features in Phase 3.</a:t>
            </a:r>
            <a:endParaRPr b="1" sz="1700">
              <a:solidFill>
                <a:srgbClr val="00796B"/>
              </a:solidFill>
            </a:endParaRPr>
          </a:p>
        </p:txBody>
      </p:sp>
      <p:sp>
        <p:nvSpPr>
          <p:cNvPr id="195" name="Google Shape;195;p16"/>
          <p:cNvSpPr txBox="1"/>
          <p:nvPr/>
        </p:nvSpPr>
        <p:spPr>
          <a:xfrm>
            <a:off x="70358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3"/>
              </a:rPr>
              <a:t>Phase 2 notebook</a:t>
            </a:r>
            <a:endParaRPr sz="850">
              <a:solidFill>
                <a:srgbClr val="546966"/>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7"/>
          <p:cNvSpPr/>
          <p:nvPr/>
        </p:nvSpPr>
        <p:spPr>
          <a:xfrm>
            <a:off x="0" y="0"/>
            <a:ext cx="12192000"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2" name="Google Shape;202;p17"/>
          <p:cNvSpPr/>
          <p:nvPr/>
        </p:nvSpPr>
        <p:spPr>
          <a:xfrm>
            <a:off x="0" y="0"/>
            <a:ext cx="101600" cy="6858000"/>
          </a:xfrm>
          <a:prstGeom prst="rect">
            <a:avLst/>
          </a:prstGeom>
          <a:solidFill>
            <a:srgbClr val="00796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17"/>
          <p:cNvSpPr txBox="1"/>
          <p:nvPr/>
        </p:nvSpPr>
        <p:spPr>
          <a:xfrm>
            <a:off x="558800" y="304800"/>
            <a:ext cx="10160000" cy="19304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1000">
                <a:solidFill>
                  <a:srgbClr val="00796B"/>
                </a:solidFill>
              </a:rPr>
              <a:t>ORIGINAL SYSTEM / PHASE 3</a:t>
            </a:r>
            <a:endParaRPr b="1" sz="1000">
              <a:solidFill>
                <a:srgbClr val="00796B"/>
              </a:solidFill>
            </a:endParaRPr>
          </a:p>
        </p:txBody>
      </p:sp>
      <p:sp>
        <p:nvSpPr>
          <p:cNvPr id="204" name="Google Shape;204;p17"/>
          <p:cNvSpPr txBox="1"/>
          <p:nvPr/>
        </p:nvSpPr>
        <p:spPr>
          <a:xfrm>
            <a:off x="10947400" y="304800"/>
            <a:ext cx="736600" cy="19304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000" u="none" cap="none" strike="noStrike">
                <a:solidFill>
                  <a:srgbClr val="546966"/>
                </a:solidFill>
                <a:latin typeface="Arial"/>
                <a:ea typeface="Arial"/>
                <a:cs typeface="Arial"/>
                <a:sym typeface="Arial"/>
              </a:rPr>
              <a:t>05 / 15</a:t>
            </a:r>
            <a:endParaRPr/>
          </a:p>
        </p:txBody>
      </p:sp>
      <p:sp>
        <p:nvSpPr>
          <p:cNvPr id="205" name="Google Shape;205;p17"/>
          <p:cNvSpPr txBox="1"/>
          <p:nvPr/>
        </p:nvSpPr>
        <p:spPr>
          <a:xfrm>
            <a:off x="558800" y="723900"/>
            <a:ext cx="11074500" cy="6096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2800">
                <a:solidFill>
                  <a:srgbClr val="172C2B"/>
                </a:solidFill>
              </a:rPr>
              <a:t>Final fusion: combine evidence from the same image</a:t>
            </a:r>
            <a:endParaRPr b="1" sz="2800">
              <a:solidFill>
                <a:srgbClr val="172C2B"/>
              </a:solidFill>
            </a:endParaRPr>
          </a:p>
        </p:txBody>
      </p:sp>
      <p:sp>
        <p:nvSpPr>
          <p:cNvPr id="206" name="Google Shape;206;p17"/>
          <p:cNvSpPr txBox="1"/>
          <p:nvPr/>
        </p:nvSpPr>
        <p:spPr>
          <a:xfrm>
            <a:off x="584200" y="1409700"/>
            <a:ext cx="11049000" cy="255015"/>
          </a:xfrm>
          <a:prstGeom prst="rect">
            <a:avLst/>
          </a:prstGeom>
          <a:noFill/>
          <a:ln>
            <a:noFill/>
          </a:ln>
        </p:spPr>
        <p:txBody>
          <a:bodyPr anchorCtr="0" anchor="t" bIns="0" lIns="0" spcFirstLastPara="1" rIns="0" wrap="square" tIns="0">
            <a:noAutofit/>
          </a:bodyPr>
          <a:lstStyle/>
          <a:p>
            <a:pPr indent="0" lvl="0" marL="0" marR="0" rtl="0" algn="l">
              <a:lnSpc>
                <a:spcPct val="121928"/>
              </a:lnSpc>
              <a:spcBef>
                <a:spcPts val="0"/>
              </a:spcBef>
              <a:spcAft>
                <a:spcPts val="0"/>
              </a:spcAft>
              <a:buNone/>
            </a:pPr>
            <a:r>
              <a:rPr lang="en-US">
                <a:solidFill>
                  <a:srgbClr val="546966"/>
                </a:solidFill>
              </a:rPr>
              <a:t>A logistic-regression GLM learned how much weight to give each feature.</a:t>
            </a:r>
            <a:endParaRPr>
              <a:solidFill>
                <a:srgbClr val="546966"/>
              </a:solidFill>
            </a:endParaRPr>
          </a:p>
        </p:txBody>
      </p:sp>
      <p:cxnSp>
        <p:nvCxnSpPr>
          <p:cNvPr id="207" name="Google Shape;207;p17"/>
          <p:cNvCxnSpPr/>
          <p:nvPr/>
        </p:nvCxnSpPr>
        <p:spPr>
          <a:xfrm>
            <a:off x="558800" y="6375400"/>
            <a:ext cx="11074400" cy="0"/>
          </a:xfrm>
          <a:prstGeom prst="straightConnector1">
            <a:avLst/>
          </a:prstGeom>
          <a:noFill/>
          <a:ln cap="flat" cmpd="sng" w="12700">
            <a:solidFill>
              <a:srgbClr val="DCE5E2"/>
            </a:solidFill>
            <a:prstDash val="solid"/>
            <a:round/>
            <a:headEnd len="sm" w="sm" type="none"/>
            <a:tailEnd len="sm" w="sm" type="none"/>
          </a:ln>
          <a:effectLst>
            <a:outerShdw blurRad="40000" rotWithShape="0" dir="5400000" dist="20000">
              <a:srgbClr val="000000">
                <a:alpha val="38039"/>
              </a:srgbClr>
            </a:outerShdw>
          </a:effectLst>
        </p:spPr>
      </p:cxnSp>
      <p:sp>
        <p:nvSpPr>
          <p:cNvPr id="208" name="Google Shape;208;p17"/>
          <p:cNvSpPr txBox="1"/>
          <p:nvPr/>
        </p:nvSpPr>
        <p:spPr>
          <a:xfrm>
            <a:off x="558800" y="6540500"/>
            <a:ext cx="5080000" cy="169799"/>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850" u="none" cap="none" strike="noStrike">
                <a:solidFill>
                  <a:srgbClr val="546966"/>
                </a:solidFill>
                <a:latin typeface="Arial"/>
                <a:ea typeface="Arial"/>
                <a:cs typeface="Arial"/>
                <a:sym typeface="Arial"/>
              </a:rPr>
              <a:t>AI SHIELD / ABDELRAHMAN SOLIMAN</a:t>
            </a:r>
            <a:endParaRPr/>
          </a:p>
        </p:txBody>
      </p:sp>
      <p:sp>
        <p:nvSpPr>
          <p:cNvPr id="209" name="Google Shape;209;p17"/>
          <p:cNvSpPr/>
          <p:nvPr/>
        </p:nvSpPr>
        <p:spPr>
          <a:xfrm>
            <a:off x="558800" y="2146300"/>
            <a:ext cx="4317900" cy="13590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0" name="Google Shape;210;p17"/>
          <p:cNvSpPr txBox="1"/>
          <p:nvPr/>
        </p:nvSpPr>
        <p:spPr>
          <a:xfrm>
            <a:off x="762000" y="2298700"/>
            <a:ext cx="3873600" cy="41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200">
                <a:solidFill>
                  <a:srgbClr val="00796B"/>
                </a:solidFill>
              </a:rPr>
              <a:t>11 forensic features</a:t>
            </a:r>
            <a:endParaRPr b="1" sz="2200">
              <a:solidFill>
                <a:srgbClr val="00796B"/>
              </a:solidFill>
            </a:endParaRPr>
          </a:p>
        </p:txBody>
      </p:sp>
      <p:sp>
        <p:nvSpPr>
          <p:cNvPr id="211" name="Google Shape;211;p17"/>
          <p:cNvSpPr txBox="1"/>
          <p:nvPr/>
        </p:nvSpPr>
        <p:spPr>
          <a:xfrm>
            <a:off x="762000" y="2832100"/>
            <a:ext cx="3873600" cy="6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EfficientNet, VAE, face score,</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face presence and applicability</a:t>
            </a:r>
            <a:endParaRPr sz="1700">
              <a:solidFill>
                <a:srgbClr val="172C2B"/>
              </a:solidFill>
            </a:endParaRPr>
          </a:p>
        </p:txBody>
      </p:sp>
      <p:sp>
        <p:nvSpPr>
          <p:cNvPr id="212" name="Google Shape;212;p17"/>
          <p:cNvSpPr/>
          <p:nvPr/>
        </p:nvSpPr>
        <p:spPr>
          <a:xfrm>
            <a:off x="558800" y="3771900"/>
            <a:ext cx="4317900" cy="13590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3" name="Google Shape;213;p17"/>
          <p:cNvSpPr txBox="1"/>
          <p:nvPr/>
        </p:nvSpPr>
        <p:spPr>
          <a:xfrm>
            <a:off x="762000" y="3924300"/>
            <a:ext cx="3873600" cy="41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200">
                <a:solidFill>
                  <a:srgbClr val="00796B"/>
                </a:solidFill>
              </a:rPr>
              <a:t>6 semantic features</a:t>
            </a:r>
            <a:endParaRPr b="1" sz="2200">
              <a:solidFill>
                <a:srgbClr val="00796B"/>
              </a:solidFill>
            </a:endParaRPr>
          </a:p>
        </p:txBody>
      </p:sp>
      <p:sp>
        <p:nvSpPr>
          <p:cNvPr id="214" name="Google Shape;214;p17"/>
          <p:cNvSpPr txBox="1"/>
          <p:nvPr/>
        </p:nvSpPr>
        <p:spPr>
          <a:xfrm>
            <a:off x="762000" y="4457700"/>
            <a:ext cx="3873600" cy="6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ViT attention model outputs</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and derived score features</a:t>
            </a:r>
            <a:endParaRPr sz="1700">
              <a:solidFill>
                <a:srgbClr val="172C2B"/>
              </a:solidFill>
            </a:endParaRPr>
          </a:p>
        </p:txBody>
      </p:sp>
      <p:sp>
        <p:nvSpPr>
          <p:cNvPr id="215" name="Google Shape;215;p17"/>
          <p:cNvSpPr txBox="1"/>
          <p:nvPr/>
        </p:nvSpPr>
        <p:spPr>
          <a:xfrm>
            <a:off x="5067300" y="3378200"/>
            <a:ext cx="4065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800">
                <a:solidFill>
                  <a:srgbClr val="00796B"/>
                </a:solidFill>
              </a:rPr>
              <a:t>&gt;</a:t>
            </a:r>
            <a:endParaRPr b="1" sz="2800">
              <a:solidFill>
                <a:srgbClr val="00796B"/>
              </a:solidFill>
            </a:endParaRPr>
          </a:p>
        </p:txBody>
      </p:sp>
      <p:sp>
        <p:nvSpPr>
          <p:cNvPr id="216" name="Google Shape;216;p17"/>
          <p:cNvSpPr/>
          <p:nvPr/>
        </p:nvSpPr>
        <p:spPr>
          <a:xfrm>
            <a:off x="5689600" y="2705100"/>
            <a:ext cx="2730600" cy="19050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7" name="Google Shape;217;p17"/>
          <p:cNvSpPr txBox="1"/>
          <p:nvPr/>
        </p:nvSpPr>
        <p:spPr>
          <a:xfrm>
            <a:off x="5867400" y="2946400"/>
            <a:ext cx="2374800" cy="48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100">
                <a:solidFill>
                  <a:srgbClr val="00796B"/>
                </a:solidFill>
              </a:rPr>
              <a:t>17-feature GLM</a:t>
            </a:r>
            <a:endParaRPr b="1" sz="2100">
              <a:solidFill>
                <a:srgbClr val="00796B"/>
              </a:solidFill>
            </a:endParaRPr>
          </a:p>
        </p:txBody>
      </p:sp>
      <p:sp>
        <p:nvSpPr>
          <p:cNvPr id="218" name="Google Shape;218;p17"/>
          <p:cNvSpPr txBox="1"/>
          <p:nvPr/>
        </p:nvSpPr>
        <p:spPr>
          <a:xfrm>
            <a:off x="5867400" y="3530600"/>
            <a:ext cx="2374800" cy="93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800">
                <a:solidFill>
                  <a:srgbClr val="172C2B"/>
                </a:solidFill>
              </a:rPr>
              <a:t>Learned weights</a:t>
            </a:r>
            <a:endParaRPr sz="1800">
              <a:solidFill>
                <a:srgbClr val="172C2B"/>
              </a:solidFill>
            </a:endParaRPr>
          </a:p>
          <a:p>
            <a:pPr indent="0" lvl="0" marL="0" rtl="0" algn="l">
              <a:lnSpc>
                <a:spcPct val="115000"/>
              </a:lnSpc>
              <a:spcBef>
                <a:spcPts val="0"/>
              </a:spcBef>
              <a:spcAft>
                <a:spcPts val="0"/>
              </a:spcAft>
              <a:buNone/>
            </a:pPr>
            <a:r>
              <a:rPr lang="en-US" sz="1800">
                <a:solidFill>
                  <a:srgbClr val="172C2B"/>
                </a:solidFill>
              </a:rPr>
              <a:t>for a single</a:t>
            </a:r>
            <a:endParaRPr sz="1800">
              <a:solidFill>
                <a:srgbClr val="172C2B"/>
              </a:solidFill>
            </a:endParaRPr>
          </a:p>
          <a:p>
            <a:pPr indent="0" lvl="0" marL="0" rtl="0" algn="l">
              <a:lnSpc>
                <a:spcPct val="115000"/>
              </a:lnSpc>
              <a:spcBef>
                <a:spcPts val="0"/>
              </a:spcBef>
              <a:spcAft>
                <a:spcPts val="0"/>
              </a:spcAft>
              <a:buNone/>
            </a:pPr>
            <a:r>
              <a:rPr lang="en-US" sz="1800">
                <a:solidFill>
                  <a:srgbClr val="172C2B"/>
                </a:solidFill>
              </a:rPr>
              <a:t>real/fake score</a:t>
            </a:r>
            <a:endParaRPr sz="1800">
              <a:solidFill>
                <a:srgbClr val="172C2B"/>
              </a:solidFill>
            </a:endParaRPr>
          </a:p>
        </p:txBody>
      </p:sp>
      <p:sp>
        <p:nvSpPr>
          <p:cNvPr id="219" name="Google Shape;219;p17"/>
          <p:cNvSpPr txBox="1"/>
          <p:nvPr/>
        </p:nvSpPr>
        <p:spPr>
          <a:xfrm>
            <a:off x="8636000" y="3378200"/>
            <a:ext cx="4065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800">
                <a:solidFill>
                  <a:srgbClr val="00796B"/>
                </a:solidFill>
              </a:rPr>
              <a:t>&gt;</a:t>
            </a:r>
            <a:endParaRPr b="1" sz="2800">
              <a:solidFill>
                <a:srgbClr val="00796B"/>
              </a:solidFill>
            </a:endParaRPr>
          </a:p>
        </p:txBody>
      </p:sp>
      <p:sp>
        <p:nvSpPr>
          <p:cNvPr id="220" name="Google Shape;220;p17"/>
          <p:cNvSpPr/>
          <p:nvPr/>
        </p:nvSpPr>
        <p:spPr>
          <a:xfrm>
            <a:off x="9245600" y="2921000"/>
            <a:ext cx="2387700" cy="14097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1" name="Google Shape;221;p17"/>
          <p:cNvSpPr txBox="1"/>
          <p:nvPr/>
        </p:nvSpPr>
        <p:spPr>
          <a:xfrm>
            <a:off x="9398000" y="3111500"/>
            <a:ext cx="20829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900">
                <a:solidFill>
                  <a:srgbClr val="00796B"/>
                </a:solidFill>
              </a:rPr>
              <a:t>Final prediction</a:t>
            </a:r>
            <a:endParaRPr b="1" sz="1900">
              <a:solidFill>
                <a:srgbClr val="00796B"/>
              </a:solidFill>
            </a:endParaRPr>
          </a:p>
        </p:txBody>
      </p:sp>
      <p:sp>
        <p:nvSpPr>
          <p:cNvPr id="222" name="Google Shape;222;p17"/>
          <p:cNvSpPr txBox="1"/>
          <p:nvPr/>
        </p:nvSpPr>
        <p:spPr>
          <a:xfrm>
            <a:off x="9398000" y="3644900"/>
            <a:ext cx="2082900" cy="62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600">
                <a:solidFill>
                  <a:srgbClr val="172C2B"/>
                </a:solidFill>
              </a:rPr>
              <a:t>Threshold chosen</a:t>
            </a:r>
            <a:endParaRPr sz="1600">
              <a:solidFill>
                <a:srgbClr val="172C2B"/>
              </a:solidFill>
            </a:endParaRPr>
          </a:p>
          <a:p>
            <a:pPr indent="0" lvl="0" marL="0" rtl="0" algn="l">
              <a:lnSpc>
                <a:spcPct val="115000"/>
              </a:lnSpc>
              <a:spcBef>
                <a:spcPts val="0"/>
              </a:spcBef>
              <a:spcAft>
                <a:spcPts val="0"/>
              </a:spcAft>
              <a:buNone/>
            </a:pPr>
            <a:r>
              <a:rPr lang="en-US" sz="1600">
                <a:solidFill>
                  <a:srgbClr val="172C2B"/>
                </a:solidFill>
              </a:rPr>
              <a:t>on validation</a:t>
            </a:r>
            <a:endParaRPr sz="1600">
              <a:solidFill>
                <a:srgbClr val="172C2B"/>
              </a:solidFill>
            </a:endParaRPr>
          </a:p>
        </p:txBody>
      </p:sp>
      <p:sp>
        <p:nvSpPr>
          <p:cNvPr id="223" name="Google Shape;223;p17"/>
          <p:cNvSpPr/>
          <p:nvPr/>
        </p:nvSpPr>
        <p:spPr>
          <a:xfrm>
            <a:off x="558800" y="5702300"/>
            <a:ext cx="11074500" cy="5079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4" name="Google Shape;224;p17"/>
          <p:cNvSpPr txBox="1"/>
          <p:nvPr/>
        </p:nvSpPr>
        <p:spPr>
          <a:xfrm>
            <a:off x="711200" y="5765800"/>
            <a:ext cx="107697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Fusion splits: 4,200 train | 1,400 validation | 1,400 test.</a:t>
            </a:r>
            <a:endParaRPr b="1" sz="1700">
              <a:solidFill>
                <a:srgbClr val="00796B"/>
              </a:solidFill>
            </a:endParaRPr>
          </a:p>
        </p:txBody>
      </p:sp>
      <p:sp>
        <p:nvSpPr>
          <p:cNvPr id="225" name="Google Shape;225;p17"/>
          <p:cNvSpPr txBox="1"/>
          <p:nvPr/>
        </p:nvSpPr>
        <p:spPr>
          <a:xfrm>
            <a:off x="70358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3"/>
              </a:rPr>
              <a:t>Phase 3 notebook</a:t>
            </a:r>
            <a:endParaRPr sz="850">
              <a:solidFill>
                <a:srgbClr val="546966"/>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8"/>
          <p:cNvSpPr/>
          <p:nvPr/>
        </p:nvSpPr>
        <p:spPr>
          <a:xfrm>
            <a:off x="0" y="0"/>
            <a:ext cx="12192000"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18"/>
          <p:cNvSpPr/>
          <p:nvPr/>
        </p:nvSpPr>
        <p:spPr>
          <a:xfrm>
            <a:off x="0" y="0"/>
            <a:ext cx="101600" cy="6858000"/>
          </a:xfrm>
          <a:prstGeom prst="rect">
            <a:avLst/>
          </a:prstGeom>
          <a:solidFill>
            <a:srgbClr val="00796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3" name="Google Shape;233;p18"/>
          <p:cNvSpPr txBox="1"/>
          <p:nvPr/>
        </p:nvSpPr>
        <p:spPr>
          <a:xfrm>
            <a:off x="558800" y="304800"/>
            <a:ext cx="10160000" cy="19304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1000">
                <a:solidFill>
                  <a:srgbClr val="00796B"/>
                </a:solidFill>
              </a:rPr>
              <a:t>ORIGINAL SYSTEM / PHASE 3 RESULTS</a:t>
            </a:r>
            <a:endParaRPr b="1" sz="1000">
              <a:solidFill>
                <a:srgbClr val="00796B"/>
              </a:solidFill>
            </a:endParaRPr>
          </a:p>
        </p:txBody>
      </p:sp>
      <p:sp>
        <p:nvSpPr>
          <p:cNvPr id="234" name="Google Shape;234;p18"/>
          <p:cNvSpPr txBox="1"/>
          <p:nvPr/>
        </p:nvSpPr>
        <p:spPr>
          <a:xfrm>
            <a:off x="10947400" y="304800"/>
            <a:ext cx="736600" cy="19304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000" u="none" cap="none" strike="noStrike">
                <a:solidFill>
                  <a:srgbClr val="546966"/>
                </a:solidFill>
                <a:latin typeface="Arial"/>
                <a:ea typeface="Arial"/>
                <a:cs typeface="Arial"/>
                <a:sym typeface="Arial"/>
              </a:rPr>
              <a:t>06 / 15</a:t>
            </a:r>
            <a:endParaRPr/>
          </a:p>
        </p:txBody>
      </p:sp>
      <p:sp>
        <p:nvSpPr>
          <p:cNvPr id="235" name="Google Shape;235;p18"/>
          <p:cNvSpPr txBox="1"/>
          <p:nvPr/>
        </p:nvSpPr>
        <p:spPr>
          <a:xfrm>
            <a:off x="558800" y="723900"/>
            <a:ext cx="11074500" cy="6096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2800">
                <a:solidFill>
                  <a:srgbClr val="172C2B"/>
                </a:solidFill>
              </a:rPr>
              <a:t>Phase 3 results: full GLM fusion</a:t>
            </a:r>
            <a:endParaRPr b="1" sz="2800">
              <a:solidFill>
                <a:srgbClr val="172C2B"/>
              </a:solidFill>
            </a:endParaRPr>
          </a:p>
        </p:txBody>
      </p:sp>
      <p:sp>
        <p:nvSpPr>
          <p:cNvPr id="236" name="Google Shape;236;p18"/>
          <p:cNvSpPr txBox="1"/>
          <p:nvPr/>
        </p:nvSpPr>
        <p:spPr>
          <a:xfrm>
            <a:off x="584200" y="1409700"/>
            <a:ext cx="11049000" cy="255015"/>
          </a:xfrm>
          <a:prstGeom prst="rect">
            <a:avLst/>
          </a:prstGeom>
          <a:noFill/>
          <a:ln>
            <a:noFill/>
          </a:ln>
        </p:spPr>
        <p:txBody>
          <a:bodyPr anchorCtr="0" anchor="t" bIns="0" lIns="0" spcFirstLastPara="1" rIns="0" wrap="square" tIns="0">
            <a:noAutofit/>
          </a:bodyPr>
          <a:lstStyle/>
          <a:p>
            <a:pPr indent="0" lvl="0" marL="0" marR="0" rtl="0" algn="l">
              <a:lnSpc>
                <a:spcPct val="121928"/>
              </a:lnSpc>
              <a:spcBef>
                <a:spcPts val="0"/>
              </a:spcBef>
              <a:spcAft>
                <a:spcPts val="0"/>
              </a:spcAft>
              <a:buNone/>
            </a:pPr>
            <a:r>
              <a:rPr lang="en-US">
                <a:solidFill>
                  <a:srgbClr val="546966"/>
                </a:solidFill>
              </a:rPr>
              <a:t>All rows below use the same 1,400-image Tiny-GenImage fusion test.</a:t>
            </a:r>
            <a:endParaRPr>
              <a:solidFill>
                <a:srgbClr val="546966"/>
              </a:solidFill>
            </a:endParaRPr>
          </a:p>
        </p:txBody>
      </p:sp>
      <p:cxnSp>
        <p:nvCxnSpPr>
          <p:cNvPr id="237" name="Google Shape;237;p18"/>
          <p:cNvCxnSpPr/>
          <p:nvPr/>
        </p:nvCxnSpPr>
        <p:spPr>
          <a:xfrm>
            <a:off x="558800" y="6375400"/>
            <a:ext cx="11074400" cy="0"/>
          </a:xfrm>
          <a:prstGeom prst="straightConnector1">
            <a:avLst/>
          </a:prstGeom>
          <a:noFill/>
          <a:ln cap="flat" cmpd="sng" w="12700">
            <a:solidFill>
              <a:srgbClr val="DCE5E2"/>
            </a:solidFill>
            <a:prstDash val="solid"/>
            <a:round/>
            <a:headEnd len="sm" w="sm" type="none"/>
            <a:tailEnd len="sm" w="sm" type="none"/>
          </a:ln>
          <a:effectLst>
            <a:outerShdw blurRad="40000" rotWithShape="0" dir="5400000" dist="20000">
              <a:srgbClr val="000000">
                <a:alpha val="38039"/>
              </a:srgbClr>
            </a:outerShdw>
          </a:effectLst>
        </p:spPr>
      </p:cxnSp>
      <p:sp>
        <p:nvSpPr>
          <p:cNvPr id="238" name="Google Shape;238;p18"/>
          <p:cNvSpPr txBox="1"/>
          <p:nvPr/>
        </p:nvSpPr>
        <p:spPr>
          <a:xfrm>
            <a:off x="558800" y="6540500"/>
            <a:ext cx="5080000" cy="169799"/>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850" u="none" cap="none" strike="noStrike">
                <a:solidFill>
                  <a:srgbClr val="546966"/>
                </a:solidFill>
                <a:latin typeface="Arial"/>
                <a:ea typeface="Arial"/>
                <a:cs typeface="Arial"/>
                <a:sym typeface="Arial"/>
              </a:rPr>
              <a:t>AI SHIELD / ABDELRAHMAN SOLIMAN</a:t>
            </a:r>
            <a:endParaRPr/>
          </a:p>
        </p:txBody>
      </p:sp>
      <p:sp>
        <p:nvSpPr>
          <p:cNvPr id="239" name="Google Shape;239;p18"/>
          <p:cNvSpPr txBox="1"/>
          <p:nvPr/>
        </p:nvSpPr>
        <p:spPr>
          <a:xfrm>
            <a:off x="660400" y="1981200"/>
            <a:ext cx="64770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a:solidFill>
                  <a:srgbClr val="546966"/>
                </a:solidFill>
              </a:rPr>
              <a:t>Model</a:t>
            </a:r>
            <a:endParaRPr b="1">
              <a:solidFill>
                <a:srgbClr val="546966"/>
              </a:solidFill>
            </a:endParaRPr>
          </a:p>
        </p:txBody>
      </p:sp>
      <p:sp>
        <p:nvSpPr>
          <p:cNvPr id="240" name="Google Shape;240;p18"/>
          <p:cNvSpPr txBox="1"/>
          <p:nvPr/>
        </p:nvSpPr>
        <p:spPr>
          <a:xfrm>
            <a:off x="7340600" y="1981200"/>
            <a:ext cx="19938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a:solidFill>
                  <a:srgbClr val="546966"/>
                </a:solidFill>
              </a:rPr>
              <a:t>AUROC</a:t>
            </a:r>
            <a:endParaRPr b="1">
              <a:solidFill>
                <a:srgbClr val="546966"/>
              </a:solidFill>
            </a:endParaRPr>
          </a:p>
        </p:txBody>
      </p:sp>
      <p:sp>
        <p:nvSpPr>
          <p:cNvPr id="241" name="Google Shape;241;p18"/>
          <p:cNvSpPr txBox="1"/>
          <p:nvPr/>
        </p:nvSpPr>
        <p:spPr>
          <a:xfrm>
            <a:off x="9537700" y="1981200"/>
            <a:ext cx="19938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a:solidFill>
                  <a:srgbClr val="546966"/>
                </a:solidFill>
              </a:rPr>
              <a:t>Accuracy</a:t>
            </a:r>
            <a:endParaRPr b="1">
              <a:solidFill>
                <a:srgbClr val="546966"/>
              </a:solidFill>
            </a:endParaRPr>
          </a:p>
        </p:txBody>
      </p:sp>
      <p:sp>
        <p:nvSpPr>
          <p:cNvPr id="242" name="Google Shape;242;p18"/>
          <p:cNvSpPr/>
          <p:nvPr/>
        </p:nvSpPr>
        <p:spPr>
          <a:xfrm>
            <a:off x="558800" y="2489200"/>
            <a:ext cx="11074500" cy="12600"/>
          </a:xfrm>
          <a:prstGeom prst="rect">
            <a:avLst/>
          </a:prstGeom>
          <a:solidFill>
            <a:srgbClr val="DCE5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3" name="Google Shape;243;p18"/>
          <p:cNvSpPr txBox="1"/>
          <p:nvPr/>
        </p:nvSpPr>
        <p:spPr>
          <a:xfrm>
            <a:off x="660400" y="2654300"/>
            <a:ext cx="64770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Calibrated EfficientNet</a:t>
            </a:r>
            <a:endParaRPr sz="1700">
              <a:solidFill>
                <a:srgbClr val="172C2B"/>
              </a:solidFill>
            </a:endParaRPr>
          </a:p>
        </p:txBody>
      </p:sp>
      <p:sp>
        <p:nvSpPr>
          <p:cNvPr id="244" name="Google Shape;244;p18"/>
          <p:cNvSpPr txBox="1"/>
          <p:nvPr/>
        </p:nvSpPr>
        <p:spPr>
          <a:xfrm>
            <a:off x="7340600" y="2654300"/>
            <a:ext cx="19938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0.9558</a:t>
            </a:r>
            <a:endParaRPr sz="1700">
              <a:solidFill>
                <a:srgbClr val="172C2B"/>
              </a:solidFill>
            </a:endParaRPr>
          </a:p>
        </p:txBody>
      </p:sp>
      <p:sp>
        <p:nvSpPr>
          <p:cNvPr id="245" name="Google Shape;245;p18"/>
          <p:cNvSpPr txBox="1"/>
          <p:nvPr/>
        </p:nvSpPr>
        <p:spPr>
          <a:xfrm>
            <a:off x="9537700" y="2654300"/>
            <a:ext cx="19938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90.29%</a:t>
            </a:r>
            <a:endParaRPr sz="1700">
              <a:solidFill>
                <a:srgbClr val="172C2B"/>
              </a:solidFill>
            </a:endParaRPr>
          </a:p>
        </p:txBody>
      </p:sp>
      <p:sp>
        <p:nvSpPr>
          <p:cNvPr id="246" name="Google Shape;246;p18"/>
          <p:cNvSpPr txBox="1"/>
          <p:nvPr/>
        </p:nvSpPr>
        <p:spPr>
          <a:xfrm>
            <a:off x="660400" y="3200400"/>
            <a:ext cx="64770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Semantic attention</a:t>
            </a:r>
            <a:endParaRPr sz="1700">
              <a:solidFill>
                <a:srgbClr val="172C2B"/>
              </a:solidFill>
            </a:endParaRPr>
          </a:p>
        </p:txBody>
      </p:sp>
      <p:sp>
        <p:nvSpPr>
          <p:cNvPr id="247" name="Google Shape;247;p18"/>
          <p:cNvSpPr txBox="1"/>
          <p:nvPr/>
        </p:nvSpPr>
        <p:spPr>
          <a:xfrm>
            <a:off x="7340600" y="3200400"/>
            <a:ext cx="19938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0.9303</a:t>
            </a:r>
            <a:endParaRPr sz="1700">
              <a:solidFill>
                <a:srgbClr val="172C2B"/>
              </a:solidFill>
            </a:endParaRPr>
          </a:p>
        </p:txBody>
      </p:sp>
      <p:sp>
        <p:nvSpPr>
          <p:cNvPr id="248" name="Google Shape;248;p18"/>
          <p:cNvSpPr txBox="1"/>
          <p:nvPr/>
        </p:nvSpPr>
        <p:spPr>
          <a:xfrm>
            <a:off x="9537700" y="3200400"/>
            <a:ext cx="19938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85.93%</a:t>
            </a:r>
            <a:endParaRPr sz="1700">
              <a:solidFill>
                <a:srgbClr val="172C2B"/>
              </a:solidFill>
            </a:endParaRPr>
          </a:p>
        </p:txBody>
      </p:sp>
      <p:sp>
        <p:nvSpPr>
          <p:cNvPr id="249" name="Google Shape;249;p18"/>
          <p:cNvSpPr txBox="1"/>
          <p:nvPr/>
        </p:nvSpPr>
        <p:spPr>
          <a:xfrm>
            <a:off x="660400" y="3746500"/>
            <a:ext cx="64770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Naive average</a:t>
            </a:r>
            <a:endParaRPr sz="1700">
              <a:solidFill>
                <a:srgbClr val="172C2B"/>
              </a:solidFill>
            </a:endParaRPr>
          </a:p>
        </p:txBody>
      </p:sp>
      <p:sp>
        <p:nvSpPr>
          <p:cNvPr id="250" name="Google Shape;250;p18"/>
          <p:cNvSpPr txBox="1"/>
          <p:nvPr/>
        </p:nvSpPr>
        <p:spPr>
          <a:xfrm>
            <a:off x="7340600" y="3746500"/>
            <a:ext cx="19938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0.9763</a:t>
            </a:r>
            <a:endParaRPr sz="1700">
              <a:solidFill>
                <a:srgbClr val="172C2B"/>
              </a:solidFill>
            </a:endParaRPr>
          </a:p>
        </p:txBody>
      </p:sp>
      <p:sp>
        <p:nvSpPr>
          <p:cNvPr id="251" name="Google Shape;251;p18"/>
          <p:cNvSpPr txBox="1"/>
          <p:nvPr/>
        </p:nvSpPr>
        <p:spPr>
          <a:xfrm>
            <a:off x="9537700" y="3746500"/>
            <a:ext cx="19938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91.71%</a:t>
            </a:r>
            <a:endParaRPr sz="1700">
              <a:solidFill>
                <a:srgbClr val="172C2B"/>
              </a:solidFill>
            </a:endParaRPr>
          </a:p>
        </p:txBody>
      </p:sp>
      <p:sp>
        <p:nvSpPr>
          <p:cNvPr id="252" name="Google Shape;252;p18"/>
          <p:cNvSpPr txBox="1"/>
          <p:nvPr/>
        </p:nvSpPr>
        <p:spPr>
          <a:xfrm>
            <a:off x="660400" y="4292600"/>
            <a:ext cx="64770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Forensic-only GLM</a:t>
            </a:r>
            <a:endParaRPr sz="1700">
              <a:solidFill>
                <a:srgbClr val="172C2B"/>
              </a:solidFill>
            </a:endParaRPr>
          </a:p>
        </p:txBody>
      </p:sp>
      <p:sp>
        <p:nvSpPr>
          <p:cNvPr id="253" name="Google Shape;253;p18"/>
          <p:cNvSpPr txBox="1"/>
          <p:nvPr/>
        </p:nvSpPr>
        <p:spPr>
          <a:xfrm>
            <a:off x="7340600" y="4292600"/>
            <a:ext cx="19938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0.9578</a:t>
            </a:r>
            <a:endParaRPr sz="1700">
              <a:solidFill>
                <a:srgbClr val="172C2B"/>
              </a:solidFill>
            </a:endParaRPr>
          </a:p>
        </p:txBody>
      </p:sp>
      <p:sp>
        <p:nvSpPr>
          <p:cNvPr id="254" name="Google Shape;254;p18"/>
          <p:cNvSpPr txBox="1"/>
          <p:nvPr/>
        </p:nvSpPr>
        <p:spPr>
          <a:xfrm>
            <a:off x="9537700" y="4292600"/>
            <a:ext cx="19938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89.71%</a:t>
            </a:r>
            <a:endParaRPr sz="1700">
              <a:solidFill>
                <a:srgbClr val="172C2B"/>
              </a:solidFill>
            </a:endParaRPr>
          </a:p>
        </p:txBody>
      </p:sp>
      <p:sp>
        <p:nvSpPr>
          <p:cNvPr id="255" name="Google Shape;255;p18"/>
          <p:cNvSpPr/>
          <p:nvPr/>
        </p:nvSpPr>
        <p:spPr>
          <a:xfrm>
            <a:off x="558800" y="4749800"/>
            <a:ext cx="11074500" cy="5208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6" name="Google Shape;256;p18"/>
          <p:cNvSpPr txBox="1"/>
          <p:nvPr/>
        </p:nvSpPr>
        <p:spPr>
          <a:xfrm>
            <a:off x="660400" y="4838700"/>
            <a:ext cx="64770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Full forensic + semantic GLM</a:t>
            </a:r>
            <a:endParaRPr b="1" sz="1700">
              <a:solidFill>
                <a:srgbClr val="00796B"/>
              </a:solidFill>
            </a:endParaRPr>
          </a:p>
        </p:txBody>
      </p:sp>
      <p:sp>
        <p:nvSpPr>
          <p:cNvPr id="257" name="Google Shape;257;p18"/>
          <p:cNvSpPr txBox="1"/>
          <p:nvPr/>
        </p:nvSpPr>
        <p:spPr>
          <a:xfrm>
            <a:off x="7340600" y="4838700"/>
            <a:ext cx="19938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0.9819</a:t>
            </a:r>
            <a:endParaRPr b="1" sz="1700">
              <a:solidFill>
                <a:srgbClr val="00796B"/>
              </a:solidFill>
            </a:endParaRPr>
          </a:p>
        </p:txBody>
      </p:sp>
      <p:sp>
        <p:nvSpPr>
          <p:cNvPr id="258" name="Google Shape;258;p18"/>
          <p:cNvSpPr txBox="1"/>
          <p:nvPr/>
        </p:nvSpPr>
        <p:spPr>
          <a:xfrm>
            <a:off x="9537700" y="4838700"/>
            <a:ext cx="19938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94.07%</a:t>
            </a:r>
            <a:endParaRPr b="1" sz="1700">
              <a:solidFill>
                <a:srgbClr val="00796B"/>
              </a:solidFill>
            </a:endParaRPr>
          </a:p>
        </p:txBody>
      </p:sp>
      <p:sp>
        <p:nvSpPr>
          <p:cNvPr id="259" name="Google Shape;259;p18"/>
          <p:cNvSpPr/>
          <p:nvPr/>
        </p:nvSpPr>
        <p:spPr>
          <a:xfrm>
            <a:off x="558800" y="5702300"/>
            <a:ext cx="11074500" cy="5079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0" name="Google Shape;260;p18"/>
          <p:cNvSpPr txBox="1"/>
          <p:nvPr/>
        </p:nvSpPr>
        <p:spPr>
          <a:xfrm>
            <a:off x="711200" y="5765800"/>
            <a:ext cx="107697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54 more generated images caught, with 1 extra false positive vs. EfficientNet.</a:t>
            </a:r>
            <a:endParaRPr b="1" sz="1700">
              <a:solidFill>
                <a:srgbClr val="00796B"/>
              </a:solidFill>
            </a:endParaRPr>
          </a:p>
        </p:txBody>
      </p:sp>
      <p:sp>
        <p:nvSpPr>
          <p:cNvPr id="261" name="Google Shape;261;p18"/>
          <p:cNvSpPr txBox="1"/>
          <p:nvPr/>
        </p:nvSpPr>
        <p:spPr>
          <a:xfrm>
            <a:off x="70358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3"/>
              </a:rPr>
              <a:t>Original results</a:t>
            </a:r>
            <a:endParaRPr sz="850">
              <a:solidFill>
                <a:srgbClr val="546966"/>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9"/>
          <p:cNvSpPr/>
          <p:nvPr/>
        </p:nvSpPr>
        <p:spPr>
          <a:xfrm>
            <a:off x="0" y="0"/>
            <a:ext cx="12192000"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8" name="Google Shape;268;p19"/>
          <p:cNvSpPr/>
          <p:nvPr/>
        </p:nvSpPr>
        <p:spPr>
          <a:xfrm>
            <a:off x="0" y="0"/>
            <a:ext cx="101600" cy="6858000"/>
          </a:xfrm>
          <a:prstGeom prst="rect">
            <a:avLst/>
          </a:prstGeom>
          <a:solidFill>
            <a:srgbClr val="00796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9" name="Google Shape;269;p19"/>
          <p:cNvSpPr txBox="1"/>
          <p:nvPr/>
        </p:nvSpPr>
        <p:spPr>
          <a:xfrm>
            <a:off x="558800" y="304800"/>
            <a:ext cx="10160000" cy="19304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1000">
                <a:solidFill>
                  <a:srgbClr val="00796B"/>
                </a:solidFill>
              </a:rPr>
              <a:t>NEW EXPERIMENTS / DATASET V1</a:t>
            </a:r>
            <a:endParaRPr b="1" sz="1000">
              <a:solidFill>
                <a:srgbClr val="00796B"/>
              </a:solidFill>
            </a:endParaRPr>
          </a:p>
        </p:txBody>
      </p:sp>
      <p:sp>
        <p:nvSpPr>
          <p:cNvPr id="270" name="Google Shape;270;p19"/>
          <p:cNvSpPr txBox="1"/>
          <p:nvPr/>
        </p:nvSpPr>
        <p:spPr>
          <a:xfrm>
            <a:off x="10947400" y="304800"/>
            <a:ext cx="736600" cy="19304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000" u="none" cap="none" strike="noStrike">
                <a:solidFill>
                  <a:srgbClr val="546966"/>
                </a:solidFill>
                <a:latin typeface="Arial"/>
                <a:ea typeface="Arial"/>
                <a:cs typeface="Arial"/>
                <a:sym typeface="Arial"/>
              </a:rPr>
              <a:t>07 / 15</a:t>
            </a:r>
            <a:endParaRPr/>
          </a:p>
        </p:txBody>
      </p:sp>
      <p:sp>
        <p:nvSpPr>
          <p:cNvPr id="271" name="Google Shape;271;p19"/>
          <p:cNvSpPr txBox="1"/>
          <p:nvPr/>
        </p:nvSpPr>
        <p:spPr>
          <a:xfrm>
            <a:off x="558800" y="723900"/>
            <a:ext cx="11074500" cy="6096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2800">
                <a:solidFill>
                  <a:srgbClr val="172C2B"/>
                </a:solidFill>
              </a:rPr>
              <a:t>New data: multiple generators + real photographs</a:t>
            </a:r>
            <a:endParaRPr b="1" sz="2800">
              <a:solidFill>
                <a:srgbClr val="172C2B"/>
              </a:solidFill>
            </a:endParaRPr>
          </a:p>
        </p:txBody>
      </p:sp>
      <p:sp>
        <p:nvSpPr>
          <p:cNvPr id="272" name="Google Shape;272;p19"/>
          <p:cNvSpPr txBox="1"/>
          <p:nvPr/>
        </p:nvSpPr>
        <p:spPr>
          <a:xfrm>
            <a:off x="584200" y="1409700"/>
            <a:ext cx="11049000" cy="255015"/>
          </a:xfrm>
          <a:prstGeom prst="rect">
            <a:avLst/>
          </a:prstGeom>
          <a:noFill/>
          <a:ln>
            <a:noFill/>
          </a:ln>
        </p:spPr>
        <p:txBody>
          <a:bodyPr anchorCtr="0" anchor="t" bIns="0" lIns="0" spcFirstLastPara="1" rIns="0" wrap="square" tIns="0">
            <a:noAutofit/>
          </a:bodyPr>
          <a:lstStyle/>
          <a:p>
            <a:pPr indent="0" lvl="0" marL="0" marR="0" rtl="0" algn="l">
              <a:lnSpc>
                <a:spcPct val="121928"/>
              </a:lnSpc>
              <a:spcBef>
                <a:spcPts val="0"/>
              </a:spcBef>
              <a:spcAft>
                <a:spcPts val="0"/>
              </a:spcAft>
              <a:buNone/>
            </a:pPr>
            <a:r>
              <a:rPr lang="en-US">
                <a:solidFill>
                  <a:srgbClr val="546966"/>
                </a:solidFill>
              </a:rPr>
              <a:t>5,124 images total: 2,562 real and 2,562 generated.</a:t>
            </a:r>
            <a:endParaRPr>
              <a:solidFill>
                <a:srgbClr val="546966"/>
              </a:solidFill>
            </a:endParaRPr>
          </a:p>
        </p:txBody>
      </p:sp>
      <p:cxnSp>
        <p:nvCxnSpPr>
          <p:cNvPr id="273" name="Google Shape;273;p19"/>
          <p:cNvCxnSpPr/>
          <p:nvPr/>
        </p:nvCxnSpPr>
        <p:spPr>
          <a:xfrm>
            <a:off x="558800" y="6375400"/>
            <a:ext cx="11074400" cy="0"/>
          </a:xfrm>
          <a:prstGeom prst="straightConnector1">
            <a:avLst/>
          </a:prstGeom>
          <a:noFill/>
          <a:ln cap="flat" cmpd="sng" w="12700">
            <a:solidFill>
              <a:srgbClr val="DCE5E2"/>
            </a:solidFill>
            <a:prstDash val="solid"/>
            <a:round/>
            <a:headEnd len="sm" w="sm" type="none"/>
            <a:tailEnd len="sm" w="sm" type="none"/>
          </a:ln>
          <a:effectLst>
            <a:outerShdw blurRad="40000" rotWithShape="0" dir="5400000" dist="20000">
              <a:srgbClr val="000000">
                <a:alpha val="38039"/>
              </a:srgbClr>
            </a:outerShdw>
          </a:effectLst>
        </p:spPr>
      </p:cxnSp>
      <p:sp>
        <p:nvSpPr>
          <p:cNvPr id="274" name="Google Shape;274;p19"/>
          <p:cNvSpPr txBox="1"/>
          <p:nvPr/>
        </p:nvSpPr>
        <p:spPr>
          <a:xfrm>
            <a:off x="558800" y="6540500"/>
            <a:ext cx="5080000" cy="169799"/>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850" u="none" cap="none" strike="noStrike">
                <a:solidFill>
                  <a:srgbClr val="546966"/>
                </a:solidFill>
                <a:latin typeface="Arial"/>
                <a:ea typeface="Arial"/>
                <a:cs typeface="Arial"/>
                <a:sym typeface="Arial"/>
              </a:rPr>
              <a:t>AI SHIELD / ABDELRAHMAN SOLIMAN</a:t>
            </a:r>
            <a:endParaRPr/>
          </a:p>
        </p:txBody>
      </p:sp>
      <p:sp>
        <p:nvSpPr>
          <p:cNvPr id="275" name="Google Shape;275;p19"/>
          <p:cNvSpPr txBox="1"/>
          <p:nvPr/>
        </p:nvSpPr>
        <p:spPr>
          <a:xfrm>
            <a:off x="558800" y="2006600"/>
            <a:ext cx="5969100" cy="431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200">
                <a:solidFill>
                  <a:srgbClr val="00796B"/>
                </a:solidFill>
              </a:rPr>
              <a:t>Generated: Qwen-Image-Bench</a:t>
            </a:r>
            <a:endParaRPr b="1" sz="2200">
              <a:solidFill>
                <a:srgbClr val="00796B"/>
              </a:solidFill>
            </a:endParaRPr>
          </a:p>
        </p:txBody>
      </p:sp>
      <p:sp>
        <p:nvSpPr>
          <p:cNvPr id="276" name="Google Shape;276;p19"/>
          <p:cNvSpPr txBox="1"/>
          <p:nvPr/>
        </p:nvSpPr>
        <p:spPr>
          <a:xfrm>
            <a:off x="558800" y="2628900"/>
            <a:ext cx="6032400" cy="163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800">
                <a:solidFill>
                  <a:srgbClr val="172C2B"/>
                </a:solidFill>
              </a:rPr>
              <a:t>FLUX.2 max / GLM-Image / Seedream 5</a:t>
            </a:r>
            <a:endParaRPr sz="1800">
              <a:solidFill>
                <a:srgbClr val="172C2B"/>
              </a:solidFill>
            </a:endParaRPr>
          </a:p>
          <a:p>
            <a:pPr indent="0" lvl="0" marL="0" rtl="0" algn="l">
              <a:lnSpc>
                <a:spcPct val="115000"/>
              </a:lnSpc>
              <a:spcBef>
                <a:spcPts val="0"/>
              </a:spcBef>
              <a:spcAft>
                <a:spcPts val="0"/>
              </a:spcAft>
              <a:buNone/>
            </a:pPr>
            <a:r>
              <a:rPr lang="en-US" sz="1800">
                <a:solidFill>
                  <a:srgbClr val="172C2B"/>
                </a:solidFill>
              </a:rPr>
              <a:t>Nano Banana 2 / Qwen-Image-2.0-pro</a:t>
            </a:r>
            <a:endParaRPr sz="1800">
              <a:solidFill>
                <a:srgbClr val="172C2B"/>
              </a:solidFill>
            </a:endParaRPr>
          </a:p>
          <a:p>
            <a:pPr indent="0" lvl="0" marL="0" rtl="0" algn="l">
              <a:lnSpc>
                <a:spcPct val="115000"/>
              </a:lnSpc>
              <a:spcBef>
                <a:spcPts val="0"/>
              </a:spcBef>
              <a:spcAft>
                <a:spcPts val="0"/>
              </a:spcAft>
              <a:buNone/>
            </a:pPr>
            <a:r>
              <a:t/>
            </a:r>
            <a:endParaRPr sz="1800">
              <a:solidFill>
                <a:srgbClr val="172C2B"/>
              </a:solidFill>
            </a:endParaRPr>
          </a:p>
          <a:p>
            <a:pPr indent="0" lvl="0" marL="0" rtl="0" algn="l">
              <a:lnSpc>
                <a:spcPct val="115000"/>
              </a:lnSpc>
              <a:spcBef>
                <a:spcPts val="0"/>
              </a:spcBef>
              <a:spcAft>
                <a:spcPts val="0"/>
              </a:spcAft>
              <a:buNone/>
            </a:pPr>
            <a:r>
              <a:rPr lang="en-US" sz="1800">
                <a:solidFill>
                  <a:srgbClr val="172C2B"/>
                </a:solidFill>
              </a:rPr>
              <a:t>GPT Image 2 reserved for a separate test.</a:t>
            </a:r>
            <a:endParaRPr sz="1800">
              <a:solidFill>
                <a:srgbClr val="172C2B"/>
              </a:solidFill>
            </a:endParaRPr>
          </a:p>
        </p:txBody>
      </p:sp>
      <p:sp>
        <p:nvSpPr>
          <p:cNvPr id="277" name="Google Shape;277;p19"/>
          <p:cNvSpPr txBox="1"/>
          <p:nvPr/>
        </p:nvSpPr>
        <p:spPr>
          <a:xfrm>
            <a:off x="558800" y="4572000"/>
            <a:ext cx="5969100" cy="431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200">
                <a:solidFill>
                  <a:srgbClr val="00796B"/>
                </a:solidFill>
              </a:rPr>
              <a:t>Real: Open Images V7</a:t>
            </a:r>
            <a:endParaRPr b="1" sz="2200">
              <a:solidFill>
                <a:srgbClr val="00796B"/>
              </a:solidFill>
            </a:endParaRPr>
          </a:p>
        </p:txBody>
      </p:sp>
      <p:sp>
        <p:nvSpPr>
          <p:cNvPr id="278" name="Google Shape;278;p19"/>
          <p:cNvSpPr txBox="1"/>
          <p:nvPr/>
        </p:nvSpPr>
        <p:spPr>
          <a:xfrm>
            <a:off x="558800" y="5130800"/>
            <a:ext cx="5969100" cy="77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800">
                <a:solidFill>
                  <a:srgbClr val="172C2B"/>
                </a:solidFill>
              </a:rPr>
              <a:t>Real photographs provide the comparison</a:t>
            </a:r>
            <a:endParaRPr sz="1800">
              <a:solidFill>
                <a:srgbClr val="172C2B"/>
              </a:solidFill>
            </a:endParaRPr>
          </a:p>
          <a:p>
            <a:pPr indent="0" lvl="0" marL="0" rtl="0" algn="l">
              <a:lnSpc>
                <a:spcPct val="115000"/>
              </a:lnSpc>
              <a:spcBef>
                <a:spcPts val="0"/>
              </a:spcBef>
              <a:spcAft>
                <a:spcPts val="0"/>
              </a:spcAft>
              <a:buNone/>
            </a:pPr>
            <a:r>
              <a:rPr lang="en-US" sz="1800">
                <a:solidFill>
                  <a:srgbClr val="172C2B"/>
                </a:solidFill>
              </a:rPr>
              <a:t>class and reveal false alarms.</a:t>
            </a:r>
            <a:endParaRPr sz="1800">
              <a:solidFill>
                <a:srgbClr val="172C2B"/>
              </a:solidFill>
            </a:endParaRPr>
          </a:p>
        </p:txBody>
      </p:sp>
      <p:sp>
        <p:nvSpPr>
          <p:cNvPr id="279" name="Google Shape;279;p19"/>
          <p:cNvSpPr txBox="1"/>
          <p:nvPr/>
        </p:nvSpPr>
        <p:spPr>
          <a:xfrm>
            <a:off x="7099300" y="2070100"/>
            <a:ext cx="31623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a:solidFill>
                  <a:srgbClr val="546966"/>
                </a:solidFill>
              </a:rPr>
              <a:t>Split</a:t>
            </a:r>
            <a:endParaRPr b="1">
              <a:solidFill>
                <a:srgbClr val="546966"/>
              </a:solidFill>
            </a:endParaRPr>
          </a:p>
        </p:txBody>
      </p:sp>
      <p:sp>
        <p:nvSpPr>
          <p:cNvPr id="280" name="Google Shape;280;p19"/>
          <p:cNvSpPr txBox="1"/>
          <p:nvPr/>
        </p:nvSpPr>
        <p:spPr>
          <a:xfrm>
            <a:off x="10464800" y="2070100"/>
            <a:ext cx="10668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a:solidFill>
                  <a:srgbClr val="546966"/>
                </a:solidFill>
              </a:rPr>
              <a:t>Images</a:t>
            </a:r>
            <a:endParaRPr b="1">
              <a:solidFill>
                <a:srgbClr val="546966"/>
              </a:solidFill>
            </a:endParaRPr>
          </a:p>
        </p:txBody>
      </p:sp>
      <p:sp>
        <p:nvSpPr>
          <p:cNvPr id="281" name="Google Shape;281;p19"/>
          <p:cNvSpPr/>
          <p:nvPr/>
        </p:nvSpPr>
        <p:spPr>
          <a:xfrm>
            <a:off x="6997700" y="2578100"/>
            <a:ext cx="4635600" cy="12600"/>
          </a:xfrm>
          <a:prstGeom prst="rect">
            <a:avLst/>
          </a:prstGeom>
          <a:solidFill>
            <a:srgbClr val="DCE5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2" name="Google Shape;282;p19"/>
          <p:cNvSpPr txBox="1"/>
          <p:nvPr/>
        </p:nvSpPr>
        <p:spPr>
          <a:xfrm>
            <a:off x="7099300" y="2743200"/>
            <a:ext cx="3162300" cy="55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Training</a:t>
            </a:r>
            <a:endParaRPr sz="1700">
              <a:solidFill>
                <a:srgbClr val="172C2B"/>
              </a:solidFill>
            </a:endParaRPr>
          </a:p>
        </p:txBody>
      </p:sp>
      <p:sp>
        <p:nvSpPr>
          <p:cNvPr id="283" name="Google Shape;283;p19"/>
          <p:cNvSpPr txBox="1"/>
          <p:nvPr/>
        </p:nvSpPr>
        <p:spPr>
          <a:xfrm>
            <a:off x="10464800" y="2743200"/>
            <a:ext cx="1066800" cy="55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2,990</a:t>
            </a:r>
            <a:endParaRPr sz="1700">
              <a:solidFill>
                <a:srgbClr val="172C2B"/>
              </a:solidFill>
            </a:endParaRPr>
          </a:p>
        </p:txBody>
      </p:sp>
      <p:sp>
        <p:nvSpPr>
          <p:cNvPr id="284" name="Google Shape;284;p19"/>
          <p:cNvSpPr txBox="1"/>
          <p:nvPr/>
        </p:nvSpPr>
        <p:spPr>
          <a:xfrm>
            <a:off x="7099300" y="3403600"/>
            <a:ext cx="3162300" cy="55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Validation</a:t>
            </a:r>
            <a:endParaRPr sz="1700">
              <a:solidFill>
                <a:srgbClr val="172C2B"/>
              </a:solidFill>
            </a:endParaRPr>
          </a:p>
        </p:txBody>
      </p:sp>
      <p:sp>
        <p:nvSpPr>
          <p:cNvPr id="285" name="Google Shape;285;p19"/>
          <p:cNvSpPr txBox="1"/>
          <p:nvPr/>
        </p:nvSpPr>
        <p:spPr>
          <a:xfrm>
            <a:off x="10464800" y="3403600"/>
            <a:ext cx="1066800" cy="55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640</a:t>
            </a:r>
            <a:endParaRPr sz="1700">
              <a:solidFill>
                <a:srgbClr val="172C2B"/>
              </a:solidFill>
            </a:endParaRPr>
          </a:p>
        </p:txBody>
      </p:sp>
      <p:sp>
        <p:nvSpPr>
          <p:cNvPr id="286" name="Google Shape;286;p19"/>
          <p:cNvSpPr txBox="1"/>
          <p:nvPr/>
        </p:nvSpPr>
        <p:spPr>
          <a:xfrm>
            <a:off x="7099300" y="4064000"/>
            <a:ext cx="3162300" cy="55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Ordinary test</a:t>
            </a:r>
            <a:endParaRPr sz="1700">
              <a:solidFill>
                <a:srgbClr val="172C2B"/>
              </a:solidFill>
            </a:endParaRPr>
          </a:p>
        </p:txBody>
      </p:sp>
      <p:sp>
        <p:nvSpPr>
          <p:cNvPr id="287" name="Google Shape;287;p19"/>
          <p:cNvSpPr txBox="1"/>
          <p:nvPr/>
        </p:nvSpPr>
        <p:spPr>
          <a:xfrm>
            <a:off x="10464800" y="4064000"/>
            <a:ext cx="1066800" cy="55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640</a:t>
            </a:r>
            <a:endParaRPr sz="1700">
              <a:solidFill>
                <a:srgbClr val="172C2B"/>
              </a:solidFill>
            </a:endParaRPr>
          </a:p>
        </p:txBody>
      </p:sp>
      <p:sp>
        <p:nvSpPr>
          <p:cNvPr id="288" name="Google Shape;288;p19"/>
          <p:cNvSpPr/>
          <p:nvPr/>
        </p:nvSpPr>
        <p:spPr>
          <a:xfrm>
            <a:off x="6997700" y="4635500"/>
            <a:ext cx="4635600" cy="6351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9" name="Google Shape;289;p19"/>
          <p:cNvSpPr txBox="1"/>
          <p:nvPr/>
        </p:nvSpPr>
        <p:spPr>
          <a:xfrm>
            <a:off x="7099300" y="4724400"/>
            <a:ext cx="3162300" cy="55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Held-out generator</a:t>
            </a:r>
            <a:endParaRPr b="1" sz="1700">
              <a:solidFill>
                <a:srgbClr val="00796B"/>
              </a:solidFill>
            </a:endParaRPr>
          </a:p>
        </p:txBody>
      </p:sp>
      <p:sp>
        <p:nvSpPr>
          <p:cNvPr id="290" name="Google Shape;290;p19"/>
          <p:cNvSpPr txBox="1"/>
          <p:nvPr/>
        </p:nvSpPr>
        <p:spPr>
          <a:xfrm>
            <a:off x="10464800" y="4724400"/>
            <a:ext cx="1066800" cy="55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854</a:t>
            </a:r>
            <a:endParaRPr b="1" sz="1700">
              <a:solidFill>
                <a:srgbClr val="00796B"/>
              </a:solidFill>
            </a:endParaRPr>
          </a:p>
        </p:txBody>
      </p:sp>
      <p:sp>
        <p:nvSpPr>
          <p:cNvPr id="291" name="Google Shape;291;p19"/>
          <p:cNvSpPr txBox="1"/>
          <p:nvPr/>
        </p:nvSpPr>
        <p:spPr>
          <a:xfrm>
            <a:off x="70358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3"/>
              </a:rPr>
              <a:t>Dataset notebook</a:t>
            </a:r>
            <a:endParaRPr sz="850">
              <a:solidFill>
                <a:srgbClr val="546966"/>
              </a:solidFill>
            </a:endParaRPr>
          </a:p>
        </p:txBody>
      </p:sp>
      <p:sp>
        <p:nvSpPr>
          <p:cNvPr id="292" name="Google Shape;292;p19"/>
          <p:cNvSpPr txBox="1"/>
          <p:nvPr/>
        </p:nvSpPr>
        <p:spPr>
          <a:xfrm>
            <a:off x="85852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4"/>
              </a:rPr>
              <a:t>Qwen data</a:t>
            </a:r>
            <a:endParaRPr sz="850">
              <a:solidFill>
                <a:srgbClr val="546966"/>
              </a:solidFill>
            </a:endParaRPr>
          </a:p>
        </p:txBody>
      </p:sp>
      <p:sp>
        <p:nvSpPr>
          <p:cNvPr id="293" name="Google Shape;293;p19"/>
          <p:cNvSpPr txBox="1"/>
          <p:nvPr/>
        </p:nvSpPr>
        <p:spPr>
          <a:xfrm>
            <a:off x="101346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5"/>
              </a:rPr>
              <a:t>Real photos</a:t>
            </a:r>
            <a:endParaRPr sz="850">
              <a:solidFill>
                <a:srgbClr val="546966"/>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0"/>
          <p:cNvSpPr/>
          <p:nvPr/>
        </p:nvSpPr>
        <p:spPr>
          <a:xfrm>
            <a:off x="0" y="0"/>
            <a:ext cx="12192000"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0" name="Google Shape;300;p20"/>
          <p:cNvSpPr/>
          <p:nvPr/>
        </p:nvSpPr>
        <p:spPr>
          <a:xfrm>
            <a:off x="0" y="0"/>
            <a:ext cx="101600" cy="6858000"/>
          </a:xfrm>
          <a:prstGeom prst="rect">
            <a:avLst/>
          </a:prstGeom>
          <a:solidFill>
            <a:srgbClr val="00796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20"/>
          <p:cNvSpPr txBox="1"/>
          <p:nvPr/>
        </p:nvSpPr>
        <p:spPr>
          <a:xfrm>
            <a:off x="558800" y="304800"/>
            <a:ext cx="10160000" cy="19304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1000">
                <a:solidFill>
                  <a:srgbClr val="00796B"/>
                </a:solidFill>
              </a:rPr>
              <a:t>NEW EXPERIMENTS / CONSISTENCY AUDIT</a:t>
            </a:r>
            <a:endParaRPr b="1" sz="1000">
              <a:solidFill>
                <a:srgbClr val="00796B"/>
              </a:solidFill>
            </a:endParaRPr>
          </a:p>
        </p:txBody>
      </p:sp>
      <p:sp>
        <p:nvSpPr>
          <p:cNvPr id="302" name="Google Shape;302;p20"/>
          <p:cNvSpPr txBox="1"/>
          <p:nvPr/>
        </p:nvSpPr>
        <p:spPr>
          <a:xfrm>
            <a:off x="10947400" y="304800"/>
            <a:ext cx="736600" cy="19304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000" u="none" cap="none" strike="noStrike">
                <a:solidFill>
                  <a:srgbClr val="546966"/>
                </a:solidFill>
                <a:latin typeface="Arial"/>
                <a:ea typeface="Arial"/>
                <a:cs typeface="Arial"/>
                <a:sym typeface="Arial"/>
              </a:rPr>
              <a:t>08 / 15</a:t>
            </a:r>
            <a:endParaRPr/>
          </a:p>
        </p:txBody>
      </p:sp>
      <p:sp>
        <p:nvSpPr>
          <p:cNvPr id="303" name="Google Shape;303;p20"/>
          <p:cNvSpPr txBox="1"/>
          <p:nvPr/>
        </p:nvSpPr>
        <p:spPr>
          <a:xfrm>
            <a:off x="558800" y="723900"/>
            <a:ext cx="11074500" cy="6096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2800">
                <a:solidFill>
                  <a:srgbClr val="172C2B"/>
                </a:solidFill>
              </a:rPr>
              <a:t>The old pipeline struggled on the newer images</a:t>
            </a:r>
            <a:endParaRPr b="1" sz="2800">
              <a:solidFill>
                <a:srgbClr val="172C2B"/>
              </a:solidFill>
            </a:endParaRPr>
          </a:p>
        </p:txBody>
      </p:sp>
      <p:sp>
        <p:nvSpPr>
          <p:cNvPr id="304" name="Google Shape;304;p20"/>
          <p:cNvSpPr txBox="1"/>
          <p:nvPr/>
        </p:nvSpPr>
        <p:spPr>
          <a:xfrm>
            <a:off x="584200" y="1409700"/>
            <a:ext cx="11049000" cy="255015"/>
          </a:xfrm>
          <a:prstGeom prst="rect">
            <a:avLst/>
          </a:prstGeom>
          <a:noFill/>
          <a:ln>
            <a:noFill/>
          </a:ln>
        </p:spPr>
        <p:txBody>
          <a:bodyPr anchorCtr="0" anchor="t" bIns="0" lIns="0" spcFirstLastPara="1" rIns="0" wrap="square" tIns="0">
            <a:noAutofit/>
          </a:bodyPr>
          <a:lstStyle/>
          <a:p>
            <a:pPr indent="0" lvl="0" marL="0" marR="0" rtl="0" algn="l">
              <a:lnSpc>
                <a:spcPct val="121928"/>
              </a:lnSpc>
              <a:spcBef>
                <a:spcPts val="0"/>
              </a:spcBef>
              <a:spcAft>
                <a:spcPts val="0"/>
              </a:spcAft>
              <a:buNone/>
            </a:pPr>
            <a:r>
              <a:rPr lang="en-US">
                <a:solidFill>
                  <a:srgbClr val="546966"/>
                </a:solidFill>
              </a:rPr>
              <a:t>Re-ran the saved original model without retraining it.</a:t>
            </a:r>
            <a:endParaRPr>
              <a:solidFill>
                <a:srgbClr val="546966"/>
              </a:solidFill>
            </a:endParaRPr>
          </a:p>
        </p:txBody>
      </p:sp>
      <p:cxnSp>
        <p:nvCxnSpPr>
          <p:cNvPr id="305" name="Google Shape;305;p20"/>
          <p:cNvCxnSpPr/>
          <p:nvPr/>
        </p:nvCxnSpPr>
        <p:spPr>
          <a:xfrm>
            <a:off x="558800" y="6375400"/>
            <a:ext cx="11074400" cy="0"/>
          </a:xfrm>
          <a:prstGeom prst="straightConnector1">
            <a:avLst/>
          </a:prstGeom>
          <a:noFill/>
          <a:ln cap="flat" cmpd="sng" w="12700">
            <a:solidFill>
              <a:srgbClr val="DCE5E2"/>
            </a:solidFill>
            <a:prstDash val="solid"/>
            <a:round/>
            <a:headEnd len="sm" w="sm" type="none"/>
            <a:tailEnd len="sm" w="sm" type="none"/>
          </a:ln>
          <a:effectLst>
            <a:outerShdw blurRad="40000" rotWithShape="0" dir="5400000" dist="20000">
              <a:srgbClr val="000000">
                <a:alpha val="38039"/>
              </a:srgbClr>
            </a:outerShdw>
          </a:effectLst>
        </p:spPr>
      </p:cxnSp>
      <p:sp>
        <p:nvSpPr>
          <p:cNvPr id="306" name="Google Shape;306;p20"/>
          <p:cNvSpPr txBox="1"/>
          <p:nvPr/>
        </p:nvSpPr>
        <p:spPr>
          <a:xfrm>
            <a:off x="558800" y="6540500"/>
            <a:ext cx="5080000" cy="169799"/>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850" u="none" cap="none" strike="noStrike">
                <a:solidFill>
                  <a:srgbClr val="546966"/>
                </a:solidFill>
                <a:latin typeface="Arial"/>
                <a:ea typeface="Arial"/>
                <a:cs typeface="Arial"/>
                <a:sym typeface="Arial"/>
              </a:rPr>
              <a:t>AI SHIELD / ABDELRAHMAN SOLIMAN</a:t>
            </a:r>
            <a:endParaRPr/>
          </a:p>
        </p:txBody>
      </p:sp>
      <p:sp>
        <p:nvSpPr>
          <p:cNvPr id="307" name="Google Shape;307;p20"/>
          <p:cNvSpPr/>
          <p:nvPr/>
        </p:nvSpPr>
        <p:spPr>
          <a:xfrm>
            <a:off x="558800" y="2146300"/>
            <a:ext cx="3530700" cy="30354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08" name="Google Shape;308;p20"/>
          <p:cNvSpPr/>
          <p:nvPr/>
        </p:nvSpPr>
        <p:spPr>
          <a:xfrm>
            <a:off x="558800" y="2146300"/>
            <a:ext cx="50700" cy="3035400"/>
          </a:xfrm>
          <a:prstGeom prst="rect">
            <a:avLst/>
          </a:prstGeom>
          <a:solidFill>
            <a:srgbClr val="0079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09" name="Google Shape;309;p20"/>
          <p:cNvSpPr txBox="1"/>
          <p:nvPr/>
        </p:nvSpPr>
        <p:spPr>
          <a:xfrm>
            <a:off x="762000" y="2298700"/>
            <a:ext cx="3124200" cy="6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100">
                <a:solidFill>
                  <a:srgbClr val="00796B"/>
                </a:solidFill>
              </a:rPr>
              <a:t>Original benchmark</a:t>
            </a:r>
            <a:endParaRPr b="1" sz="2100">
              <a:solidFill>
                <a:srgbClr val="00796B"/>
              </a:solidFill>
            </a:endParaRPr>
          </a:p>
        </p:txBody>
      </p:sp>
      <p:sp>
        <p:nvSpPr>
          <p:cNvPr id="310" name="Google Shape;310;p20"/>
          <p:cNvSpPr txBox="1"/>
          <p:nvPr/>
        </p:nvSpPr>
        <p:spPr>
          <a:xfrm>
            <a:off x="762000" y="3060700"/>
            <a:ext cx="3124200" cy="201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Tiny-GenImage fusion test</a:t>
            </a:r>
            <a:endParaRPr sz="1700">
              <a:solidFill>
                <a:srgbClr val="172C2B"/>
              </a:solidFill>
            </a:endParaRPr>
          </a:p>
          <a:p>
            <a:pPr indent="0" lvl="0" marL="0" rtl="0" algn="l">
              <a:lnSpc>
                <a:spcPct val="115000"/>
              </a:lnSpc>
              <a:spcBef>
                <a:spcPts val="0"/>
              </a:spcBef>
              <a:spcAft>
                <a:spcPts val="0"/>
              </a:spcAft>
              <a:buNone/>
            </a:pPr>
            <a:r>
              <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AUROC 0.9819</a:t>
            </a:r>
            <a:endParaRPr sz="1700">
              <a:solidFill>
                <a:srgbClr val="172C2B"/>
              </a:solidFill>
            </a:endParaRPr>
          </a:p>
          <a:p>
            <a:pPr indent="0" lvl="0" marL="0" rtl="0" algn="l">
              <a:lnSpc>
                <a:spcPct val="115000"/>
              </a:lnSpc>
              <a:spcBef>
                <a:spcPts val="0"/>
              </a:spcBef>
              <a:spcAft>
                <a:spcPts val="0"/>
              </a:spcAft>
              <a:buNone/>
            </a:pPr>
            <a:r>
              <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Strong original result.</a:t>
            </a:r>
            <a:endParaRPr sz="1700">
              <a:solidFill>
                <a:srgbClr val="172C2B"/>
              </a:solidFill>
            </a:endParaRPr>
          </a:p>
        </p:txBody>
      </p:sp>
      <p:sp>
        <p:nvSpPr>
          <p:cNvPr id="311" name="Google Shape;311;p20"/>
          <p:cNvSpPr/>
          <p:nvPr/>
        </p:nvSpPr>
        <p:spPr>
          <a:xfrm>
            <a:off x="4330700" y="2146300"/>
            <a:ext cx="3530700" cy="30354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12" name="Google Shape;312;p20"/>
          <p:cNvSpPr/>
          <p:nvPr/>
        </p:nvSpPr>
        <p:spPr>
          <a:xfrm>
            <a:off x="4330700" y="2146300"/>
            <a:ext cx="50700" cy="3035400"/>
          </a:xfrm>
          <a:prstGeom prst="rect">
            <a:avLst/>
          </a:prstGeom>
          <a:solidFill>
            <a:srgbClr val="C847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13" name="Google Shape;313;p20"/>
          <p:cNvSpPr txBox="1"/>
          <p:nvPr/>
        </p:nvSpPr>
        <p:spPr>
          <a:xfrm>
            <a:off x="4533900" y="2298700"/>
            <a:ext cx="3124200" cy="6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100">
                <a:solidFill>
                  <a:srgbClr val="C84760"/>
                </a:solidFill>
              </a:rPr>
              <a:t>New ordinary test</a:t>
            </a:r>
            <a:endParaRPr b="1" sz="2100">
              <a:solidFill>
                <a:srgbClr val="C84760"/>
              </a:solidFill>
            </a:endParaRPr>
          </a:p>
        </p:txBody>
      </p:sp>
      <p:sp>
        <p:nvSpPr>
          <p:cNvPr id="314" name="Google Shape;314;p20"/>
          <p:cNvSpPr txBox="1"/>
          <p:nvPr/>
        </p:nvSpPr>
        <p:spPr>
          <a:xfrm>
            <a:off x="4533900" y="3060700"/>
            <a:ext cx="3124200" cy="201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Dataset v1: 640 images</a:t>
            </a:r>
            <a:endParaRPr sz="1700">
              <a:solidFill>
                <a:srgbClr val="172C2B"/>
              </a:solidFill>
            </a:endParaRPr>
          </a:p>
          <a:p>
            <a:pPr indent="0" lvl="0" marL="0" rtl="0" algn="l">
              <a:lnSpc>
                <a:spcPct val="115000"/>
              </a:lnSpc>
              <a:spcBef>
                <a:spcPts val="0"/>
              </a:spcBef>
              <a:spcAft>
                <a:spcPts val="0"/>
              </a:spcAft>
              <a:buNone/>
            </a:pPr>
            <a:r>
              <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AUROC ~0.606</a:t>
            </a:r>
            <a:endParaRPr sz="1700">
              <a:solidFill>
                <a:srgbClr val="172C2B"/>
              </a:solidFill>
            </a:endParaRPr>
          </a:p>
          <a:p>
            <a:pPr indent="0" lvl="0" marL="0" rtl="0" algn="l">
              <a:lnSpc>
                <a:spcPct val="115000"/>
              </a:lnSpc>
              <a:spcBef>
                <a:spcPts val="0"/>
              </a:spcBef>
              <a:spcAft>
                <a:spcPts val="0"/>
              </a:spcAft>
              <a:buNone/>
            </a:pPr>
            <a:r>
              <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Weak transfer.</a:t>
            </a:r>
            <a:endParaRPr sz="1700">
              <a:solidFill>
                <a:srgbClr val="172C2B"/>
              </a:solidFill>
            </a:endParaRPr>
          </a:p>
        </p:txBody>
      </p:sp>
      <p:sp>
        <p:nvSpPr>
          <p:cNvPr id="315" name="Google Shape;315;p20"/>
          <p:cNvSpPr/>
          <p:nvPr/>
        </p:nvSpPr>
        <p:spPr>
          <a:xfrm>
            <a:off x="8102600" y="2146300"/>
            <a:ext cx="3530700" cy="30354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16" name="Google Shape;316;p20"/>
          <p:cNvSpPr/>
          <p:nvPr/>
        </p:nvSpPr>
        <p:spPr>
          <a:xfrm>
            <a:off x="8102600" y="2146300"/>
            <a:ext cx="50700" cy="3035400"/>
          </a:xfrm>
          <a:prstGeom prst="rect">
            <a:avLst/>
          </a:prstGeom>
          <a:solidFill>
            <a:srgbClr val="C8476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17" name="Google Shape;317;p20"/>
          <p:cNvSpPr txBox="1"/>
          <p:nvPr/>
        </p:nvSpPr>
        <p:spPr>
          <a:xfrm>
            <a:off x="8305800" y="2298700"/>
            <a:ext cx="3124200" cy="6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100">
                <a:solidFill>
                  <a:srgbClr val="C84760"/>
                </a:solidFill>
              </a:rPr>
              <a:t>Held-out generator</a:t>
            </a:r>
            <a:endParaRPr b="1" sz="2100">
              <a:solidFill>
                <a:srgbClr val="C84760"/>
              </a:solidFill>
            </a:endParaRPr>
          </a:p>
        </p:txBody>
      </p:sp>
      <p:sp>
        <p:nvSpPr>
          <p:cNvPr id="318" name="Google Shape;318;p20"/>
          <p:cNvSpPr txBox="1"/>
          <p:nvPr/>
        </p:nvSpPr>
        <p:spPr>
          <a:xfrm>
            <a:off x="8305800" y="3060700"/>
            <a:ext cx="3124200" cy="201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GPT Image 2 evaluation</a:t>
            </a:r>
            <a:endParaRPr sz="1700">
              <a:solidFill>
                <a:srgbClr val="172C2B"/>
              </a:solidFill>
            </a:endParaRPr>
          </a:p>
          <a:p>
            <a:pPr indent="0" lvl="0" marL="0" rtl="0" algn="l">
              <a:lnSpc>
                <a:spcPct val="115000"/>
              </a:lnSpc>
              <a:spcBef>
                <a:spcPts val="0"/>
              </a:spcBef>
              <a:spcAft>
                <a:spcPts val="0"/>
              </a:spcAft>
              <a:buNone/>
            </a:pPr>
            <a:r>
              <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AUROC ~0.599</a:t>
            </a:r>
            <a:endParaRPr sz="1700">
              <a:solidFill>
                <a:srgbClr val="172C2B"/>
              </a:solidFill>
            </a:endParaRPr>
          </a:p>
          <a:p>
            <a:pPr indent="0" lvl="0" marL="0" rtl="0" algn="l">
              <a:lnSpc>
                <a:spcPct val="115000"/>
              </a:lnSpc>
              <a:spcBef>
                <a:spcPts val="0"/>
              </a:spcBef>
              <a:spcAft>
                <a:spcPts val="0"/>
              </a:spcAft>
              <a:buNone/>
            </a:pPr>
            <a:r>
              <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Weak transfer here too.</a:t>
            </a:r>
            <a:endParaRPr sz="1700">
              <a:solidFill>
                <a:srgbClr val="172C2B"/>
              </a:solidFill>
            </a:endParaRPr>
          </a:p>
        </p:txBody>
      </p:sp>
      <p:sp>
        <p:nvSpPr>
          <p:cNvPr id="319" name="Google Shape;319;p20"/>
          <p:cNvSpPr/>
          <p:nvPr/>
        </p:nvSpPr>
        <p:spPr>
          <a:xfrm>
            <a:off x="558800" y="5702300"/>
            <a:ext cx="11074500" cy="5079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20" name="Google Shape;320;p20"/>
          <p:cNvSpPr txBox="1"/>
          <p:nvPr/>
        </p:nvSpPr>
        <p:spPr>
          <a:xfrm>
            <a:off x="711200" y="5765800"/>
            <a:ext cx="107697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Test a stronger detector on these same images: Community Forensics.</a:t>
            </a:r>
            <a:endParaRPr b="1" sz="1700">
              <a:solidFill>
                <a:srgbClr val="00796B"/>
              </a:solidFill>
            </a:endParaRPr>
          </a:p>
        </p:txBody>
      </p:sp>
      <p:sp>
        <p:nvSpPr>
          <p:cNvPr id="321" name="Google Shape;321;p20"/>
          <p:cNvSpPr txBox="1"/>
          <p:nvPr/>
        </p:nvSpPr>
        <p:spPr>
          <a:xfrm>
            <a:off x="70358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3"/>
              </a:rPr>
              <a:t>Comparison notebook</a:t>
            </a:r>
            <a:endParaRPr sz="850">
              <a:solidFill>
                <a:srgbClr val="546966"/>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1"/>
          <p:cNvSpPr/>
          <p:nvPr/>
        </p:nvSpPr>
        <p:spPr>
          <a:xfrm>
            <a:off x="0" y="0"/>
            <a:ext cx="12192000"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8" name="Google Shape;328;p21"/>
          <p:cNvSpPr/>
          <p:nvPr/>
        </p:nvSpPr>
        <p:spPr>
          <a:xfrm>
            <a:off x="0" y="0"/>
            <a:ext cx="101600" cy="6858000"/>
          </a:xfrm>
          <a:prstGeom prst="rect">
            <a:avLst/>
          </a:prstGeom>
          <a:solidFill>
            <a:srgbClr val="00796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21"/>
          <p:cNvSpPr txBox="1"/>
          <p:nvPr/>
        </p:nvSpPr>
        <p:spPr>
          <a:xfrm>
            <a:off x="558800" y="304800"/>
            <a:ext cx="10160000" cy="19304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1000">
                <a:solidFill>
                  <a:srgbClr val="00796B"/>
                </a:solidFill>
              </a:rPr>
              <a:t>NEW EXPERIMENTS / COMMUNITY FORENSICS</a:t>
            </a:r>
            <a:endParaRPr b="1" sz="1000">
              <a:solidFill>
                <a:srgbClr val="00796B"/>
              </a:solidFill>
            </a:endParaRPr>
          </a:p>
        </p:txBody>
      </p:sp>
      <p:sp>
        <p:nvSpPr>
          <p:cNvPr id="330" name="Google Shape;330;p21"/>
          <p:cNvSpPr txBox="1"/>
          <p:nvPr/>
        </p:nvSpPr>
        <p:spPr>
          <a:xfrm>
            <a:off x="10947400" y="304800"/>
            <a:ext cx="736600" cy="19304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000" u="none" cap="none" strike="noStrike">
                <a:solidFill>
                  <a:srgbClr val="546966"/>
                </a:solidFill>
                <a:latin typeface="Arial"/>
                <a:ea typeface="Arial"/>
                <a:cs typeface="Arial"/>
                <a:sym typeface="Arial"/>
              </a:rPr>
              <a:t>09 / 15</a:t>
            </a:r>
            <a:endParaRPr/>
          </a:p>
        </p:txBody>
      </p:sp>
      <p:sp>
        <p:nvSpPr>
          <p:cNvPr id="331" name="Google Shape;331;p21"/>
          <p:cNvSpPr txBox="1"/>
          <p:nvPr/>
        </p:nvSpPr>
        <p:spPr>
          <a:xfrm>
            <a:off x="558800" y="723900"/>
            <a:ext cx="11074500" cy="6096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2800">
                <a:solidFill>
                  <a:srgbClr val="172C2B"/>
                </a:solidFill>
              </a:rPr>
              <a:t>Adapted Community Forensics in two stages</a:t>
            </a:r>
            <a:endParaRPr b="1" sz="2800">
              <a:solidFill>
                <a:srgbClr val="172C2B"/>
              </a:solidFill>
            </a:endParaRPr>
          </a:p>
        </p:txBody>
      </p:sp>
      <p:sp>
        <p:nvSpPr>
          <p:cNvPr id="332" name="Google Shape;332;p21"/>
          <p:cNvSpPr txBox="1"/>
          <p:nvPr/>
        </p:nvSpPr>
        <p:spPr>
          <a:xfrm>
            <a:off x="584200" y="1409700"/>
            <a:ext cx="11049000" cy="255015"/>
          </a:xfrm>
          <a:prstGeom prst="rect">
            <a:avLst/>
          </a:prstGeom>
          <a:noFill/>
          <a:ln>
            <a:noFill/>
          </a:ln>
        </p:spPr>
        <p:txBody>
          <a:bodyPr anchorCtr="0" anchor="t" bIns="0" lIns="0" spcFirstLastPara="1" rIns="0" wrap="square" tIns="0">
            <a:noAutofit/>
          </a:bodyPr>
          <a:lstStyle/>
          <a:p>
            <a:pPr indent="0" lvl="0" marL="0" marR="0" rtl="0" algn="l">
              <a:lnSpc>
                <a:spcPct val="121928"/>
              </a:lnSpc>
              <a:spcBef>
                <a:spcPts val="0"/>
              </a:spcBef>
              <a:spcAft>
                <a:spcPts val="0"/>
              </a:spcAft>
              <a:buNone/>
            </a:pPr>
            <a:r>
              <a:rPr lang="en-US">
                <a:solidFill>
                  <a:srgbClr val="546966"/>
                </a:solidFill>
              </a:rPr>
              <a:t>Started from the published OwensLab/commfor-model-384 checkpoint.</a:t>
            </a:r>
            <a:endParaRPr>
              <a:solidFill>
                <a:srgbClr val="546966"/>
              </a:solidFill>
            </a:endParaRPr>
          </a:p>
        </p:txBody>
      </p:sp>
      <p:cxnSp>
        <p:nvCxnSpPr>
          <p:cNvPr id="333" name="Google Shape;333;p21"/>
          <p:cNvCxnSpPr/>
          <p:nvPr/>
        </p:nvCxnSpPr>
        <p:spPr>
          <a:xfrm>
            <a:off x="558800" y="6375400"/>
            <a:ext cx="11074400" cy="0"/>
          </a:xfrm>
          <a:prstGeom prst="straightConnector1">
            <a:avLst/>
          </a:prstGeom>
          <a:noFill/>
          <a:ln cap="flat" cmpd="sng" w="12700">
            <a:solidFill>
              <a:srgbClr val="DCE5E2"/>
            </a:solidFill>
            <a:prstDash val="solid"/>
            <a:round/>
            <a:headEnd len="sm" w="sm" type="none"/>
            <a:tailEnd len="sm" w="sm" type="none"/>
          </a:ln>
          <a:effectLst>
            <a:outerShdw blurRad="40000" rotWithShape="0" dir="5400000" dist="20000">
              <a:srgbClr val="000000">
                <a:alpha val="38039"/>
              </a:srgbClr>
            </a:outerShdw>
          </a:effectLst>
        </p:spPr>
      </p:cxnSp>
      <p:sp>
        <p:nvSpPr>
          <p:cNvPr id="334" name="Google Shape;334;p21"/>
          <p:cNvSpPr txBox="1"/>
          <p:nvPr/>
        </p:nvSpPr>
        <p:spPr>
          <a:xfrm>
            <a:off x="558800" y="6540500"/>
            <a:ext cx="5080000" cy="169799"/>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850" u="none" cap="none" strike="noStrike">
                <a:solidFill>
                  <a:srgbClr val="546966"/>
                </a:solidFill>
                <a:latin typeface="Arial"/>
                <a:ea typeface="Arial"/>
                <a:cs typeface="Arial"/>
                <a:sym typeface="Arial"/>
              </a:rPr>
              <a:t>AI SHIELD / ABDELRAHMAN SOLIMAN</a:t>
            </a:r>
            <a:endParaRPr/>
          </a:p>
        </p:txBody>
      </p:sp>
      <p:sp>
        <p:nvSpPr>
          <p:cNvPr id="335" name="Google Shape;335;p21"/>
          <p:cNvSpPr/>
          <p:nvPr/>
        </p:nvSpPr>
        <p:spPr>
          <a:xfrm>
            <a:off x="558800" y="2082800"/>
            <a:ext cx="11074500" cy="9399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36" name="Google Shape;336;p21"/>
          <p:cNvSpPr txBox="1"/>
          <p:nvPr/>
        </p:nvSpPr>
        <p:spPr>
          <a:xfrm>
            <a:off x="762000" y="2247900"/>
            <a:ext cx="44196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200">
                <a:solidFill>
                  <a:srgbClr val="172C2B"/>
                </a:solidFill>
              </a:rPr>
              <a:t>Pretrained baseline</a:t>
            </a:r>
            <a:endParaRPr b="1" sz="2200">
              <a:solidFill>
                <a:srgbClr val="172C2B"/>
              </a:solidFill>
            </a:endParaRPr>
          </a:p>
        </p:txBody>
      </p:sp>
      <p:sp>
        <p:nvSpPr>
          <p:cNvPr id="337" name="Google Shape;337;p21"/>
          <p:cNvSpPr txBox="1"/>
          <p:nvPr/>
        </p:nvSpPr>
        <p:spPr>
          <a:xfrm>
            <a:off x="5384800" y="2311400"/>
            <a:ext cx="40386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546966"/>
                </a:solidFill>
              </a:rPr>
              <a:t>No project fine-tuning</a:t>
            </a:r>
            <a:endParaRPr sz="1700">
              <a:solidFill>
                <a:srgbClr val="546966"/>
              </a:solidFill>
            </a:endParaRPr>
          </a:p>
        </p:txBody>
      </p:sp>
      <p:sp>
        <p:nvSpPr>
          <p:cNvPr id="338" name="Google Shape;338;p21"/>
          <p:cNvSpPr txBox="1"/>
          <p:nvPr/>
        </p:nvSpPr>
        <p:spPr>
          <a:xfrm>
            <a:off x="9690100" y="2235200"/>
            <a:ext cx="1778100" cy="59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900">
                <a:solidFill>
                  <a:srgbClr val="00796B"/>
                </a:solidFill>
              </a:rPr>
              <a:t>0.8780</a:t>
            </a:r>
            <a:endParaRPr b="1" sz="2900">
              <a:solidFill>
                <a:srgbClr val="00796B"/>
              </a:solidFill>
            </a:endParaRPr>
          </a:p>
        </p:txBody>
      </p:sp>
      <p:sp>
        <p:nvSpPr>
          <p:cNvPr id="339" name="Google Shape;339;p21"/>
          <p:cNvSpPr/>
          <p:nvPr/>
        </p:nvSpPr>
        <p:spPr>
          <a:xfrm>
            <a:off x="558800" y="3187700"/>
            <a:ext cx="11074500" cy="9399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40" name="Google Shape;340;p21"/>
          <p:cNvSpPr txBox="1"/>
          <p:nvPr/>
        </p:nvSpPr>
        <p:spPr>
          <a:xfrm>
            <a:off x="762000" y="3352800"/>
            <a:ext cx="44196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200">
                <a:solidFill>
                  <a:srgbClr val="172C2B"/>
                </a:solidFill>
              </a:rPr>
              <a:t>Stage 1: classifier head</a:t>
            </a:r>
            <a:endParaRPr b="1" sz="2200">
              <a:solidFill>
                <a:srgbClr val="172C2B"/>
              </a:solidFill>
            </a:endParaRPr>
          </a:p>
        </p:txBody>
      </p:sp>
      <p:sp>
        <p:nvSpPr>
          <p:cNvPr id="341" name="Google Shape;341;p21"/>
          <p:cNvSpPr txBox="1"/>
          <p:nvPr/>
        </p:nvSpPr>
        <p:spPr>
          <a:xfrm>
            <a:off x="5384800" y="3416300"/>
            <a:ext cx="40386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546966"/>
                </a:solidFill>
              </a:rPr>
              <a:t>3 epochs; backbone fixed</a:t>
            </a:r>
            <a:endParaRPr sz="1700">
              <a:solidFill>
                <a:srgbClr val="546966"/>
              </a:solidFill>
            </a:endParaRPr>
          </a:p>
        </p:txBody>
      </p:sp>
      <p:sp>
        <p:nvSpPr>
          <p:cNvPr id="342" name="Google Shape;342;p21"/>
          <p:cNvSpPr txBox="1"/>
          <p:nvPr/>
        </p:nvSpPr>
        <p:spPr>
          <a:xfrm>
            <a:off x="9690100" y="3340100"/>
            <a:ext cx="1778100" cy="59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900">
                <a:solidFill>
                  <a:srgbClr val="00796B"/>
                </a:solidFill>
              </a:rPr>
              <a:t>0.9804</a:t>
            </a:r>
            <a:endParaRPr b="1" sz="2900">
              <a:solidFill>
                <a:srgbClr val="00796B"/>
              </a:solidFill>
            </a:endParaRPr>
          </a:p>
        </p:txBody>
      </p:sp>
      <p:sp>
        <p:nvSpPr>
          <p:cNvPr id="343" name="Google Shape;343;p21"/>
          <p:cNvSpPr/>
          <p:nvPr/>
        </p:nvSpPr>
        <p:spPr>
          <a:xfrm>
            <a:off x="558800" y="4292600"/>
            <a:ext cx="11074500" cy="9399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44" name="Google Shape;344;p21"/>
          <p:cNvSpPr txBox="1"/>
          <p:nvPr/>
        </p:nvSpPr>
        <p:spPr>
          <a:xfrm>
            <a:off x="762000" y="4457700"/>
            <a:ext cx="44196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200">
                <a:solidFill>
                  <a:srgbClr val="00796B"/>
                </a:solidFill>
              </a:rPr>
              <a:t>Stage 2: final blocks</a:t>
            </a:r>
            <a:endParaRPr b="1" sz="2200">
              <a:solidFill>
                <a:srgbClr val="00796B"/>
              </a:solidFill>
            </a:endParaRPr>
          </a:p>
        </p:txBody>
      </p:sp>
      <p:sp>
        <p:nvSpPr>
          <p:cNvPr id="345" name="Google Shape;345;p21"/>
          <p:cNvSpPr txBox="1"/>
          <p:nvPr/>
        </p:nvSpPr>
        <p:spPr>
          <a:xfrm>
            <a:off x="5384800" y="4521200"/>
            <a:ext cx="40386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546966"/>
                </a:solidFill>
              </a:rPr>
              <a:t>3 epochs; last 2 blocks + head</a:t>
            </a:r>
            <a:endParaRPr sz="1700">
              <a:solidFill>
                <a:srgbClr val="546966"/>
              </a:solidFill>
            </a:endParaRPr>
          </a:p>
        </p:txBody>
      </p:sp>
      <p:sp>
        <p:nvSpPr>
          <p:cNvPr id="346" name="Google Shape;346;p21"/>
          <p:cNvSpPr txBox="1"/>
          <p:nvPr/>
        </p:nvSpPr>
        <p:spPr>
          <a:xfrm>
            <a:off x="9690100" y="4445000"/>
            <a:ext cx="1778100" cy="59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900">
                <a:solidFill>
                  <a:srgbClr val="00796B"/>
                </a:solidFill>
              </a:rPr>
              <a:t>0.9870</a:t>
            </a:r>
            <a:endParaRPr b="1" sz="2900">
              <a:solidFill>
                <a:srgbClr val="00796B"/>
              </a:solidFill>
            </a:endParaRPr>
          </a:p>
        </p:txBody>
      </p:sp>
      <p:sp>
        <p:nvSpPr>
          <p:cNvPr id="347" name="Google Shape;347;p21"/>
          <p:cNvSpPr txBox="1"/>
          <p:nvPr/>
        </p:nvSpPr>
        <p:spPr>
          <a:xfrm>
            <a:off x="584200" y="5283200"/>
            <a:ext cx="11049000" cy="35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600">
                <a:solidFill>
                  <a:srgbClr val="546966"/>
                </a:solidFill>
              </a:rPr>
              <a:t>Right column: validation AUROC. Final test images did not choose the checkpoint.</a:t>
            </a:r>
            <a:endParaRPr sz="1600">
              <a:solidFill>
                <a:srgbClr val="546966"/>
              </a:solidFill>
            </a:endParaRPr>
          </a:p>
        </p:txBody>
      </p:sp>
      <p:sp>
        <p:nvSpPr>
          <p:cNvPr id="348" name="Google Shape;348;p21"/>
          <p:cNvSpPr/>
          <p:nvPr/>
        </p:nvSpPr>
        <p:spPr>
          <a:xfrm>
            <a:off x="558800" y="5702300"/>
            <a:ext cx="11074500" cy="5079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49" name="Google Shape;349;p21"/>
          <p:cNvSpPr txBox="1"/>
          <p:nvPr/>
        </p:nvSpPr>
        <p:spPr>
          <a:xfrm>
            <a:off x="711200" y="5765800"/>
            <a:ext cx="107697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Selected the Stage-2 checkpoint, then evaluated on the two reserved test sets.</a:t>
            </a:r>
            <a:endParaRPr b="1" sz="1700">
              <a:solidFill>
                <a:srgbClr val="00796B"/>
              </a:solidFill>
            </a:endParaRPr>
          </a:p>
        </p:txBody>
      </p:sp>
      <p:sp>
        <p:nvSpPr>
          <p:cNvPr id="350" name="Google Shape;350;p21"/>
          <p:cNvSpPr txBox="1"/>
          <p:nvPr/>
        </p:nvSpPr>
        <p:spPr>
          <a:xfrm>
            <a:off x="70358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3"/>
              </a:rPr>
              <a:t>CF training notebook</a:t>
            </a:r>
            <a:endParaRPr sz="850">
              <a:solidFill>
                <a:srgbClr val="546966"/>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2"/>
          <p:cNvSpPr/>
          <p:nvPr/>
        </p:nvSpPr>
        <p:spPr>
          <a:xfrm>
            <a:off x="0" y="0"/>
            <a:ext cx="12192000"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7" name="Google Shape;357;p22"/>
          <p:cNvSpPr/>
          <p:nvPr/>
        </p:nvSpPr>
        <p:spPr>
          <a:xfrm>
            <a:off x="0" y="0"/>
            <a:ext cx="101600" cy="6858000"/>
          </a:xfrm>
          <a:prstGeom prst="rect">
            <a:avLst/>
          </a:prstGeom>
          <a:solidFill>
            <a:srgbClr val="00796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8" name="Google Shape;358;p22"/>
          <p:cNvSpPr txBox="1"/>
          <p:nvPr/>
        </p:nvSpPr>
        <p:spPr>
          <a:xfrm>
            <a:off x="558800" y="304800"/>
            <a:ext cx="10160000" cy="19304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1000">
                <a:solidFill>
                  <a:srgbClr val="00796B"/>
                </a:solidFill>
              </a:rPr>
              <a:t>NEW EXPERIMENTS / FINAL COMPARISON</a:t>
            </a:r>
            <a:endParaRPr b="1" sz="1000">
              <a:solidFill>
                <a:srgbClr val="00796B"/>
              </a:solidFill>
            </a:endParaRPr>
          </a:p>
        </p:txBody>
      </p:sp>
      <p:sp>
        <p:nvSpPr>
          <p:cNvPr id="359" name="Google Shape;359;p22"/>
          <p:cNvSpPr txBox="1"/>
          <p:nvPr/>
        </p:nvSpPr>
        <p:spPr>
          <a:xfrm>
            <a:off x="10947400" y="304800"/>
            <a:ext cx="736600" cy="19304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000" u="none" cap="none" strike="noStrike">
                <a:solidFill>
                  <a:srgbClr val="546966"/>
                </a:solidFill>
                <a:latin typeface="Arial"/>
                <a:ea typeface="Arial"/>
                <a:cs typeface="Arial"/>
                <a:sym typeface="Arial"/>
              </a:rPr>
              <a:t>10 / 15</a:t>
            </a:r>
            <a:endParaRPr/>
          </a:p>
        </p:txBody>
      </p:sp>
      <p:sp>
        <p:nvSpPr>
          <p:cNvPr id="360" name="Google Shape;360;p22"/>
          <p:cNvSpPr txBox="1"/>
          <p:nvPr/>
        </p:nvSpPr>
        <p:spPr>
          <a:xfrm>
            <a:off x="558800" y="723900"/>
            <a:ext cx="11074500" cy="6096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2800">
                <a:solidFill>
                  <a:srgbClr val="172C2B"/>
                </a:solidFill>
              </a:rPr>
              <a:t>CF alone beat the old system and the new fusion</a:t>
            </a:r>
            <a:endParaRPr b="1" sz="2800">
              <a:solidFill>
                <a:srgbClr val="172C2B"/>
              </a:solidFill>
            </a:endParaRPr>
          </a:p>
        </p:txBody>
      </p:sp>
      <p:sp>
        <p:nvSpPr>
          <p:cNvPr id="361" name="Google Shape;361;p22"/>
          <p:cNvSpPr txBox="1"/>
          <p:nvPr/>
        </p:nvSpPr>
        <p:spPr>
          <a:xfrm>
            <a:off x="584200" y="1409700"/>
            <a:ext cx="11049000" cy="255015"/>
          </a:xfrm>
          <a:prstGeom prst="rect">
            <a:avLst/>
          </a:prstGeom>
          <a:noFill/>
          <a:ln>
            <a:noFill/>
          </a:ln>
        </p:spPr>
        <p:txBody>
          <a:bodyPr anchorCtr="0" anchor="t" bIns="0" lIns="0" spcFirstLastPara="1" rIns="0" wrap="square" tIns="0">
            <a:noAutofit/>
          </a:bodyPr>
          <a:lstStyle/>
          <a:p>
            <a:pPr indent="0" lvl="0" marL="0" marR="0" rtl="0" algn="l">
              <a:lnSpc>
                <a:spcPct val="121928"/>
              </a:lnSpc>
              <a:spcBef>
                <a:spcPts val="0"/>
              </a:spcBef>
              <a:spcAft>
                <a:spcPts val="0"/>
              </a:spcAft>
              <a:buNone/>
            </a:pPr>
            <a:r>
              <a:rPr lang="en-US">
                <a:solidFill>
                  <a:srgbClr val="546966"/>
                </a:solidFill>
              </a:rPr>
              <a:t>Same final images for every row. Higher AUROC means better ranking.</a:t>
            </a:r>
            <a:endParaRPr>
              <a:solidFill>
                <a:srgbClr val="546966"/>
              </a:solidFill>
            </a:endParaRPr>
          </a:p>
        </p:txBody>
      </p:sp>
      <p:cxnSp>
        <p:nvCxnSpPr>
          <p:cNvPr id="362" name="Google Shape;362;p22"/>
          <p:cNvCxnSpPr/>
          <p:nvPr/>
        </p:nvCxnSpPr>
        <p:spPr>
          <a:xfrm>
            <a:off x="558800" y="6375400"/>
            <a:ext cx="11074400" cy="0"/>
          </a:xfrm>
          <a:prstGeom prst="straightConnector1">
            <a:avLst/>
          </a:prstGeom>
          <a:noFill/>
          <a:ln cap="flat" cmpd="sng" w="12700">
            <a:solidFill>
              <a:srgbClr val="DCE5E2"/>
            </a:solidFill>
            <a:prstDash val="solid"/>
            <a:round/>
            <a:headEnd len="sm" w="sm" type="none"/>
            <a:tailEnd len="sm" w="sm" type="none"/>
          </a:ln>
          <a:effectLst>
            <a:outerShdw blurRad="40000" rotWithShape="0" dir="5400000" dist="20000">
              <a:srgbClr val="000000">
                <a:alpha val="38039"/>
              </a:srgbClr>
            </a:outerShdw>
          </a:effectLst>
        </p:spPr>
      </p:cxnSp>
      <p:sp>
        <p:nvSpPr>
          <p:cNvPr id="363" name="Google Shape;363;p22"/>
          <p:cNvSpPr txBox="1"/>
          <p:nvPr/>
        </p:nvSpPr>
        <p:spPr>
          <a:xfrm>
            <a:off x="558800" y="6540500"/>
            <a:ext cx="5080000" cy="169799"/>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850" u="none" cap="none" strike="noStrike">
                <a:solidFill>
                  <a:srgbClr val="546966"/>
                </a:solidFill>
                <a:latin typeface="Arial"/>
                <a:ea typeface="Arial"/>
                <a:cs typeface="Arial"/>
                <a:sym typeface="Arial"/>
              </a:rPr>
              <a:t>AI SHIELD / ABDELRAHMAN SOLIMAN</a:t>
            </a:r>
            <a:endParaRPr/>
          </a:p>
        </p:txBody>
      </p:sp>
      <p:sp>
        <p:nvSpPr>
          <p:cNvPr id="364" name="Google Shape;364;p22"/>
          <p:cNvSpPr txBox="1"/>
          <p:nvPr/>
        </p:nvSpPr>
        <p:spPr>
          <a:xfrm>
            <a:off x="660400" y="1993900"/>
            <a:ext cx="60198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a:solidFill>
                  <a:srgbClr val="546966"/>
                </a:solidFill>
              </a:rPr>
              <a:t>Detector</a:t>
            </a:r>
            <a:endParaRPr b="1">
              <a:solidFill>
                <a:srgbClr val="546966"/>
              </a:solidFill>
            </a:endParaRPr>
          </a:p>
        </p:txBody>
      </p:sp>
      <p:sp>
        <p:nvSpPr>
          <p:cNvPr id="365" name="Google Shape;365;p22"/>
          <p:cNvSpPr txBox="1"/>
          <p:nvPr/>
        </p:nvSpPr>
        <p:spPr>
          <a:xfrm>
            <a:off x="6883400" y="1993900"/>
            <a:ext cx="22224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a:solidFill>
                  <a:srgbClr val="546966"/>
                </a:solidFill>
              </a:rPr>
              <a:t>Ordinary test</a:t>
            </a:r>
            <a:endParaRPr b="1">
              <a:solidFill>
                <a:srgbClr val="546966"/>
              </a:solidFill>
            </a:endParaRPr>
          </a:p>
        </p:txBody>
      </p:sp>
      <p:sp>
        <p:nvSpPr>
          <p:cNvPr id="366" name="Google Shape;366;p22"/>
          <p:cNvSpPr txBox="1"/>
          <p:nvPr/>
        </p:nvSpPr>
        <p:spPr>
          <a:xfrm>
            <a:off x="9309100" y="1993900"/>
            <a:ext cx="22224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a:solidFill>
                  <a:srgbClr val="546966"/>
                </a:solidFill>
              </a:rPr>
              <a:t>GPT Image 2</a:t>
            </a:r>
            <a:endParaRPr b="1">
              <a:solidFill>
                <a:srgbClr val="546966"/>
              </a:solidFill>
            </a:endParaRPr>
          </a:p>
        </p:txBody>
      </p:sp>
      <p:sp>
        <p:nvSpPr>
          <p:cNvPr id="367" name="Google Shape;367;p22"/>
          <p:cNvSpPr/>
          <p:nvPr/>
        </p:nvSpPr>
        <p:spPr>
          <a:xfrm>
            <a:off x="558800" y="2501900"/>
            <a:ext cx="11074500" cy="12600"/>
          </a:xfrm>
          <a:prstGeom prst="rect">
            <a:avLst/>
          </a:prstGeom>
          <a:solidFill>
            <a:srgbClr val="DCE5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8" name="Google Shape;368;p22"/>
          <p:cNvSpPr txBox="1"/>
          <p:nvPr/>
        </p:nvSpPr>
        <p:spPr>
          <a:xfrm>
            <a:off x="660400" y="2667000"/>
            <a:ext cx="6019800" cy="54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Old AI Shield full fusion</a:t>
            </a:r>
            <a:endParaRPr sz="1700">
              <a:solidFill>
                <a:srgbClr val="172C2B"/>
              </a:solidFill>
            </a:endParaRPr>
          </a:p>
        </p:txBody>
      </p:sp>
      <p:sp>
        <p:nvSpPr>
          <p:cNvPr id="369" name="Google Shape;369;p22"/>
          <p:cNvSpPr txBox="1"/>
          <p:nvPr/>
        </p:nvSpPr>
        <p:spPr>
          <a:xfrm>
            <a:off x="6883400" y="2667000"/>
            <a:ext cx="2222400" cy="54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~0.606</a:t>
            </a:r>
            <a:endParaRPr sz="1700">
              <a:solidFill>
                <a:srgbClr val="172C2B"/>
              </a:solidFill>
            </a:endParaRPr>
          </a:p>
        </p:txBody>
      </p:sp>
      <p:sp>
        <p:nvSpPr>
          <p:cNvPr id="370" name="Google Shape;370;p22"/>
          <p:cNvSpPr txBox="1"/>
          <p:nvPr/>
        </p:nvSpPr>
        <p:spPr>
          <a:xfrm>
            <a:off x="9309100" y="2667000"/>
            <a:ext cx="2222400" cy="54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~0.599</a:t>
            </a:r>
            <a:endParaRPr sz="1700">
              <a:solidFill>
                <a:srgbClr val="172C2B"/>
              </a:solidFill>
            </a:endParaRPr>
          </a:p>
        </p:txBody>
      </p:sp>
      <p:sp>
        <p:nvSpPr>
          <p:cNvPr id="371" name="Google Shape;371;p22"/>
          <p:cNvSpPr txBox="1"/>
          <p:nvPr/>
        </p:nvSpPr>
        <p:spPr>
          <a:xfrm>
            <a:off x="660400" y="3314700"/>
            <a:ext cx="6019800" cy="54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Original CF</a:t>
            </a:r>
            <a:endParaRPr sz="1700">
              <a:solidFill>
                <a:srgbClr val="172C2B"/>
              </a:solidFill>
            </a:endParaRPr>
          </a:p>
        </p:txBody>
      </p:sp>
      <p:sp>
        <p:nvSpPr>
          <p:cNvPr id="372" name="Google Shape;372;p22"/>
          <p:cNvSpPr txBox="1"/>
          <p:nvPr/>
        </p:nvSpPr>
        <p:spPr>
          <a:xfrm>
            <a:off x="6883400" y="3314700"/>
            <a:ext cx="2222400" cy="54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0.8860</a:t>
            </a:r>
            <a:endParaRPr sz="1700">
              <a:solidFill>
                <a:srgbClr val="172C2B"/>
              </a:solidFill>
            </a:endParaRPr>
          </a:p>
        </p:txBody>
      </p:sp>
      <p:sp>
        <p:nvSpPr>
          <p:cNvPr id="373" name="Google Shape;373;p22"/>
          <p:cNvSpPr txBox="1"/>
          <p:nvPr/>
        </p:nvSpPr>
        <p:spPr>
          <a:xfrm>
            <a:off x="9309100" y="3314700"/>
            <a:ext cx="2222400" cy="54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0.9555</a:t>
            </a:r>
            <a:endParaRPr sz="1700">
              <a:solidFill>
                <a:srgbClr val="172C2B"/>
              </a:solidFill>
            </a:endParaRPr>
          </a:p>
        </p:txBody>
      </p:sp>
      <p:sp>
        <p:nvSpPr>
          <p:cNvPr id="374" name="Google Shape;374;p22"/>
          <p:cNvSpPr txBox="1"/>
          <p:nvPr/>
        </p:nvSpPr>
        <p:spPr>
          <a:xfrm>
            <a:off x="660400" y="3962400"/>
            <a:ext cx="6019800" cy="54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CF + older forensic branches</a:t>
            </a:r>
            <a:endParaRPr sz="1700">
              <a:solidFill>
                <a:srgbClr val="172C2B"/>
              </a:solidFill>
            </a:endParaRPr>
          </a:p>
        </p:txBody>
      </p:sp>
      <p:sp>
        <p:nvSpPr>
          <p:cNvPr id="375" name="Google Shape;375;p22"/>
          <p:cNvSpPr txBox="1"/>
          <p:nvPr/>
        </p:nvSpPr>
        <p:spPr>
          <a:xfrm>
            <a:off x="6883400" y="3962400"/>
            <a:ext cx="2222400" cy="54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0.9854</a:t>
            </a:r>
            <a:endParaRPr sz="1700">
              <a:solidFill>
                <a:srgbClr val="172C2B"/>
              </a:solidFill>
            </a:endParaRPr>
          </a:p>
        </p:txBody>
      </p:sp>
      <p:sp>
        <p:nvSpPr>
          <p:cNvPr id="376" name="Google Shape;376;p22"/>
          <p:cNvSpPr txBox="1"/>
          <p:nvPr/>
        </p:nvSpPr>
        <p:spPr>
          <a:xfrm>
            <a:off x="9309100" y="3962400"/>
            <a:ext cx="2222400" cy="54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0.9936</a:t>
            </a:r>
            <a:endParaRPr sz="1700">
              <a:solidFill>
                <a:srgbClr val="172C2B"/>
              </a:solidFill>
            </a:endParaRPr>
          </a:p>
        </p:txBody>
      </p:sp>
      <p:sp>
        <p:nvSpPr>
          <p:cNvPr id="377" name="Google Shape;377;p22"/>
          <p:cNvSpPr/>
          <p:nvPr/>
        </p:nvSpPr>
        <p:spPr>
          <a:xfrm>
            <a:off x="558800" y="4521200"/>
            <a:ext cx="11074500" cy="6222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8" name="Google Shape;378;p22"/>
          <p:cNvSpPr txBox="1"/>
          <p:nvPr/>
        </p:nvSpPr>
        <p:spPr>
          <a:xfrm>
            <a:off x="660400" y="4610100"/>
            <a:ext cx="6019800" cy="54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Fine-tuned CF alone</a:t>
            </a:r>
            <a:endParaRPr b="1" sz="1700">
              <a:solidFill>
                <a:srgbClr val="00796B"/>
              </a:solidFill>
            </a:endParaRPr>
          </a:p>
        </p:txBody>
      </p:sp>
      <p:sp>
        <p:nvSpPr>
          <p:cNvPr id="379" name="Google Shape;379;p22"/>
          <p:cNvSpPr txBox="1"/>
          <p:nvPr/>
        </p:nvSpPr>
        <p:spPr>
          <a:xfrm>
            <a:off x="6883400" y="4610100"/>
            <a:ext cx="2222400" cy="54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0.9884</a:t>
            </a:r>
            <a:endParaRPr b="1" sz="1700">
              <a:solidFill>
                <a:srgbClr val="00796B"/>
              </a:solidFill>
            </a:endParaRPr>
          </a:p>
        </p:txBody>
      </p:sp>
      <p:sp>
        <p:nvSpPr>
          <p:cNvPr id="380" name="Google Shape;380;p22"/>
          <p:cNvSpPr txBox="1"/>
          <p:nvPr/>
        </p:nvSpPr>
        <p:spPr>
          <a:xfrm>
            <a:off x="9309100" y="4610100"/>
            <a:ext cx="2222400" cy="54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0.9946</a:t>
            </a:r>
            <a:endParaRPr b="1" sz="1700">
              <a:solidFill>
                <a:srgbClr val="00796B"/>
              </a:solidFill>
            </a:endParaRPr>
          </a:p>
        </p:txBody>
      </p:sp>
      <p:sp>
        <p:nvSpPr>
          <p:cNvPr id="381" name="Google Shape;381;p22"/>
          <p:cNvSpPr txBox="1"/>
          <p:nvPr/>
        </p:nvSpPr>
        <p:spPr>
          <a:xfrm>
            <a:off x="584200" y="5308600"/>
            <a:ext cx="11049000" cy="35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546966"/>
                </a:solidFill>
              </a:rPr>
              <a:t>Fine-tuned CF accuracy: 95.16% ordinary test; 96.60% held-out evaluation.</a:t>
            </a:r>
            <a:endParaRPr sz="1700">
              <a:solidFill>
                <a:srgbClr val="546966"/>
              </a:solidFill>
            </a:endParaRPr>
          </a:p>
        </p:txBody>
      </p:sp>
      <p:sp>
        <p:nvSpPr>
          <p:cNvPr id="382" name="Google Shape;382;p22"/>
          <p:cNvSpPr/>
          <p:nvPr/>
        </p:nvSpPr>
        <p:spPr>
          <a:xfrm>
            <a:off x="558800" y="5702300"/>
            <a:ext cx="11074500" cy="5079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3" name="Google Shape;383;p22"/>
          <p:cNvSpPr txBox="1"/>
          <p:nvPr/>
        </p:nvSpPr>
        <p:spPr>
          <a:xfrm>
            <a:off x="711200" y="5765800"/>
            <a:ext cx="107697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Selected CF alone. The second fusion did not improve either AUROC.</a:t>
            </a:r>
            <a:endParaRPr b="1" sz="1700">
              <a:solidFill>
                <a:srgbClr val="00796B"/>
              </a:solidFill>
            </a:endParaRPr>
          </a:p>
        </p:txBody>
      </p:sp>
      <p:sp>
        <p:nvSpPr>
          <p:cNvPr id="384" name="Google Shape;384;p22"/>
          <p:cNvSpPr txBox="1"/>
          <p:nvPr/>
        </p:nvSpPr>
        <p:spPr>
          <a:xfrm>
            <a:off x="70358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3"/>
              </a:rPr>
              <a:t>Same-image comparison</a:t>
            </a:r>
            <a:endParaRPr sz="850">
              <a:solidFill>
                <a:srgbClr val="546966"/>
              </a:solidFill>
            </a:endParaRPr>
          </a:p>
        </p:txBody>
      </p:sp>
      <p:sp>
        <p:nvSpPr>
          <p:cNvPr id="385" name="Google Shape;385;p22"/>
          <p:cNvSpPr txBox="1"/>
          <p:nvPr/>
        </p:nvSpPr>
        <p:spPr>
          <a:xfrm>
            <a:off x="85852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4"/>
              </a:rPr>
              <a:t>New fusion study</a:t>
            </a:r>
            <a:endParaRPr sz="850">
              <a:solidFill>
                <a:srgbClr val="546966"/>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3"/>
          <p:cNvSpPr/>
          <p:nvPr/>
        </p:nvSpPr>
        <p:spPr>
          <a:xfrm>
            <a:off x="0" y="0"/>
            <a:ext cx="12192000"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2" name="Google Shape;392;p23"/>
          <p:cNvSpPr/>
          <p:nvPr/>
        </p:nvSpPr>
        <p:spPr>
          <a:xfrm>
            <a:off x="0" y="0"/>
            <a:ext cx="101600" cy="6858000"/>
          </a:xfrm>
          <a:prstGeom prst="rect">
            <a:avLst/>
          </a:prstGeom>
          <a:solidFill>
            <a:srgbClr val="00796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3" name="Google Shape;393;p23"/>
          <p:cNvSpPr txBox="1"/>
          <p:nvPr/>
        </p:nvSpPr>
        <p:spPr>
          <a:xfrm>
            <a:off x="558800" y="304800"/>
            <a:ext cx="10160000" cy="19304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1000">
                <a:solidFill>
                  <a:srgbClr val="00796B"/>
                </a:solidFill>
              </a:rPr>
              <a:t>CURRENT DETECTOR / MODEL DECISIONS</a:t>
            </a:r>
            <a:endParaRPr b="1" sz="1000">
              <a:solidFill>
                <a:srgbClr val="00796B"/>
              </a:solidFill>
            </a:endParaRPr>
          </a:p>
        </p:txBody>
      </p:sp>
      <p:sp>
        <p:nvSpPr>
          <p:cNvPr id="394" name="Google Shape;394;p23"/>
          <p:cNvSpPr txBox="1"/>
          <p:nvPr/>
        </p:nvSpPr>
        <p:spPr>
          <a:xfrm>
            <a:off x="10947400" y="304800"/>
            <a:ext cx="736600" cy="19304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000" u="none" cap="none" strike="noStrike">
                <a:solidFill>
                  <a:srgbClr val="546966"/>
                </a:solidFill>
                <a:latin typeface="Arial"/>
                <a:ea typeface="Arial"/>
                <a:cs typeface="Arial"/>
                <a:sym typeface="Arial"/>
              </a:rPr>
              <a:t>11 / 15</a:t>
            </a:r>
            <a:endParaRPr/>
          </a:p>
        </p:txBody>
      </p:sp>
      <p:sp>
        <p:nvSpPr>
          <p:cNvPr id="395" name="Google Shape;395;p23"/>
          <p:cNvSpPr txBox="1"/>
          <p:nvPr/>
        </p:nvSpPr>
        <p:spPr>
          <a:xfrm>
            <a:off x="558800" y="723900"/>
            <a:ext cx="11074500" cy="6096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2800">
                <a:solidFill>
                  <a:srgbClr val="172C2B"/>
                </a:solidFill>
              </a:rPr>
              <a:t>What stays in the current pipeline</a:t>
            </a:r>
            <a:endParaRPr b="1" sz="2800">
              <a:solidFill>
                <a:srgbClr val="172C2B"/>
              </a:solidFill>
            </a:endParaRPr>
          </a:p>
        </p:txBody>
      </p:sp>
      <p:sp>
        <p:nvSpPr>
          <p:cNvPr id="396" name="Google Shape;396;p23"/>
          <p:cNvSpPr txBox="1"/>
          <p:nvPr/>
        </p:nvSpPr>
        <p:spPr>
          <a:xfrm>
            <a:off x="584200" y="1409700"/>
            <a:ext cx="11049000" cy="255015"/>
          </a:xfrm>
          <a:prstGeom prst="rect">
            <a:avLst/>
          </a:prstGeom>
          <a:noFill/>
          <a:ln>
            <a:noFill/>
          </a:ln>
        </p:spPr>
        <p:txBody>
          <a:bodyPr anchorCtr="0" anchor="t" bIns="0" lIns="0" spcFirstLastPara="1" rIns="0" wrap="square" tIns="0">
            <a:noAutofit/>
          </a:bodyPr>
          <a:lstStyle/>
          <a:p>
            <a:pPr indent="0" lvl="0" marL="0" marR="0" rtl="0" algn="l">
              <a:lnSpc>
                <a:spcPct val="121928"/>
              </a:lnSpc>
              <a:spcBef>
                <a:spcPts val="0"/>
              </a:spcBef>
              <a:spcAft>
                <a:spcPts val="0"/>
              </a:spcAft>
              <a:buNone/>
            </a:pPr>
            <a:r>
              <a:rPr lang="en-US">
                <a:solidFill>
                  <a:srgbClr val="546966"/>
                </a:solidFill>
              </a:rPr>
              <a:t>The original models remain documented experiments; CF is the selected detector.</a:t>
            </a:r>
            <a:endParaRPr>
              <a:solidFill>
                <a:srgbClr val="546966"/>
              </a:solidFill>
            </a:endParaRPr>
          </a:p>
        </p:txBody>
      </p:sp>
      <p:cxnSp>
        <p:nvCxnSpPr>
          <p:cNvPr id="397" name="Google Shape;397;p23"/>
          <p:cNvCxnSpPr/>
          <p:nvPr/>
        </p:nvCxnSpPr>
        <p:spPr>
          <a:xfrm>
            <a:off x="558800" y="6375400"/>
            <a:ext cx="11074400" cy="0"/>
          </a:xfrm>
          <a:prstGeom prst="straightConnector1">
            <a:avLst/>
          </a:prstGeom>
          <a:noFill/>
          <a:ln cap="flat" cmpd="sng" w="12700">
            <a:solidFill>
              <a:srgbClr val="DCE5E2"/>
            </a:solidFill>
            <a:prstDash val="solid"/>
            <a:round/>
            <a:headEnd len="sm" w="sm" type="none"/>
            <a:tailEnd len="sm" w="sm" type="none"/>
          </a:ln>
          <a:effectLst>
            <a:outerShdw blurRad="40000" rotWithShape="0" dir="5400000" dist="20000">
              <a:srgbClr val="000000">
                <a:alpha val="38039"/>
              </a:srgbClr>
            </a:outerShdw>
          </a:effectLst>
        </p:spPr>
      </p:cxnSp>
      <p:sp>
        <p:nvSpPr>
          <p:cNvPr id="398" name="Google Shape;398;p23"/>
          <p:cNvSpPr txBox="1"/>
          <p:nvPr/>
        </p:nvSpPr>
        <p:spPr>
          <a:xfrm>
            <a:off x="558800" y="6540500"/>
            <a:ext cx="5080000" cy="169799"/>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850" u="none" cap="none" strike="noStrike">
                <a:solidFill>
                  <a:srgbClr val="546966"/>
                </a:solidFill>
                <a:latin typeface="Arial"/>
                <a:ea typeface="Arial"/>
                <a:cs typeface="Arial"/>
                <a:sym typeface="Arial"/>
              </a:rPr>
              <a:t>AI SHIELD / ABDELRAHMAN SOLIMAN</a:t>
            </a:r>
            <a:endParaRPr/>
          </a:p>
        </p:txBody>
      </p:sp>
      <p:sp>
        <p:nvSpPr>
          <p:cNvPr id="399" name="Google Shape;399;p23"/>
          <p:cNvSpPr txBox="1"/>
          <p:nvPr/>
        </p:nvSpPr>
        <p:spPr>
          <a:xfrm>
            <a:off x="558800" y="2019300"/>
            <a:ext cx="51309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300">
                <a:solidFill>
                  <a:srgbClr val="00796B"/>
                </a:solidFill>
              </a:rPr>
              <a:t>Selected</a:t>
            </a:r>
            <a:endParaRPr b="1" sz="2300">
              <a:solidFill>
                <a:srgbClr val="00796B"/>
              </a:solidFill>
            </a:endParaRPr>
          </a:p>
        </p:txBody>
      </p:sp>
      <p:sp>
        <p:nvSpPr>
          <p:cNvPr id="400" name="Google Shape;400;p23"/>
          <p:cNvSpPr txBox="1"/>
          <p:nvPr/>
        </p:nvSpPr>
        <p:spPr>
          <a:xfrm>
            <a:off x="558800" y="2654300"/>
            <a:ext cx="5245200" cy="262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900">
                <a:solidFill>
                  <a:srgbClr val="172C2B"/>
                </a:solidFill>
              </a:rPr>
              <a:t>Fine-tuned CF: one visual AI score.</a:t>
            </a:r>
            <a:endParaRPr sz="1900">
              <a:solidFill>
                <a:srgbClr val="172C2B"/>
              </a:solidFill>
            </a:endParaRPr>
          </a:p>
          <a:p>
            <a:pPr indent="0" lvl="0" marL="0" rtl="0" algn="l">
              <a:lnSpc>
                <a:spcPct val="115000"/>
              </a:lnSpc>
              <a:spcBef>
                <a:spcPts val="0"/>
              </a:spcBef>
              <a:spcAft>
                <a:spcPts val="0"/>
              </a:spcAft>
              <a:buNone/>
            </a:pPr>
            <a:r>
              <a:t/>
            </a:r>
            <a:endParaRPr sz="1900">
              <a:solidFill>
                <a:srgbClr val="172C2B"/>
              </a:solidFill>
            </a:endParaRPr>
          </a:p>
          <a:p>
            <a:pPr indent="0" lvl="0" marL="0" rtl="0" algn="l">
              <a:lnSpc>
                <a:spcPct val="115000"/>
              </a:lnSpc>
              <a:spcBef>
                <a:spcPts val="0"/>
              </a:spcBef>
              <a:spcAft>
                <a:spcPts val="0"/>
              </a:spcAft>
              <a:buNone/>
            </a:pPr>
            <a:r>
              <a:rPr lang="en-US" sz="1900">
                <a:solidFill>
                  <a:srgbClr val="172C2B"/>
                </a:solidFill>
              </a:rPr>
              <a:t>Same checkpoint, preprocessing,</a:t>
            </a:r>
            <a:endParaRPr sz="1900">
              <a:solidFill>
                <a:srgbClr val="172C2B"/>
              </a:solidFill>
            </a:endParaRPr>
          </a:p>
          <a:p>
            <a:pPr indent="0" lvl="0" marL="0" rtl="0" algn="l">
              <a:lnSpc>
                <a:spcPct val="115000"/>
              </a:lnSpc>
              <a:spcBef>
                <a:spcPts val="0"/>
              </a:spcBef>
              <a:spcAft>
                <a:spcPts val="0"/>
              </a:spcAft>
              <a:buNone/>
            </a:pPr>
            <a:r>
              <a:rPr lang="en-US" sz="1900">
                <a:solidFill>
                  <a:srgbClr val="172C2B"/>
                </a:solidFill>
              </a:rPr>
              <a:t>and validation max-F1 cutoff ~0.634.</a:t>
            </a:r>
            <a:endParaRPr sz="1900">
              <a:solidFill>
                <a:srgbClr val="172C2B"/>
              </a:solidFill>
            </a:endParaRPr>
          </a:p>
          <a:p>
            <a:pPr indent="0" lvl="0" marL="0" rtl="0" algn="l">
              <a:lnSpc>
                <a:spcPct val="115000"/>
              </a:lnSpc>
              <a:spcBef>
                <a:spcPts val="0"/>
              </a:spcBef>
              <a:spcAft>
                <a:spcPts val="0"/>
              </a:spcAft>
              <a:buNone/>
            </a:pPr>
            <a:r>
              <a:t/>
            </a:r>
            <a:endParaRPr sz="1900">
              <a:solidFill>
                <a:srgbClr val="172C2B"/>
              </a:solidFill>
            </a:endParaRPr>
          </a:p>
          <a:p>
            <a:pPr indent="0" lvl="0" marL="0" rtl="0" algn="l">
              <a:lnSpc>
                <a:spcPct val="115000"/>
              </a:lnSpc>
              <a:spcBef>
                <a:spcPts val="0"/>
              </a:spcBef>
              <a:spcAft>
                <a:spcPts val="0"/>
              </a:spcAft>
              <a:buNone/>
            </a:pPr>
            <a:r>
              <a:rPr lang="en-US" sz="1900">
                <a:solidFill>
                  <a:srgbClr val="172C2B"/>
                </a:solidFill>
              </a:rPr>
              <a:t>Six reference images reproduce the</a:t>
            </a:r>
            <a:endParaRPr sz="1900">
              <a:solidFill>
                <a:srgbClr val="172C2B"/>
              </a:solidFill>
            </a:endParaRPr>
          </a:p>
          <a:p>
            <a:pPr indent="0" lvl="0" marL="0" rtl="0" algn="l">
              <a:lnSpc>
                <a:spcPct val="115000"/>
              </a:lnSpc>
              <a:spcBef>
                <a:spcPts val="0"/>
              </a:spcBef>
              <a:spcAft>
                <a:spcPts val="0"/>
              </a:spcAft>
              <a:buNone/>
            </a:pPr>
            <a:r>
              <a:rPr lang="en-US" sz="1900">
                <a:solidFill>
                  <a:srgbClr val="172C2B"/>
                </a:solidFill>
              </a:rPr>
              <a:t>saved predictions through the API.</a:t>
            </a:r>
            <a:endParaRPr sz="1900">
              <a:solidFill>
                <a:srgbClr val="172C2B"/>
              </a:solidFill>
            </a:endParaRPr>
          </a:p>
        </p:txBody>
      </p:sp>
      <p:sp>
        <p:nvSpPr>
          <p:cNvPr id="401" name="Google Shape;401;p23"/>
          <p:cNvSpPr txBox="1"/>
          <p:nvPr/>
        </p:nvSpPr>
        <p:spPr>
          <a:xfrm>
            <a:off x="6477000" y="2019300"/>
            <a:ext cx="51561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300">
                <a:solidFill>
                  <a:srgbClr val="C84760"/>
                </a:solidFill>
              </a:rPr>
              <a:t>Archived / paused</a:t>
            </a:r>
            <a:endParaRPr b="1" sz="2300">
              <a:solidFill>
                <a:srgbClr val="C84760"/>
              </a:solidFill>
            </a:endParaRPr>
          </a:p>
        </p:txBody>
      </p:sp>
      <p:sp>
        <p:nvSpPr>
          <p:cNvPr id="402" name="Google Shape;402;p23"/>
          <p:cNvSpPr txBox="1"/>
          <p:nvPr/>
        </p:nvSpPr>
        <p:spPr>
          <a:xfrm>
            <a:off x="6477000" y="2654300"/>
            <a:ext cx="5156100" cy="262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900">
                <a:solidFill>
                  <a:srgbClr val="172C2B"/>
                </a:solidFill>
              </a:rPr>
              <a:t>EfficientNet, VAE and face branch.</a:t>
            </a:r>
            <a:endParaRPr sz="1900">
              <a:solidFill>
                <a:srgbClr val="172C2B"/>
              </a:solidFill>
            </a:endParaRPr>
          </a:p>
          <a:p>
            <a:pPr indent="0" lvl="0" marL="0" rtl="0" algn="l">
              <a:lnSpc>
                <a:spcPct val="115000"/>
              </a:lnSpc>
              <a:spcBef>
                <a:spcPts val="0"/>
              </a:spcBef>
              <a:spcAft>
                <a:spcPts val="0"/>
              </a:spcAft>
              <a:buNone/>
            </a:pPr>
            <a:r>
              <a:rPr lang="en-US" sz="1900">
                <a:solidFill>
                  <a:srgbClr val="172C2B"/>
                </a:solidFill>
              </a:rPr>
              <a:t>Custom semantic attention head.</a:t>
            </a:r>
            <a:endParaRPr sz="1900">
              <a:solidFill>
                <a:srgbClr val="172C2B"/>
              </a:solidFill>
            </a:endParaRPr>
          </a:p>
          <a:p>
            <a:pPr indent="0" lvl="0" marL="0" rtl="0" algn="l">
              <a:lnSpc>
                <a:spcPct val="115000"/>
              </a:lnSpc>
              <a:spcBef>
                <a:spcPts val="0"/>
              </a:spcBef>
              <a:spcAft>
                <a:spcPts val="0"/>
              </a:spcAft>
              <a:buNone/>
            </a:pPr>
            <a:r>
              <a:rPr lang="en-US" sz="1900">
                <a:solidFill>
                  <a:srgbClr val="172C2B"/>
                </a:solidFill>
              </a:rPr>
              <a:t>Original GLM and newer fusion.</a:t>
            </a:r>
            <a:endParaRPr sz="1900">
              <a:solidFill>
                <a:srgbClr val="172C2B"/>
              </a:solidFill>
            </a:endParaRPr>
          </a:p>
          <a:p>
            <a:pPr indent="0" lvl="0" marL="0" rtl="0" algn="l">
              <a:lnSpc>
                <a:spcPct val="115000"/>
              </a:lnSpc>
              <a:spcBef>
                <a:spcPts val="0"/>
              </a:spcBef>
              <a:spcAft>
                <a:spcPts val="0"/>
              </a:spcAft>
              <a:buNone/>
            </a:pPr>
            <a:r>
              <a:t/>
            </a:r>
            <a:endParaRPr sz="1900">
              <a:solidFill>
                <a:srgbClr val="172C2B"/>
              </a:solidFill>
            </a:endParaRPr>
          </a:p>
          <a:p>
            <a:pPr indent="0" lvl="0" marL="0" rtl="0" algn="l">
              <a:lnSpc>
                <a:spcPct val="115000"/>
              </a:lnSpc>
              <a:spcBef>
                <a:spcPts val="0"/>
              </a:spcBef>
              <a:spcAft>
                <a:spcPts val="0"/>
              </a:spcAft>
              <a:buNone/>
            </a:pPr>
            <a:r>
              <a:rPr lang="en-US" sz="1900">
                <a:solidFill>
                  <a:srgbClr val="172C2B"/>
                </a:solidFill>
              </a:rPr>
              <a:t>These explain the research journey;</a:t>
            </a:r>
            <a:endParaRPr sz="1900">
              <a:solidFill>
                <a:srgbClr val="172C2B"/>
              </a:solidFill>
            </a:endParaRPr>
          </a:p>
          <a:p>
            <a:pPr indent="0" lvl="0" marL="0" rtl="0" algn="l">
              <a:lnSpc>
                <a:spcPct val="115000"/>
              </a:lnSpc>
              <a:spcBef>
                <a:spcPts val="0"/>
              </a:spcBef>
              <a:spcAft>
                <a:spcPts val="0"/>
              </a:spcAft>
              <a:buNone/>
            </a:pPr>
            <a:r>
              <a:rPr lang="en-US" sz="1900">
                <a:solidFill>
                  <a:srgbClr val="172C2B"/>
                </a:solidFill>
              </a:rPr>
              <a:t>they are not active in the new backend.</a:t>
            </a:r>
            <a:endParaRPr sz="1900">
              <a:solidFill>
                <a:srgbClr val="172C2B"/>
              </a:solidFill>
            </a:endParaRPr>
          </a:p>
        </p:txBody>
      </p:sp>
      <p:sp>
        <p:nvSpPr>
          <p:cNvPr id="403" name="Google Shape;403;p23"/>
          <p:cNvSpPr/>
          <p:nvPr/>
        </p:nvSpPr>
        <p:spPr>
          <a:xfrm>
            <a:off x="558800" y="5702300"/>
            <a:ext cx="11074500" cy="5079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04" name="Google Shape;404;p23"/>
          <p:cNvSpPr txBox="1"/>
          <p:nvPr/>
        </p:nvSpPr>
        <p:spPr>
          <a:xfrm>
            <a:off x="711200" y="5765800"/>
            <a:ext cx="107697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Freeze = hold the chosen version fixed while building the rest of AI Shield.</a:t>
            </a:r>
            <a:endParaRPr b="1" sz="1700">
              <a:solidFill>
                <a:srgbClr val="00796B"/>
              </a:solidFill>
            </a:endParaRPr>
          </a:p>
        </p:txBody>
      </p:sp>
      <p:sp>
        <p:nvSpPr>
          <p:cNvPr id="405" name="Google Shape;405;p23"/>
          <p:cNvSpPr txBox="1"/>
          <p:nvPr/>
        </p:nvSpPr>
        <p:spPr>
          <a:xfrm>
            <a:off x="70358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3"/>
              </a:rPr>
              <a:t>Freeze notebook</a:t>
            </a:r>
            <a:endParaRPr sz="850">
              <a:solidFill>
                <a:srgbClr val="54696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24"/>
          <p:cNvSpPr/>
          <p:nvPr/>
        </p:nvSpPr>
        <p:spPr>
          <a:xfrm>
            <a:off x="0" y="0"/>
            <a:ext cx="12192000"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2" name="Google Shape;412;p24"/>
          <p:cNvSpPr/>
          <p:nvPr/>
        </p:nvSpPr>
        <p:spPr>
          <a:xfrm>
            <a:off x="0" y="0"/>
            <a:ext cx="101600" cy="6858000"/>
          </a:xfrm>
          <a:prstGeom prst="rect">
            <a:avLst/>
          </a:prstGeom>
          <a:solidFill>
            <a:srgbClr val="00796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24"/>
          <p:cNvSpPr txBox="1"/>
          <p:nvPr/>
        </p:nvSpPr>
        <p:spPr>
          <a:xfrm>
            <a:off x="558800" y="304800"/>
            <a:ext cx="10160000" cy="19304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1000">
                <a:solidFill>
                  <a:srgbClr val="00796B"/>
                </a:solidFill>
              </a:rPr>
              <a:t>NEW SOFTWARE / EXIF METADATA</a:t>
            </a:r>
            <a:endParaRPr b="1" sz="1000">
              <a:solidFill>
                <a:srgbClr val="00796B"/>
              </a:solidFill>
            </a:endParaRPr>
          </a:p>
        </p:txBody>
      </p:sp>
      <p:sp>
        <p:nvSpPr>
          <p:cNvPr id="414" name="Google Shape;414;p24"/>
          <p:cNvSpPr txBox="1"/>
          <p:nvPr/>
        </p:nvSpPr>
        <p:spPr>
          <a:xfrm>
            <a:off x="10947400" y="304800"/>
            <a:ext cx="736600" cy="19304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000" u="none" cap="none" strike="noStrike">
                <a:solidFill>
                  <a:srgbClr val="546966"/>
                </a:solidFill>
                <a:latin typeface="Arial"/>
                <a:ea typeface="Arial"/>
                <a:cs typeface="Arial"/>
                <a:sym typeface="Arial"/>
              </a:rPr>
              <a:t>12 / 15</a:t>
            </a:r>
            <a:endParaRPr/>
          </a:p>
        </p:txBody>
      </p:sp>
      <p:sp>
        <p:nvSpPr>
          <p:cNvPr id="415" name="Google Shape;415;p24"/>
          <p:cNvSpPr txBox="1"/>
          <p:nvPr/>
        </p:nvSpPr>
        <p:spPr>
          <a:xfrm>
            <a:off x="558800" y="723900"/>
            <a:ext cx="11074500" cy="6096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2800">
                <a:solidFill>
                  <a:srgbClr val="172C2B"/>
                </a:solidFill>
              </a:rPr>
              <a:t>EXIF: read what the original file records</a:t>
            </a:r>
            <a:endParaRPr b="1" sz="2800">
              <a:solidFill>
                <a:srgbClr val="172C2B"/>
              </a:solidFill>
            </a:endParaRPr>
          </a:p>
        </p:txBody>
      </p:sp>
      <p:sp>
        <p:nvSpPr>
          <p:cNvPr id="416" name="Google Shape;416;p24"/>
          <p:cNvSpPr txBox="1"/>
          <p:nvPr/>
        </p:nvSpPr>
        <p:spPr>
          <a:xfrm>
            <a:off x="584200" y="1409700"/>
            <a:ext cx="11049000" cy="255015"/>
          </a:xfrm>
          <a:prstGeom prst="rect">
            <a:avLst/>
          </a:prstGeom>
          <a:noFill/>
          <a:ln>
            <a:noFill/>
          </a:ln>
        </p:spPr>
        <p:txBody>
          <a:bodyPr anchorCtr="0" anchor="t" bIns="0" lIns="0" spcFirstLastPara="1" rIns="0" wrap="square" tIns="0">
            <a:noAutofit/>
          </a:bodyPr>
          <a:lstStyle/>
          <a:p>
            <a:pPr indent="0" lvl="0" marL="0" marR="0" rtl="0" algn="l">
              <a:lnSpc>
                <a:spcPct val="121928"/>
              </a:lnSpc>
              <a:spcBef>
                <a:spcPts val="0"/>
              </a:spcBef>
              <a:spcAft>
                <a:spcPts val="0"/>
              </a:spcAft>
              <a:buNone/>
            </a:pPr>
            <a:r>
              <a:rPr lang="en-US">
                <a:solidFill>
                  <a:srgbClr val="546966"/>
                </a:solidFill>
              </a:rPr>
              <a:t>Implemented with ExifTool; this component needs no model training.</a:t>
            </a:r>
            <a:endParaRPr>
              <a:solidFill>
                <a:srgbClr val="546966"/>
              </a:solidFill>
            </a:endParaRPr>
          </a:p>
        </p:txBody>
      </p:sp>
      <p:cxnSp>
        <p:nvCxnSpPr>
          <p:cNvPr id="417" name="Google Shape;417;p24"/>
          <p:cNvCxnSpPr/>
          <p:nvPr/>
        </p:nvCxnSpPr>
        <p:spPr>
          <a:xfrm>
            <a:off x="558800" y="6375400"/>
            <a:ext cx="11074400" cy="0"/>
          </a:xfrm>
          <a:prstGeom prst="straightConnector1">
            <a:avLst/>
          </a:prstGeom>
          <a:noFill/>
          <a:ln cap="flat" cmpd="sng" w="12700">
            <a:solidFill>
              <a:srgbClr val="DCE5E2"/>
            </a:solidFill>
            <a:prstDash val="solid"/>
            <a:round/>
            <a:headEnd len="sm" w="sm" type="none"/>
            <a:tailEnd len="sm" w="sm" type="none"/>
          </a:ln>
          <a:effectLst>
            <a:outerShdw blurRad="40000" rotWithShape="0" dir="5400000" dist="20000">
              <a:srgbClr val="000000">
                <a:alpha val="38039"/>
              </a:srgbClr>
            </a:outerShdw>
          </a:effectLst>
        </p:spPr>
      </p:cxnSp>
      <p:sp>
        <p:nvSpPr>
          <p:cNvPr id="418" name="Google Shape;418;p24"/>
          <p:cNvSpPr txBox="1"/>
          <p:nvPr/>
        </p:nvSpPr>
        <p:spPr>
          <a:xfrm>
            <a:off x="558800" y="6540500"/>
            <a:ext cx="5080000" cy="169799"/>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850" u="none" cap="none" strike="noStrike">
                <a:solidFill>
                  <a:srgbClr val="546966"/>
                </a:solidFill>
                <a:latin typeface="Arial"/>
                <a:ea typeface="Arial"/>
                <a:cs typeface="Arial"/>
                <a:sym typeface="Arial"/>
              </a:rPr>
              <a:t>AI SHIELD / ABDELRAHMAN SOLIMAN</a:t>
            </a:r>
            <a:endParaRPr/>
          </a:p>
        </p:txBody>
      </p:sp>
      <p:sp>
        <p:nvSpPr>
          <p:cNvPr id="419" name="Google Shape;419;p24"/>
          <p:cNvSpPr txBox="1"/>
          <p:nvPr/>
        </p:nvSpPr>
        <p:spPr>
          <a:xfrm>
            <a:off x="558800" y="2019300"/>
            <a:ext cx="5041800" cy="431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200">
                <a:solidFill>
                  <a:srgbClr val="00796B"/>
                </a:solidFill>
              </a:rPr>
              <a:t>Extracted fields</a:t>
            </a:r>
            <a:endParaRPr b="1" sz="2200">
              <a:solidFill>
                <a:srgbClr val="00796B"/>
              </a:solidFill>
            </a:endParaRPr>
          </a:p>
        </p:txBody>
      </p:sp>
      <p:sp>
        <p:nvSpPr>
          <p:cNvPr id="420" name="Google Shape;420;p24"/>
          <p:cNvSpPr txBox="1"/>
          <p:nvPr/>
        </p:nvSpPr>
        <p:spPr>
          <a:xfrm>
            <a:off x="558800" y="2667000"/>
            <a:ext cx="5334000" cy="1917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900">
                <a:solidFill>
                  <a:srgbClr val="172C2B"/>
                </a:solidFill>
              </a:rPr>
              <a:t>Camera / device information</a:t>
            </a:r>
            <a:endParaRPr sz="1900">
              <a:solidFill>
                <a:srgbClr val="172C2B"/>
              </a:solidFill>
            </a:endParaRPr>
          </a:p>
          <a:p>
            <a:pPr indent="0" lvl="0" marL="0" rtl="0" algn="l">
              <a:lnSpc>
                <a:spcPct val="115000"/>
              </a:lnSpc>
              <a:spcBef>
                <a:spcPts val="0"/>
              </a:spcBef>
              <a:spcAft>
                <a:spcPts val="0"/>
              </a:spcAft>
              <a:buNone/>
            </a:pPr>
            <a:r>
              <a:rPr lang="en-US" sz="1900">
                <a:solidFill>
                  <a:srgbClr val="172C2B"/>
                </a:solidFill>
              </a:rPr>
              <a:t>Editing software</a:t>
            </a:r>
            <a:endParaRPr sz="1900">
              <a:solidFill>
                <a:srgbClr val="172C2B"/>
              </a:solidFill>
            </a:endParaRPr>
          </a:p>
          <a:p>
            <a:pPr indent="0" lvl="0" marL="0" rtl="0" algn="l">
              <a:lnSpc>
                <a:spcPct val="115000"/>
              </a:lnSpc>
              <a:spcBef>
                <a:spcPts val="0"/>
              </a:spcBef>
              <a:spcAft>
                <a:spcPts val="0"/>
              </a:spcAft>
              <a:buNone/>
            </a:pPr>
            <a:r>
              <a:rPr lang="en-US" sz="1900">
                <a:solidFill>
                  <a:srgbClr val="172C2B"/>
                </a:solidFill>
              </a:rPr>
              <a:t>Embedded creation / modification dates</a:t>
            </a:r>
            <a:endParaRPr sz="1900">
              <a:solidFill>
                <a:srgbClr val="172C2B"/>
              </a:solidFill>
            </a:endParaRPr>
          </a:p>
          <a:p>
            <a:pPr indent="0" lvl="0" marL="0" rtl="0" algn="l">
              <a:lnSpc>
                <a:spcPct val="115000"/>
              </a:lnSpc>
              <a:spcBef>
                <a:spcPts val="0"/>
              </a:spcBef>
              <a:spcAft>
                <a:spcPts val="0"/>
              </a:spcAft>
              <a:buNone/>
            </a:pPr>
            <a:r>
              <a:rPr lang="en-US" sz="1900">
                <a:solidFill>
                  <a:srgbClr val="172C2B"/>
                </a:solidFill>
              </a:rPr>
              <a:t>GPS, only when explicitly requested</a:t>
            </a:r>
            <a:endParaRPr sz="1900">
              <a:solidFill>
                <a:srgbClr val="172C2B"/>
              </a:solidFill>
            </a:endParaRPr>
          </a:p>
        </p:txBody>
      </p:sp>
      <p:sp>
        <p:nvSpPr>
          <p:cNvPr id="421" name="Google Shape;421;p24"/>
          <p:cNvSpPr txBox="1"/>
          <p:nvPr/>
        </p:nvSpPr>
        <p:spPr>
          <a:xfrm>
            <a:off x="558800" y="4889500"/>
            <a:ext cx="5334000" cy="81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800">
                <a:solidFill>
                  <a:srgbClr val="546966"/>
                </a:solidFill>
              </a:rPr>
              <a:t>The original upload is inspected before</a:t>
            </a:r>
            <a:endParaRPr sz="1800">
              <a:solidFill>
                <a:srgbClr val="546966"/>
              </a:solidFill>
            </a:endParaRPr>
          </a:p>
          <a:p>
            <a:pPr indent="0" lvl="0" marL="0" rtl="0" algn="l">
              <a:lnSpc>
                <a:spcPct val="115000"/>
              </a:lnSpc>
              <a:spcBef>
                <a:spcPts val="0"/>
              </a:spcBef>
              <a:spcAft>
                <a:spcPts val="0"/>
              </a:spcAft>
              <a:buNone/>
            </a:pPr>
            <a:r>
              <a:rPr lang="en-US" sz="1800">
                <a:solidFill>
                  <a:srgbClr val="546966"/>
                </a:solidFill>
              </a:rPr>
              <a:t>the detector resizes or crops the image.</a:t>
            </a:r>
            <a:endParaRPr sz="1800">
              <a:solidFill>
                <a:srgbClr val="546966"/>
              </a:solidFill>
            </a:endParaRPr>
          </a:p>
        </p:txBody>
      </p:sp>
      <p:sp>
        <p:nvSpPr>
          <p:cNvPr id="422" name="Google Shape;422;p24"/>
          <p:cNvSpPr/>
          <p:nvPr/>
        </p:nvSpPr>
        <p:spPr>
          <a:xfrm>
            <a:off x="6477000" y="2057400"/>
            <a:ext cx="5156100" cy="30735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23" name="Google Shape;423;p24"/>
          <p:cNvSpPr txBox="1"/>
          <p:nvPr/>
        </p:nvSpPr>
        <p:spPr>
          <a:xfrm>
            <a:off x="6692900" y="2222500"/>
            <a:ext cx="46989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000">
                <a:solidFill>
                  <a:srgbClr val="00796B"/>
                </a:solidFill>
              </a:rPr>
              <a:t>Illustrative metadata report</a:t>
            </a:r>
            <a:endParaRPr b="1" sz="2000">
              <a:solidFill>
                <a:srgbClr val="00796B"/>
              </a:solidFill>
            </a:endParaRPr>
          </a:p>
        </p:txBody>
      </p:sp>
      <p:sp>
        <p:nvSpPr>
          <p:cNvPr id="424" name="Google Shape;424;p24"/>
          <p:cNvSpPr txBox="1"/>
          <p:nvPr/>
        </p:nvSpPr>
        <p:spPr>
          <a:xfrm>
            <a:off x="6692900" y="2882900"/>
            <a:ext cx="4698900" cy="186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000">
                <a:solidFill>
                  <a:srgbClr val="172C2B"/>
                </a:solidFill>
              </a:rPr>
              <a:t>Camera: not recorded</a:t>
            </a:r>
            <a:endParaRPr sz="2000">
              <a:solidFill>
                <a:srgbClr val="172C2B"/>
              </a:solidFill>
            </a:endParaRPr>
          </a:p>
          <a:p>
            <a:pPr indent="0" lvl="0" marL="0" rtl="0" algn="l">
              <a:lnSpc>
                <a:spcPct val="115000"/>
              </a:lnSpc>
              <a:spcBef>
                <a:spcPts val="0"/>
              </a:spcBef>
              <a:spcAft>
                <a:spcPts val="0"/>
              </a:spcAft>
              <a:buNone/>
            </a:pPr>
            <a:r>
              <a:rPr lang="en-US" sz="2000">
                <a:solidFill>
                  <a:srgbClr val="172C2B"/>
                </a:solidFill>
              </a:rPr>
              <a:t>Software: Adobe Photoshop</a:t>
            </a:r>
            <a:endParaRPr sz="2000">
              <a:solidFill>
                <a:srgbClr val="172C2B"/>
              </a:solidFill>
            </a:endParaRPr>
          </a:p>
          <a:p>
            <a:pPr indent="0" lvl="0" marL="0" rtl="0" algn="l">
              <a:lnSpc>
                <a:spcPct val="115000"/>
              </a:lnSpc>
              <a:spcBef>
                <a:spcPts val="0"/>
              </a:spcBef>
              <a:spcAft>
                <a:spcPts val="0"/>
              </a:spcAft>
              <a:buNone/>
            </a:pPr>
            <a:r>
              <a:rPr lang="en-US" sz="2000">
                <a:solidFill>
                  <a:srgbClr val="172C2B"/>
                </a:solidFill>
              </a:rPr>
              <a:t>Creation time: not recorded</a:t>
            </a:r>
            <a:endParaRPr sz="2000">
              <a:solidFill>
                <a:srgbClr val="172C2B"/>
              </a:solidFill>
            </a:endParaRPr>
          </a:p>
          <a:p>
            <a:pPr indent="0" lvl="0" marL="0" rtl="0" algn="l">
              <a:lnSpc>
                <a:spcPct val="115000"/>
              </a:lnSpc>
              <a:spcBef>
                <a:spcPts val="0"/>
              </a:spcBef>
              <a:spcAft>
                <a:spcPts val="0"/>
              </a:spcAft>
              <a:buNone/>
            </a:pPr>
            <a:r>
              <a:rPr lang="en-US" sz="2000">
                <a:solidFill>
                  <a:srgbClr val="172C2B"/>
                </a:solidFill>
              </a:rPr>
              <a:t>Origin: unknown</a:t>
            </a:r>
            <a:endParaRPr sz="2000">
              <a:solidFill>
                <a:srgbClr val="172C2B"/>
              </a:solidFill>
            </a:endParaRPr>
          </a:p>
        </p:txBody>
      </p:sp>
      <p:sp>
        <p:nvSpPr>
          <p:cNvPr id="425" name="Google Shape;425;p24"/>
          <p:cNvSpPr/>
          <p:nvPr/>
        </p:nvSpPr>
        <p:spPr>
          <a:xfrm>
            <a:off x="558800" y="5702300"/>
            <a:ext cx="11074500" cy="5079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26" name="Google Shape;426;p24"/>
          <p:cNvSpPr txBox="1"/>
          <p:nvPr/>
        </p:nvSpPr>
        <p:spPr>
          <a:xfrm>
            <a:off x="711200" y="5765800"/>
            <a:ext cx="107697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No metadata means unknown. An editing-software tag does not establish AI generation.</a:t>
            </a:r>
            <a:endParaRPr b="1" sz="1700">
              <a:solidFill>
                <a:srgbClr val="00796B"/>
              </a:solidFill>
            </a:endParaRPr>
          </a:p>
        </p:txBody>
      </p:sp>
      <p:sp>
        <p:nvSpPr>
          <p:cNvPr id="427" name="Google Shape;427;p24"/>
          <p:cNvSpPr txBox="1"/>
          <p:nvPr/>
        </p:nvSpPr>
        <p:spPr>
          <a:xfrm>
            <a:off x="70358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3"/>
              </a:rPr>
              <a:t>Implementation record</a:t>
            </a:r>
            <a:endParaRPr sz="850">
              <a:solidFill>
                <a:srgbClr val="546966"/>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5"/>
          <p:cNvSpPr/>
          <p:nvPr/>
        </p:nvSpPr>
        <p:spPr>
          <a:xfrm>
            <a:off x="0" y="0"/>
            <a:ext cx="12192000"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4" name="Google Shape;434;p25"/>
          <p:cNvSpPr/>
          <p:nvPr/>
        </p:nvSpPr>
        <p:spPr>
          <a:xfrm>
            <a:off x="0" y="0"/>
            <a:ext cx="101600" cy="6858000"/>
          </a:xfrm>
          <a:prstGeom prst="rect">
            <a:avLst/>
          </a:prstGeom>
          <a:solidFill>
            <a:srgbClr val="00796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5" name="Google Shape;435;p25"/>
          <p:cNvSpPr txBox="1"/>
          <p:nvPr/>
        </p:nvSpPr>
        <p:spPr>
          <a:xfrm>
            <a:off x="558800" y="304800"/>
            <a:ext cx="10160000" cy="19304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1000">
                <a:solidFill>
                  <a:srgbClr val="00796B"/>
                </a:solidFill>
              </a:rPr>
              <a:t>NEW SOFTWARE / C2PA PROVENANCE</a:t>
            </a:r>
            <a:endParaRPr b="1" sz="1000">
              <a:solidFill>
                <a:srgbClr val="00796B"/>
              </a:solidFill>
            </a:endParaRPr>
          </a:p>
        </p:txBody>
      </p:sp>
      <p:sp>
        <p:nvSpPr>
          <p:cNvPr id="436" name="Google Shape;436;p25"/>
          <p:cNvSpPr txBox="1"/>
          <p:nvPr/>
        </p:nvSpPr>
        <p:spPr>
          <a:xfrm>
            <a:off x="10947400" y="304800"/>
            <a:ext cx="736600" cy="19304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000" u="none" cap="none" strike="noStrike">
                <a:solidFill>
                  <a:srgbClr val="546966"/>
                </a:solidFill>
                <a:latin typeface="Arial"/>
                <a:ea typeface="Arial"/>
                <a:cs typeface="Arial"/>
                <a:sym typeface="Arial"/>
              </a:rPr>
              <a:t>13 / 15</a:t>
            </a:r>
            <a:endParaRPr/>
          </a:p>
        </p:txBody>
      </p:sp>
      <p:sp>
        <p:nvSpPr>
          <p:cNvPr id="437" name="Google Shape;437;p25"/>
          <p:cNvSpPr txBox="1"/>
          <p:nvPr/>
        </p:nvSpPr>
        <p:spPr>
          <a:xfrm>
            <a:off x="558800" y="723900"/>
            <a:ext cx="11074500" cy="6096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2800">
                <a:solidFill>
                  <a:srgbClr val="172C2B"/>
                </a:solidFill>
              </a:rPr>
              <a:t>C2PA: verify signed creation and editing records</a:t>
            </a:r>
            <a:endParaRPr b="1" sz="2800">
              <a:solidFill>
                <a:srgbClr val="172C2B"/>
              </a:solidFill>
            </a:endParaRPr>
          </a:p>
        </p:txBody>
      </p:sp>
      <p:sp>
        <p:nvSpPr>
          <p:cNvPr id="438" name="Google Shape;438;p25"/>
          <p:cNvSpPr txBox="1"/>
          <p:nvPr/>
        </p:nvSpPr>
        <p:spPr>
          <a:xfrm>
            <a:off x="584200" y="1409700"/>
            <a:ext cx="11049000" cy="255015"/>
          </a:xfrm>
          <a:prstGeom prst="rect">
            <a:avLst/>
          </a:prstGeom>
          <a:noFill/>
          <a:ln>
            <a:noFill/>
          </a:ln>
        </p:spPr>
        <p:txBody>
          <a:bodyPr anchorCtr="0" anchor="t" bIns="0" lIns="0" spcFirstLastPara="1" rIns="0" wrap="square" tIns="0">
            <a:noAutofit/>
          </a:bodyPr>
          <a:lstStyle/>
          <a:p>
            <a:pPr indent="0" lvl="0" marL="0" marR="0" rtl="0" algn="l">
              <a:lnSpc>
                <a:spcPct val="121928"/>
              </a:lnSpc>
              <a:spcBef>
                <a:spcPts val="0"/>
              </a:spcBef>
              <a:spcAft>
                <a:spcPts val="0"/>
              </a:spcAft>
              <a:buNone/>
            </a:pPr>
            <a:r>
              <a:rPr lang="en-US">
                <a:solidFill>
                  <a:srgbClr val="546966"/>
                </a:solidFill>
              </a:rPr>
              <a:t>Uses the C2PA SDK to check available embedded credentials.</a:t>
            </a:r>
            <a:endParaRPr>
              <a:solidFill>
                <a:srgbClr val="546966"/>
              </a:solidFill>
            </a:endParaRPr>
          </a:p>
        </p:txBody>
      </p:sp>
      <p:cxnSp>
        <p:nvCxnSpPr>
          <p:cNvPr id="439" name="Google Shape;439;p25"/>
          <p:cNvCxnSpPr/>
          <p:nvPr/>
        </p:nvCxnSpPr>
        <p:spPr>
          <a:xfrm>
            <a:off x="558800" y="6375400"/>
            <a:ext cx="11074400" cy="0"/>
          </a:xfrm>
          <a:prstGeom prst="straightConnector1">
            <a:avLst/>
          </a:prstGeom>
          <a:noFill/>
          <a:ln cap="flat" cmpd="sng" w="12700">
            <a:solidFill>
              <a:srgbClr val="DCE5E2"/>
            </a:solidFill>
            <a:prstDash val="solid"/>
            <a:round/>
            <a:headEnd len="sm" w="sm" type="none"/>
            <a:tailEnd len="sm" w="sm" type="none"/>
          </a:ln>
          <a:effectLst>
            <a:outerShdw blurRad="40000" rotWithShape="0" dir="5400000" dist="20000">
              <a:srgbClr val="000000">
                <a:alpha val="38039"/>
              </a:srgbClr>
            </a:outerShdw>
          </a:effectLst>
        </p:spPr>
      </p:cxnSp>
      <p:sp>
        <p:nvSpPr>
          <p:cNvPr id="440" name="Google Shape;440;p25"/>
          <p:cNvSpPr txBox="1"/>
          <p:nvPr/>
        </p:nvSpPr>
        <p:spPr>
          <a:xfrm>
            <a:off x="558800" y="6540500"/>
            <a:ext cx="5080000" cy="169799"/>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850" u="none" cap="none" strike="noStrike">
                <a:solidFill>
                  <a:srgbClr val="546966"/>
                </a:solidFill>
                <a:latin typeface="Arial"/>
                <a:ea typeface="Arial"/>
                <a:cs typeface="Arial"/>
                <a:sym typeface="Arial"/>
              </a:rPr>
              <a:t>AI SHIELD / ABDELRAHMAN SOLIMAN</a:t>
            </a:r>
            <a:endParaRPr/>
          </a:p>
        </p:txBody>
      </p:sp>
      <p:sp>
        <p:nvSpPr>
          <p:cNvPr id="441" name="Google Shape;441;p25"/>
          <p:cNvSpPr/>
          <p:nvPr/>
        </p:nvSpPr>
        <p:spPr>
          <a:xfrm>
            <a:off x="558800" y="2108200"/>
            <a:ext cx="3530700" cy="26796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2" name="Google Shape;442;p25"/>
          <p:cNvSpPr/>
          <p:nvPr/>
        </p:nvSpPr>
        <p:spPr>
          <a:xfrm>
            <a:off x="558800" y="2108200"/>
            <a:ext cx="50700" cy="2679600"/>
          </a:xfrm>
          <a:prstGeom prst="rect">
            <a:avLst/>
          </a:prstGeom>
          <a:solidFill>
            <a:srgbClr val="0079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3" name="Google Shape;443;p25"/>
          <p:cNvSpPr txBox="1"/>
          <p:nvPr/>
        </p:nvSpPr>
        <p:spPr>
          <a:xfrm>
            <a:off x="762000" y="2260600"/>
            <a:ext cx="3124200" cy="6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100">
                <a:solidFill>
                  <a:srgbClr val="00796B"/>
                </a:solidFill>
              </a:rPr>
              <a:t>1  Signature</a:t>
            </a:r>
            <a:endParaRPr b="1" sz="2100">
              <a:solidFill>
                <a:srgbClr val="00796B"/>
              </a:solidFill>
            </a:endParaRPr>
          </a:p>
        </p:txBody>
      </p:sp>
      <p:sp>
        <p:nvSpPr>
          <p:cNvPr id="444" name="Google Shape;444;p25"/>
          <p:cNvSpPr txBox="1"/>
          <p:nvPr/>
        </p:nvSpPr>
        <p:spPr>
          <a:xfrm>
            <a:off x="762000" y="3022600"/>
            <a:ext cx="3124200" cy="166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Has the signed record</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been altered?</a:t>
            </a:r>
            <a:endParaRPr sz="1700">
              <a:solidFill>
                <a:srgbClr val="172C2B"/>
              </a:solidFill>
            </a:endParaRPr>
          </a:p>
          <a:p>
            <a:pPr indent="0" lvl="0" marL="0" rtl="0" algn="l">
              <a:lnSpc>
                <a:spcPct val="115000"/>
              </a:lnSpc>
              <a:spcBef>
                <a:spcPts val="0"/>
              </a:spcBef>
              <a:spcAft>
                <a:spcPts val="0"/>
              </a:spcAft>
              <a:buNone/>
            </a:pPr>
            <a:r>
              <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Check the cryptographic</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signature.</a:t>
            </a:r>
            <a:endParaRPr sz="1700">
              <a:solidFill>
                <a:srgbClr val="172C2B"/>
              </a:solidFill>
            </a:endParaRPr>
          </a:p>
        </p:txBody>
      </p:sp>
      <p:sp>
        <p:nvSpPr>
          <p:cNvPr id="445" name="Google Shape;445;p25"/>
          <p:cNvSpPr/>
          <p:nvPr/>
        </p:nvSpPr>
        <p:spPr>
          <a:xfrm>
            <a:off x="4330700" y="2108200"/>
            <a:ext cx="3530700" cy="26796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6" name="Google Shape;446;p25"/>
          <p:cNvSpPr/>
          <p:nvPr/>
        </p:nvSpPr>
        <p:spPr>
          <a:xfrm>
            <a:off x="4330700" y="2108200"/>
            <a:ext cx="50700" cy="2679600"/>
          </a:xfrm>
          <a:prstGeom prst="rect">
            <a:avLst/>
          </a:prstGeom>
          <a:solidFill>
            <a:srgbClr val="0079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7" name="Google Shape;447;p25"/>
          <p:cNvSpPr txBox="1"/>
          <p:nvPr/>
        </p:nvSpPr>
        <p:spPr>
          <a:xfrm>
            <a:off x="4533900" y="2260600"/>
            <a:ext cx="3124200" cy="6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100">
                <a:solidFill>
                  <a:srgbClr val="00796B"/>
                </a:solidFill>
              </a:rPr>
              <a:t>2  Image binding</a:t>
            </a:r>
            <a:endParaRPr b="1" sz="2100">
              <a:solidFill>
                <a:srgbClr val="00796B"/>
              </a:solidFill>
            </a:endParaRPr>
          </a:p>
        </p:txBody>
      </p:sp>
      <p:sp>
        <p:nvSpPr>
          <p:cNvPr id="448" name="Google Shape;448;p25"/>
          <p:cNvSpPr txBox="1"/>
          <p:nvPr/>
        </p:nvSpPr>
        <p:spPr>
          <a:xfrm>
            <a:off x="4533900" y="3022600"/>
            <a:ext cx="3124200" cy="166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Does that record still</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match this image?</a:t>
            </a:r>
            <a:endParaRPr sz="1700">
              <a:solidFill>
                <a:srgbClr val="172C2B"/>
              </a:solidFill>
            </a:endParaRPr>
          </a:p>
          <a:p>
            <a:pPr indent="0" lvl="0" marL="0" rtl="0" algn="l">
              <a:lnSpc>
                <a:spcPct val="115000"/>
              </a:lnSpc>
              <a:spcBef>
                <a:spcPts val="0"/>
              </a:spcBef>
              <a:spcAft>
                <a:spcPts val="0"/>
              </a:spcAft>
              <a:buNone/>
            </a:pPr>
            <a:r>
              <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Detect changes to the</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signed image content.</a:t>
            </a:r>
            <a:endParaRPr sz="1700">
              <a:solidFill>
                <a:srgbClr val="172C2B"/>
              </a:solidFill>
            </a:endParaRPr>
          </a:p>
        </p:txBody>
      </p:sp>
      <p:sp>
        <p:nvSpPr>
          <p:cNvPr id="449" name="Google Shape;449;p25"/>
          <p:cNvSpPr/>
          <p:nvPr/>
        </p:nvSpPr>
        <p:spPr>
          <a:xfrm>
            <a:off x="8102600" y="2108200"/>
            <a:ext cx="3530700" cy="26796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50" name="Google Shape;450;p25"/>
          <p:cNvSpPr/>
          <p:nvPr/>
        </p:nvSpPr>
        <p:spPr>
          <a:xfrm>
            <a:off x="8102600" y="2108200"/>
            <a:ext cx="50700" cy="2679600"/>
          </a:xfrm>
          <a:prstGeom prst="rect">
            <a:avLst/>
          </a:prstGeom>
          <a:solidFill>
            <a:srgbClr val="0079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51" name="Google Shape;451;p25"/>
          <p:cNvSpPr txBox="1"/>
          <p:nvPr/>
        </p:nvSpPr>
        <p:spPr>
          <a:xfrm>
            <a:off x="8305800" y="2260600"/>
            <a:ext cx="3124200" cy="6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100">
                <a:solidFill>
                  <a:srgbClr val="00796B"/>
                </a:solidFill>
              </a:rPr>
              <a:t>3  Signer trust</a:t>
            </a:r>
            <a:endParaRPr b="1" sz="2100">
              <a:solidFill>
                <a:srgbClr val="00796B"/>
              </a:solidFill>
            </a:endParaRPr>
          </a:p>
        </p:txBody>
      </p:sp>
      <p:sp>
        <p:nvSpPr>
          <p:cNvPr id="452" name="Google Shape;452;p25"/>
          <p:cNvSpPr txBox="1"/>
          <p:nvPr/>
        </p:nvSpPr>
        <p:spPr>
          <a:xfrm>
            <a:off x="8305800" y="3022600"/>
            <a:ext cx="3124200" cy="166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Do we trust the signer</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under our policy?</a:t>
            </a:r>
            <a:endParaRPr sz="1700">
              <a:solidFill>
                <a:srgbClr val="172C2B"/>
              </a:solidFill>
            </a:endParaRPr>
          </a:p>
          <a:p>
            <a:pPr indent="0" lvl="0" marL="0" rtl="0" algn="l">
              <a:lnSpc>
                <a:spcPct val="115000"/>
              </a:lnSpc>
              <a:spcBef>
                <a:spcPts val="0"/>
              </a:spcBef>
              <a:spcAft>
                <a:spcPts val="0"/>
              </a:spcAft>
              <a:buNone/>
            </a:pPr>
            <a:r>
              <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A valid signature alone</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does not establish trust.</a:t>
            </a:r>
            <a:endParaRPr sz="1700">
              <a:solidFill>
                <a:srgbClr val="172C2B"/>
              </a:solidFill>
            </a:endParaRPr>
          </a:p>
        </p:txBody>
      </p:sp>
      <p:sp>
        <p:nvSpPr>
          <p:cNvPr id="453" name="Google Shape;453;p25"/>
          <p:cNvSpPr txBox="1"/>
          <p:nvPr/>
        </p:nvSpPr>
        <p:spPr>
          <a:xfrm>
            <a:off x="584200" y="5118100"/>
            <a:ext cx="11049000" cy="45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546966"/>
                </a:solidFill>
              </a:rPr>
              <a:t>Reports absent, untrusted and failed states separately. Verification currently runs offline.</a:t>
            </a:r>
            <a:endParaRPr sz="1700">
              <a:solidFill>
                <a:srgbClr val="546966"/>
              </a:solidFill>
            </a:endParaRPr>
          </a:p>
        </p:txBody>
      </p:sp>
      <p:sp>
        <p:nvSpPr>
          <p:cNvPr id="454" name="Google Shape;454;p25"/>
          <p:cNvSpPr/>
          <p:nvPr/>
        </p:nvSpPr>
        <p:spPr>
          <a:xfrm>
            <a:off x="558800" y="5702300"/>
            <a:ext cx="11074500" cy="5079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55" name="Google Shape;455;p25"/>
          <p:cNvSpPr txBox="1"/>
          <p:nvPr/>
        </p:nvSpPr>
        <p:spPr>
          <a:xfrm>
            <a:off x="711200" y="5765800"/>
            <a:ext cx="107697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Signed history is additional evidence; it does not prove that a scene really happened.</a:t>
            </a:r>
            <a:endParaRPr b="1" sz="1700">
              <a:solidFill>
                <a:srgbClr val="00796B"/>
              </a:solidFill>
            </a:endParaRPr>
          </a:p>
        </p:txBody>
      </p:sp>
      <p:sp>
        <p:nvSpPr>
          <p:cNvPr id="456" name="Google Shape;456;p25"/>
          <p:cNvSpPr txBox="1"/>
          <p:nvPr/>
        </p:nvSpPr>
        <p:spPr>
          <a:xfrm>
            <a:off x="70358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3"/>
              </a:rPr>
              <a:t>Provenance implementation</a:t>
            </a:r>
            <a:endParaRPr sz="850">
              <a:solidFill>
                <a:srgbClr val="546966"/>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26"/>
          <p:cNvSpPr/>
          <p:nvPr/>
        </p:nvSpPr>
        <p:spPr>
          <a:xfrm>
            <a:off x="0" y="0"/>
            <a:ext cx="12192000"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3" name="Google Shape;463;p26"/>
          <p:cNvSpPr/>
          <p:nvPr/>
        </p:nvSpPr>
        <p:spPr>
          <a:xfrm>
            <a:off x="0" y="0"/>
            <a:ext cx="101600" cy="6858000"/>
          </a:xfrm>
          <a:prstGeom prst="rect">
            <a:avLst/>
          </a:prstGeom>
          <a:solidFill>
            <a:srgbClr val="00796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4" name="Google Shape;464;p26"/>
          <p:cNvSpPr txBox="1"/>
          <p:nvPr/>
        </p:nvSpPr>
        <p:spPr>
          <a:xfrm>
            <a:off x="558800" y="304800"/>
            <a:ext cx="10160000" cy="19304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1000">
                <a:solidFill>
                  <a:srgbClr val="00796B"/>
                </a:solidFill>
              </a:rPr>
              <a:t>CURRENT IMPLEMENTATION / COMBINED BACKEND</a:t>
            </a:r>
            <a:endParaRPr b="1" sz="1000">
              <a:solidFill>
                <a:srgbClr val="00796B"/>
              </a:solidFill>
            </a:endParaRPr>
          </a:p>
        </p:txBody>
      </p:sp>
      <p:sp>
        <p:nvSpPr>
          <p:cNvPr id="465" name="Google Shape;465;p26"/>
          <p:cNvSpPr txBox="1"/>
          <p:nvPr/>
        </p:nvSpPr>
        <p:spPr>
          <a:xfrm>
            <a:off x="10947400" y="304800"/>
            <a:ext cx="736600" cy="19304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000" u="none" cap="none" strike="noStrike">
                <a:solidFill>
                  <a:srgbClr val="546966"/>
                </a:solidFill>
                <a:latin typeface="Arial"/>
                <a:ea typeface="Arial"/>
                <a:cs typeface="Arial"/>
                <a:sym typeface="Arial"/>
              </a:rPr>
              <a:t>14 / 15</a:t>
            </a:r>
            <a:endParaRPr/>
          </a:p>
        </p:txBody>
      </p:sp>
      <p:sp>
        <p:nvSpPr>
          <p:cNvPr id="466" name="Google Shape;466;p26"/>
          <p:cNvSpPr txBox="1"/>
          <p:nvPr/>
        </p:nvSpPr>
        <p:spPr>
          <a:xfrm>
            <a:off x="558800" y="723900"/>
            <a:ext cx="11074500" cy="6096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2800">
                <a:solidFill>
                  <a:srgbClr val="172C2B"/>
                </a:solidFill>
              </a:rPr>
              <a:t>One upload now runs detection and provenance</a:t>
            </a:r>
            <a:endParaRPr b="1" sz="2800">
              <a:solidFill>
                <a:srgbClr val="172C2B"/>
              </a:solidFill>
            </a:endParaRPr>
          </a:p>
        </p:txBody>
      </p:sp>
      <p:sp>
        <p:nvSpPr>
          <p:cNvPr id="467" name="Google Shape;467;p26"/>
          <p:cNvSpPr txBox="1"/>
          <p:nvPr/>
        </p:nvSpPr>
        <p:spPr>
          <a:xfrm>
            <a:off x="584200" y="1409700"/>
            <a:ext cx="11049000" cy="255015"/>
          </a:xfrm>
          <a:prstGeom prst="rect">
            <a:avLst/>
          </a:prstGeom>
          <a:noFill/>
          <a:ln>
            <a:noFill/>
          </a:ln>
        </p:spPr>
        <p:txBody>
          <a:bodyPr anchorCtr="0" anchor="t" bIns="0" lIns="0" spcFirstLastPara="1" rIns="0" wrap="square" tIns="0">
            <a:noAutofit/>
          </a:bodyPr>
          <a:lstStyle/>
          <a:p>
            <a:pPr indent="0" lvl="0" marL="0" marR="0" rtl="0" algn="l">
              <a:lnSpc>
                <a:spcPct val="121928"/>
              </a:lnSpc>
              <a:spcBef>
                <a:spcPts val="0"/>
              </a:spcBef>
              <a:spcAft>
                <a:spcPts val="0"/>
              </a:spcAft>
              <a:buNone/>
            </a:pPr>
            <a:r>
              <a:rPr lang="en-US">
                <a:solidFill>
                  <a:srgbClr val="546966"/>
                </a:solidFill>
              </a:rPr>
              <a:t>FastAPI connects the frozen model and evidence extraction locally.</a:t>
            </a:r>
            <a:endParaRPr>
              <a:solidFill>
                <a:srgbClr val="546966"/>
              </a:solidFill>
            </a:endParaRPr>
          </a:p>
        </p:txBody>
      </p:sp>
      <p:cxnSp>
        <p:nvCxnSpPr>
          <p:cNvPr id="468" name="Google Shape;468;p26"/>
          <p:cNvCxnSpPr/>
          <p:nvPr/>
        </p:nvCxnSpPr>
        <p:spPr>
          <a:xfrm>
            <a:off x="558800" y="6375400"/>
            <a:ext cx="11074400" cy="0"/>
          </a:xfrm>
          <a:prstGeom prst="straightConnector1">
            <a:avLst/>
          </a:prstGeom>
          <a:noFill/>
          <a:ln cap="flat" cmpd="sng" w="12700">
            <a:solidFill>
              <a:srgbClr val="DCE5E2"/>
            </a:solidFill>
            <a:prstDash val="solid"/>
            <a:round/>
            <a:headEnd len="sm" w="sm" type="none"/>
            <a:tailEnd len="sm" w="sm" type="none"/>
          </a:ln>
          <a:effectLst>
            <a:outerShdw blurRad="40000" rotWithShape="0" dir="5400000" dist="20000">
              <a:srgbClr val="000000">
                <a:alpha val="38039"/>
              </a:srgbClr>
            </a:outerShdw>
          </a:effectLst>
        </p:spPr>
      </p:cxnSp>
      <p:sp>
        <p:nvSpPr>
          <p:cNvPr id="469" name="Google Shape;469;p26"/>
          <p:cNvSpPr txBox="1"/>
          <p:nvPr/>
        </p:nvSpPr>
        <p:spPr>
          <a:xfrm>
            <a:off x="558800" y="6540500"/>
            <a:ext cx="5080000" cy="169799"/>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850" u="none" cap="none" strike="noStrike">
                <a:solidFill>
                  <a:srgbClr val="546966"/>
                </a:solidFill>
                <a:latin typeface="Arial"/>
                <a:ea typeface="Arial"/>
                <a:cs typeface="Arial"/>
                <a:sym typeface="Arial"/>
              </a:rPr>
              <a:t>AI SHIELD / ABDELRAHMAN SOLIMAN</a:t>
            </a:r>
            <a:endParaRPr/>
          </a:p>
        </p:txBody>
      </p:sp>
      <p:sp>
        <p:nvSpPr>
          <p:cNvPr id="470" name="Google Shape;470;p26"/>
          <p:cNvSpPr/>
          <p:nvPr/>
        </p:nvSpPr>
        <p:spPr>
          <a:xfrm>
            <a:off x="558800" y="3111500"/>
            <a:ext cx="2031900" cy="11175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1" name="Google Shape;471;p26"/>
          <p:cNvSpPr txBox="1"/>
          <p:nvPr/>
        </p:nvSpPr>
        <p:spPr>
          <a:xfrm>
            <a:off x="723900" y="3314700"/>
            <a:ext cx="1701900" cy="825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000">
                <a:solidFill>
                  <a:srgbClr val="172C2B"/>
                </a:solidFill>
              </a:rPr>
              <a:t>Original</a:t>
            </a:r>
            <a:endParaRPr b="1" sz="2000">
              <a:solidFill>
                <a:srgbClr val="172C2B"/>
              </a:solidFill>
            </a:endParaRPr>
          </a:p>
          <a:p>
            <a:pPr indent="0" lvl="0" marL="0" rtl="0" algn="l">
              <a:lnSpc>
                <a:spcPct val="115000"/>
              </a:lnSpc>
              <a:spcBef>
                <a:spcPts val="0"/>
              </a:spcBef>
              <a:spcAft>
                <a:spcPts val="0"/>
              </a:spcAft>
              <a:buNone/>
            </a:pPr>
            <a:r>
              <a:rPr b="1" lang="en-US" sz="2000">
                <a:solidFill>
                  <a:srgbClr val="172C2B"/>
                </a:solidFill>
              </a:rPr>
              <a:t>image upload</a:t>
            </a:r>
            <a:endParaRPr b="1" sz="2000">
              <a:solidFill>
                <a:srgbClr val="172C2B"/>
              </a:solidFill>
            </a:endParaRPr>
          </a:p>
        </p:txBody>
      </p:sp>
      <p:sp>
        <p:nvSpPr>
          <p:cNvPr id="472" name="Google Shape;472;p26"/>
          <p:cNvSpPr txBox="1"/>
          <p:nvPr/>
        </p:nvSpPr>
        <p:spPr>
          <a:xfrm>
            <a:off x="2768600" y="3365500"/>
            <a:ext cx="3810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800">
                <a:solidFill>
                  <a:srgbClr val="00796B"/>
                </a:solidFill>
              </a:rPr>
              <a:t>&gt;</a:t>
            </a:r>
            <a:endParaRPr b="1" sz="2800">
              <a:solidFill>
                <a:srgbClr val="00796B"/>
              </a:solidFill>
            </a:endParaRPr>
          </a:p>
        </p:txBody>
      </p:sp>
      <p:sp>
        <p:nvSpPr>
          <p:cNvPr id="473" name="Google Shape;473;p26"/>
          <p:cNvSpPr/>
          <p:nvPr/>
        </p:nvSpPr>
        <p:spPr>
          <a:xfrm>
            <a:off x="3429000" y="2171700"/>
            <a:ext cx="4686300" cy="12447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4" name="Google Shape;474;p26"/>
          <p:cNvSpPr txBox="1"/>
          <p:nvPr/>
        </p:nvSpPr>
        <p:spPr>
          <a:xfrm>
            <a:off x="3619500" y="2298700"/>
            <a:ext cx="4254600" cy="431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100">
                <a:solidFill>
                  <a:srgbClr val="00796B"/>
                </a:solidFill>
              </a:rPr>
              <a:t>Frozen CF detector</a:t>
            </a:r>
            <a:endParaRPr b="1" sz="2100">
              <a:solidFill>
                <a:srgbClr val="00796B"/>
              </a:solidFill>
            </a:endParaRPr>
          </a:p>
        </p:txBody>
      </p:sp>
      <p:sp>
        <p:nvSpPr>
          <p:cNvPr id="475" name="Google Shape;475;p26"/>
          <p:cNvSpPr txBox="1"/>
          <p:nvPr/>
        </p:nvSpPr>
        <p:spPr>
          <a:xfrm>
            <a:off x="3619500" y="2857500"/>
            <a:ext cx="42546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800">
                <a:solidFill>
                  <a:srgbClr val="172C2B"/>
                </a:solidFill>
              </a:rPr>
              <a:t>Prepared pixels -&gt; AI score</a:t>
            </a:r>
            <a:endParaRPr sz="1800">
              <a:solidFill>
                <a:srgbClr val="172C2B"/>
              </a:solidFill>
            </a:endParaRPr>
          </a:p>
        </p:txBody>
      </p:sp>
      <p:sp>
        <p:nvSpPr>
          <p:cNvPr id="476" name="Google Shape;476;p26"/>
          <p:cNvSpPr/>
          <p:nvPr/>
        </p:nvSpPr>
        <p:spPr>
          <a:xfrm>
            <a:off x="3429000" y="3835400"/>
            <a:ext cx="4686300" cy="1244700"/>
          </a:xfrm>
          <a:prstGeom prst="rect">
            <a:avLst/>
          </a:prstGeom>
          <a:solidFill>
            <a:srgbClr val="F2F6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7" name="Google Shape;477;p26"/>
          <p:cNvSpPr txBox="1"/>
          <p:nvPr/>
        </p:nvSpPr>
        <p:spPr>
          <a:xfrm>
            <a:off x="3619500" y="3962400"/>
            <a:ext cx="4254600" cy="431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100">
                <a:solidFill>
                  <a:srgbClr val="00796B"/>
                </a:solidFill>
              </a:rPr>
              <a:t>ExifTool + C2PA</a:t>
            </a:r>
            <a:endParaRPr b="1" sz="2100">
              <a:solidFill>
                <a:srgbClr val="00796B"/>
              </a:solidFill>
            </a:endParaRPr>
          </a:p>
        </p:txBody>
      </p:sp>
      <p:sp>
        <p:nvSpPr>
          <p:cNvPr id="478" name="Google Shape;478;p26"/>
          <p:cNvSpPr txBox="1"/>
          <p:nvPr/>
        </p:nvSpPr>
        <p:spPr>
          <a:xfrm>
            <a:off x="3619500" y="4521200"/>
            <a:ext cx="42546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800">
                <a:solidFill>
                  <a:srgbClr val="172C2B"/>
                </a:solidFill>
              </a:rPr>
              <a:t>Original bytes -&gt; evidence</a:t>
            </a:r>
            <a:endParaRPr sz="1800">
              <a:solidFill>
                <a:srgbClr val="172C2B"/>
              </a:solidFill>
            </a:endParaRPr>
          </a:p>
        </p:txBody>
      </p:sp>
      <p:sp>
        <p:nvSpPr>
          <p:cNvPr id="479" name="Google Shape;479;p26"/>
          <p:cNvSpPr txBox="1"/>
          <p:nvPr/>
        </p:nvSpPr>
        <p:spPr>
          <a:xfrm>
            <a:off x="8318500" y="3365500"/>
            <a:ext cx="381000" cy="50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800">
                <a:solidFill>
                  <a:srgbClr val="00796B"/>
                </a:solidFill>
              </a:rPr>
              <a:t>&gt;</a:t>
            </a:r>
            <a:endParaRPr b="1" sz="2800">
              <a:solidFill>
                <a:srgbClr val="00796B"/>
              </a:solidFill>
            </a:endParaRPr>
          </a:p>
        </p:txBody>
      </p:sp>
      <p:sp>
        <p:nvSpPr>
          <p:cNvPr id="480" name="Google Shape;480;p26"/>
          <p:cNvSpPr/>
          <p:nvPr/>
        </p:nvSpPr>
        <p:spPr>
          <a:xfrm>
            <a:off x="8966200" y="2679700"/>
            <a:ext cx="2667000" cy="20067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81" name="Google Shape;481;p26"/>
          <p:cNvSpPr txBox="1"/>
          <p:nvPr/>
        </p:nvSpPr>
        <p:spPr>
          <a:xfrm>
            <a:off x="9131300" y="2870200"/>
            <a:ext cx="2336700" cy="77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200">
                <a:solidFill>
                  <a:srgbClr val="00796B"/>
                </a:solidFill>
              </a:rPr>
              <a:t>Combined report</a:t>
            </a:r>
            <a:endParaRPr b="1" sz="2200">
              <a:solidFill>
                <a:srgbClr val="00796B"/>
              </a:solidFill>
            </a:endParaRPr>
          </a:p>
        </p:txBody>
      </p:sp>
      <p:sp>
        <p:nvSpPr>
          <p:cNvPr id="482" name="Google Shape;482;p26"/>
          <p:cNvSpPr txBox="1"/>
          <p:nvPr/>
        </p:nvSpPr>
        <p:spPr>
          <a:xfrm>
            <a:off x="9131300" y="3657600"/>
            <a:ext cx="2336700" cy="99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rgbClr val="172C2B"/>
                </a:solidFill>
              </a:rPr>
              <a:t>Detection result</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Metadata details</a:t>
            </a:r>
            <a:endParaRPr sz="1700">
              <a:solidFill>
                <a:srgbClr val="172C2B"/>
              </a:solidFill>
            </a:endParaRPr>
          </a:p>
          <a:p>
            <a:pPr indent="0" lvl="0" marL="0" rtl="0" algn="l">
              <a:lnSpc>
                <a:spcPct val="115000"/>
              </a:lnSpc>
              <a:spcBef>
                <a:spcPts val="0"/>
              </a:spcBef>
              <a:spcAft>
                <a:spcPts val="0"/>
              </a:spcAft>
              <a:buNone/>
            </a:pPr>
            <a:r>
              <a:rPr lang="en-US" sz="1700">
                <a:solidFill>
                  <a:srgbClr val="172C2B"/>
                </a:solidFill>
              </a:rPr>
              <a:t>Credential checks</a:t>
            </a:r>
            <a:endParaRPr sz="1700">
              <a:solidFill>
                <a:srgbClr val="172C2B"/>
              </a:solidFill>
            </a:endParaRPr>
          </a:p>
        </p:txBody>
      </p:sp>
      <p:sp>
        <p:nvSpPr>
          <p:cNvPr id="483" name="Google Shape;483;p26"/>
          <p:cNvSpPr/>
          <p:nvPr/>
        </p:nvSpPr>
        <p:spPr>
          <a:xfrm>
            <a:off x="558800" y="5702300"/>
            <a:ext cx="11074500" cy="507900"/>
          </a:xfrm>
          <a:prstGeom prst="rect">
            <a:avLst/>
          </a:prstGeom>
          <a:solidFill>
            <a:srgbClr val="DFF2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84" name="Google Shape;484;p26"/>
          <p:cNvSpPr txBox="1"/>
          <p:nvPr/>
        </p:nvSpPr>
        <p:spPr>
          <a:xfrm>
            <a:off x="711200" y="5765800"/>
            <a:ext cx="10769700" cy="38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700">
                <a:solidFill>
                  <a:srgbClr val="00796B"/>
                </a:solidFill>
              </a:rPr>
              <a:t>38 automated tests passed; 6 saved images also matched through the upload API.</a:t>
            </a:r>
            <a:endParaRPr b="1" sz="1700">
              <a:solidFill>
                <a:srgbClr val="00796B"/>
              </a:solidFill>
            </a:endParaRPr>
          </a:p>
        </p:txBody>
      </p:sp>
      <p:sp>
        <p:nvSpPr>
          <p:cNvPr id="485" name="Google Shape;485;p26"/>
          <p:cNvSpPr txBox="1"/>
          <p:nvPr/>
        </p:nvSpPr>
        <p:spPr>
          <a:xfrm>
            <a:off x="70358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3"/>
              </a:rPr>
              <a:t>Backend progress</a:t>
            </a:r>
            <a:endParaRPr sz="850">
              <a:solidFill>
                <a:srgbClr val="546966"/>
              </a:solidFill>
            </a:endParaRPr>
          </a:p>
        </p:txBody>
      </p:sp>
      <p:sp>
        <p:nvSpPr>
          <p:cNvPr id="486" name="Google Shape;486;p26"/>
          <p:cNvSpPr txBox="1"/>
          <p:nvPr/>
        </p:nvSpPr>
        <p:spPr>
          <a:xfrm>
            <a:off x="85852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4"/>
              </a:rPr>
              <a:t>Detector verification</a:t>
            </a:r>
            <a:endParaRPr sz="850">
              <a:solidFill>
                <a:srgbClr val="546966"/>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27"/>
          <p:cNvSpPr/>
          <p:nvPr/>
        </p:nvSpPr>
        <p:spPr>
          <a:xfrm>
            <a:off x="0" y="0"/>
            <a:ext cx="12192000" cy="6858000"/>
          </a:xfrm>
          <a:prstGeom prst="rect">
            <a:avLst/>
          </a:prstGeom>
          <a:solidFill>
            <a:srgbClr val="FFFF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27"/>
          <p:cNvSpPr/>
          <p:nvPr/>
        </p:nvSpPr>
        <p:spPr>
          <a:xfrm>
            <a:off x="0" y="0"/>
            <a:ext cx="101600" cy="6858000"/>
          </a:xfrm>
          <a:prstGeom prst="rect">
            <a:avLst/>
          </a:prstGeom>
          <a:solidFill>
            <a:srgbClr val="00796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4" name="Google Shape;494;p27"/>
          <p:cNvSpPr txBox="1"/>
          <p:nvPr/>
        </p:nvSpPr>
        <p:spPr>
          <a:xfrm>
            <a:off x="558800" y="304800"/>
            <a:ext cx="10160000" cy="19304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1000">
                <a:solidFill>
                  <a:srgbClr val="00796B"/>
                </a:solidFill>
              </a:rPr>
              <a:t>CURRENT STATUS / NEXT WORK</a:t>
            </a:r>
            <a:endParaRPr b="1" sz="1000">
              <a:solidFill>
                <a:srgbClr val="00796B"/>
              </a:solidFill>
            </a:endParaRPr>
          </a:p>
        </p:txBody>
      </p:sp>
      <p:sp>
        <p:nvSpPr>
          <p:cNvPr id="495" name="Google Shape;495;p27"/>
          <p:cNvSpPr txBox="1"/>
          <p:nvPr/>
        </p:nvSpPr>
        <p:spPr>
          <a:xfrm>
            <a:off x="10947400" y="304800"/>
            <a:ext cx="736600" cy="19304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1000" u="none" cap="none" strike="noStrike">
                <a:solidFill>
                  <a:srgbClr val="546966"/>
                </a:solidFill>
                <a:latin typeface="Arial"/>
                <a:ea typeface="Arial"/>
                <a:cs typeface="Arial"/>
                <a:sym typeface="Arial"/>
              </a:rPr>
              <a:t>15 / 15</a:t>
            </a:r>
            <a:endParaRPr/>
          </a:p>
        </p:txBody>
      </p:sp>
      <p:sp>
        <p:nvSpPr>
          <p:cNvPr id="496" name="Google Shape;496;p27"/>
          <p:cNvSpPr txBox="1"/>
          <p:nvPr/>
        </p:nvSpPr>
        <p:spPr>
          <a:xfrm>
            <a:off x="558800" y="723900"/>
            <a:ext cx="11074500" cy="6096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lang="en-US" sz="2800">
                <a:solidFill>
                  <a:srgbClr val="172C2B"/>
                </a:solidFill>
              </a:rPr>
              <a:t>Built locally; the new website is the next product step</a:t>
            </a:r>
            <a:endParaRPr b="1" sz="2800">
              <a:solidFill>
                <a:srgbClr val="172C2B"/>
              </a:solidFill>
            </a:endParaRPr>
          </a:p>
        </p:txBody>
      </p:sp>
      <p:sp>
        <p:nvSpPr>
          <p:cNvPr id="497" name="Google Shape;497;p27"/>
          <p:cNvSpPr txBox="1"/>
          <p:nvPr/>
        </p:nvSpPr>
        <p:spPr>
          <a:xfrm>
            <a:off x="584200" y="1409700"/>
            <a:ext cx="11049000" cy="255015"/>
          </a:xfrm>
          <a:prstGeom prst="rect">
            <a:avLst/>
          </a:prstGeom>
          <a:noFill/>
          <a:ln>
            <a:noFill/>
          </a:ln>
        </p:spPr>
        <p:txBody>
          <a:bodyPr anchorCtr="0" anchor="t" bIns="0" lIns="0" spcFirstLastPara="1" rIns="0" wrap="square" tIns="0">
            <a:noAutofit/>
          </a:bodyPr>
          <a:lstStyle/>
          <a:p>
            <a:pPr indent="0" lvl="0" marL="0" marR="0" rtl="0" algn="l">
              <a:lnSpc>
                <a:spcPct val="121928"/>
              </a:lnSpc>
              <a:spcBef>
                <a:spcPts val="0"/>
              </a:spcBef>
              <a:spcAft>
                <a:spcPts val="0"/>
              </a:spcAft>
              <a:buNone/>
            </a:pPr>
            <a:r>
              <a:rPr lang="en-US">
                <a:solidFill>
                  <a:srgbClr val="546966"/>
                </a:solidFill>
              </a:rPr>
              <a:t>The existing Hugging Face demo still serves the older fusion system.</a:t>
            </a:r>
            <a:endParaRPr>
              <a:solidFill>
                <a:srgbClr val="546966"/>
              </a:solidFill>
            </a:endParaRPr>
          </a:p>
        </p:txBody>
      </p:sp>
      <p:cxnSp>
        <p:nvCxnSpPr>
          <p:cNvPr id="498" name="Google Shape;498;p27"/>
          <p:cNvCxnSpPr/>
          <p:nvPr/>
        </p:nvCxnSpPr>
        <p:spPr>
          <a:xfrm>
            <a:off x="558800" y="6375400"/>
            <a:ext cx="11074400" cy="0"/>
          </a:xfrm>
          <a:prstGeom prst="straightConnector1">
            <a:avLst/>
          </a:prstGeom>
          <a:noFill/>
          <a:ln cap="flat" cmpd="sng" w="12700">
            <a:solidFill>
              <a:srgbClr val="DCE5E2"/>
            </a:solidFill>
            <a:prstDash val="solid"/>
            <a:round/>
            <a:headEnd len="sm" w="sm" type="none"/>
            <a:tailEnd len="sm" w="sm" type="none"/>
          </a:ln>
          <a:effectLst>
            <a:outerShdw blurRad="40000" rotWithShape="0" dir="5400000" dist="20000">
              <a:srgbClr val="000000">
                <a:alpha val="38039"/>
              </a:srgbClr>
            </a:outerShdw>
          </a:effectLst>
        </p:spPr>
      </p:cxnSp>
      <p:sp>
        <p:nvSpPr>
          <p:cNvPr id="499" name="Google Shape;499;p27"/>
          <p:cNvSpPr txBox="1"/>
          <p:nvPr/>
        </p:nvSpPr>
        <p:spPr>
          <a:xfrm>
            <a:off x="558800" y="6540500"/>
            <a:ext cx="5080000" cy="169799"/>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US" sz="850" u="none" cap="none" strike="noStrike">
                <a:solidFill>
                  <a:srgbClr val="546966"/>
                </a:solidFill>
                <a:latin typeface="Arial"/>
                <a:ea typeface="Arial"/>
                <a:cs typeface="Arial"/>
                <a:sym typeface="Arial"/>
              </a:rPr>
              <a:t>AI SHIELD / ABDELRAHMAN SOLIMAN</a:t>
            </a:r>
            <a:endParaRPr/>
          </a:p>
        </p:txBody>
      </p:sp>
      <p:sp>
        <p:nvSpPr>
          <p:cNvPr id="500" name="Google Shape;500;p27"/>
          <p:cNvSpPr txBox="1"/>
          <p:nvPr/>
        </p:nvSpPr>
        <p:spPr>
          <a:xfrm>
            <a:off x="558800" y="2019300"/>
            <a:ext cx="52452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300">
                <a:solidFill>
                  <a:srgbClr val="00796B"/>
                </a:solidFill>
              </a:rPr>
              <a:t>Implemented</a:t>
            </a:r>
            <a:endParaRPr b="1" sz="2300">
              <a:solidFill>
                <a:srgbClr val="00796B"/>
              </a:solidFill>
            </a:endParaRPr>
          </a:p>
        </p:txBody>
      </p:sp>
      <p:sp>
        <p:nvSpPr>
          <p:cNvPr id="501" name="Google Shape;501;p27"/>
          <p:cNvSpPr txBox="1"/>
          <p:nvPr/>
        </p:nvSpPr>
        <p:spPr>
          <a:xfrm>
            <a:off x="558800" y="2692400"/>
            <a:ext cx="5245200" cy="210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000">
                <a:solidFill>
                  <a:srgbClr val="172C2B"/>
                </a:solidFill>
              </a:rPr>
              <a:t>Selected and verified CF detector</a:t>
            </a:r>
            <a:endParaRPr sz="2000">
              <a:solidFill>
                <a:srgbClr val="172C2B"/>
              </a:solidFill>
            </a:endParaRPr>
          </a:p>
          <a:p>
            <a:pPr indent="0" lvl="0" marL="0" rtl="0" algn="l">
              <a:lnSpc>
                <a:spcPct val="115000"/>
              </a:lnSpc>
              <a:spcBef>
                <a:spcPts val="0"/>
              </a:spcBef>
              <a:spcAft>
                <a:spcPts val="0"/>
              </a:spcAft>
              <a:buNone/>
            </a:pPr>
            <a:r>
              <a:rPr lang="en-US" sz="2000">
                <a:solidFill>
                  <a:srgbClr val="172C2B"/>
                </a:solidFill>
              </a:rPr>
              <a:t>EXIF extraction + C2PA verification</a:t>
            </a:r>
            <a:endParaRPr sz="2000">
              <a:solidFill>
                <a:srgbClr val="172C2B"/>
              </a:solidFill>
            </a:endParaRPr>
          </a:p>
          <a:p>
            <a:pPr indent="0" lvl="0" marL="0" rtl="0" algn="l">
              <a:lnSpc>
                <a:spcPct val="115000"/>
              </a:lnSpc>
              <a:spcBef>
                <a:spcPts val="0"/>
              </a:spcBef>
              <a:spcAft>
                <a:spcPts val="0"/>
              </a:spcAft>
              <a:buNone/>
            </a:pPr>
            <a:r>
              <a:rPr lang="en-US" sz="2000">
                <a:solidFill>
                  <a:srgbClr val="172C2B"/>
                </a:solidFill>
              </a:rPr>
              <a:t>Combined upload API</a:t>
            </a:r>
            <a:endParaRPr sz="2000">
              <a:solidFill>
                <a:srgbClr val="172C2B"/>
              </a:solidFill>
            </a:endParaRPr>
          </a:p>
          <a:p>
            <a:pPr indent="0" lvl="0" marL="0" rtl="0" algn="l">
              <a:lnSpc>
                <a:spcPct val="115000"/>
              </a:lnSpc>
              <a:spcBef>
                <a:spcPts val="0"/>
              </a:spcBef>
              <a:spcAft>
                <a:spcPts val="0"/>
              </a:spcAft>
              <a:buNone/>
            </a:pPr>
            <a:r>
              <a:rPr lang="en-US" sz="2000">
                <a:solidFill>
                  <a:srgbClr val="172C2B"/>
                </a:solidFill>
              </a:rPr>
              <a:t>Automated tests and saved artifacts</a:t>
            </a:r>
            <a:endParaRPr sz="2000">
              <a:solidFill>
                <a:srgbClr val="172C2B"/>
              </a:solidFill>
            </a:endParaRPr>
          </a:p>
        </p:txBody>
      </p:sp>
      <p:sp>
        <p:nvSpPr>
          <p:cNvPr id="502" name="Google Shape;502;p27"/>
          <p:cNvSpPr txBox="1"/>
          <p:nvPr/>
        </p:nvSpPr>
        <p:spPr>
          <a:xfrm>
            <a:off x="6477000" y="2019300"/>
            <a:ext cx="5156100" cy="44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300">
                <a:solidFill>
                  <a:srgbClr val="00796B"/>
                </a:solidFill>
              </a:rPr>
              <a:t>Next</a:t>
            </a:r>
            <a:endParaRPr b="1" sz="2300">
              <a:solidFill>
                <a:srgbClr val="00796B"/>
              </a:solidFill>
            </a:endParaRPr>
          </a:p>
        </p:txBody>
      </p:sp>
      <p:sp>
        <p:nvSpPr>
          <p:cNvPr id="503" name="Google Shape;503;p27"/>
          <p:cNvSpPr txBox="1"/>
          <p:nvPr/>
        </p:nvSpPr>
        <p:spPr>
          <a:xfrm>
            <a:off x="6477000" y="2692400"/>
            <a:ext cx="5156100" cy="210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000">
                <a:solidFill>
                  <a:srgbClr val="172C2B"/>
                </a:solidFill>
              </a:rPr>
              <a:t>JPEG / resize robustness tests</a:t>
            </a:r>
            <a:endParaRPr sz="2000">
              <a:solidFill>
                <a:srgbClr val="172C2B"/>
              </a:solidFill>
            </a:endParaRPr>
          </a:p>
          <a:p>
            <a:pPr indent="0" lvl="0" marL="0" rtl="0" algn="l">
              <a:lnSpc>
                <a:spcPct val="115000"/>
              </a:lnSpc>
              <a:spcBef>
                <a:spcPts val="0"/>
              </a:spcBef>
              <a:spcAft>
                <a:spcPts val="0"/>
              </a:spcAft>
              <a:buNone/>
            </a:pPr>
            <a:r>
              <a:rPr lang="en-US" sz="2000">
                <a:solidFill>
                  <a:srgbClr val="172C2B"/>
                </a:solidFill>
              </a:rPr>
              <a:t>Artwork, renders and edited-photo tests</a:t>
            </a:r>
            <a:endParaRPr sz="2000">
              <a:solidFill>
                <a:srgbClr val="172C2B"/>
              </a:solidFill>
            </a:endParaRPr>
          </a:p>
          <a:p>
            <a:pPr indent="0" lvl="0" marL="0" rtl="0" algn="l">
              <a:lnSpc>
                <a:spcPct val="115000"/>
              </a:lnSpc>
              <a:spcBef>
                <a:spcPts val="0"/>
              </a:spcBef>
              <a:spcAft>
                <a:spcPts val="0"/>
              </a:spcAft>
              <a:buNone/>
            </a:pPr>
            <a:r>
              <a:rPr lang="en-US" sz="2000">
                <a:solidFill>
                  <a:srgbClr val="172C2B"/>
                </a:solidFill>
              </a:rPr>
              <a:t>Commit / publish the backend</a:t>
            </a:r>
            <a:endParaRPr sz="2000">
              <a:solidFill>
                <a:srgbClr val="172C2B"/>
              </a:solidFill>
            </a:endParaRPr>
          </a:p>
          <a:p>
            <a:pPr indent="0" lvl="0" marL="0" rtl="0" algn="l">
              <a:lnSpc>
                <a:spcPct val="115000"/>
              </a:lnSpc>
              <a:spcBef>
                <a:spcPts val="0"/>
              </a:spcBef>
              <a:spcAft>
                <a:spcPts val="0"/>
              </a:spcAft>
              <a:buNone/>
            </a:pPr>
            <a:r>
              <a:rPr lang="en-US" sz="2000">
                <a:solidFill>
                  <a:srgbClr val="172C2B"/>
                </a:solidFill>
              </a:rPr>
              <a:t>Build and deploy the upload website</a:t>
            </a:r>
            <a:endParaRPr sz="2000">
              <a:solidFill>
                <a:srgbClr val="172C2B"/>
              </a:solidFill>
            </a:endParaRPr>
          </a:p>
        </p:txBody>
      </p:sp>
      <p:sp>
        <p:nvSpPr>
          <p:cNvPr id="504" name="Google Shape;504;p27"/>
          <p:cNvSpPr/>
          <p:nvPr/>
        </p:nvSpPr>
        <p:spPr>
          <a:xfrm>
            <a:off x="558800" y="5143500"/>
            <a:ext cx="11074500" cy="12600"/>
          </a:xfrm>
          <a:prstGeom prst="rect">
            <a:avLst/>
          </a:prstGeom>
          <a:solidFill>
            <a:srgbClr val="DCE5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05" name="Google Shape;505;p27"/>
          <p:cNvSpPr txBox="1"/>
          <p:nvPr/>
        </p:nvSpPr>
        <p:spPr>
          <a:xfrm>
            <a:off x="558800" y="5435600"/>
            <a:ext cx="11074500" cy="62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000">
                <a:solidFill>
                  <a:srgbClr val="546966"/>
                </a:solidFill>
              </a:rPr>
              <a:t>Later: image/claim consistency checks and short-video support.</a:t>
            </a:r>
            <a:endParaRPr sz="2000">
              <a:solidFill>
                <a:srgbClr val="546966"/>
              </a:solidFill>
            </a:endParaRPr>
          </a:p>
        </p:txBody>
      </p:sp>
      <p:sp>
        <p:nvSpPr>
          <p:cNvPr id="506" name="Google Shape;506;p27"/>
          <p:cNvSpPr txBox="1"/>
          <p:nvPr/>
        </p:nvSpPr>
        <p:spPr>
          <a:xfrm>
            <a:off x="70358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3"/>
              </a:rPr>
              <a:t>Project status</a:t>
            </a:r>
            <a:endParaRPr sz="850">
              <a:solidFill>
                <a:srgbClr val="546966"/>
              </a:solidFill>
            </a:endParaRPr>
          </a:p>
        </p:txBody>
      </p:sp>
      <p:sp>
        <p:nvSpPr>
          <p:cNvPr id="507" name="Google Shape;507;p27"/>
          <p:cNvSpPr txBox="1"/>
          <p:nvPr/>
        </p:nvSpPr>
        <p:spPr>
          <a:xfrm>
            <a:off x="8585200" y="6464300"/>
            <a:ext cx="1549500" cy="30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850" u="sng">
                <a:solidFill>
                  <a:schemeClr val="hlink"/>
                </a:solidFill>
                <a:hlinkClick r:id="rId4"/>
              </a:rPr>
              <a:t>Repository</a:t>
            </a:r>
            <a:endParaRPr sz="850">
              <a:solidFill>
                <a:srgbClr val="546966"/>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