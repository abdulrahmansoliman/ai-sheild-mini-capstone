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long-term ambition: help people assess AI-generated or manipulated media. Start with images before attempting videos. This presentation follows milestones rather than calendar dates.</a:t>
            </a:r>
          </a:p>
          <a:p/>
          <a:p>
            <a:r>
              <a:t>Sources:</a:t>
            </a:r>
          </a:p>
          <a:p>
            <a:r>
              <a:t>Project overview: https://app.notion.com/p/3d4b28a9701681b08a4ecf17f2c617d5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Distinguish AI generation, face manipulation, ordinary photo editing, and factual truth. The capstone does not claim to prove whether a scene actually happened.</a:t>
            </a:r>
          </a:p>
          <a:p/>
          <a:p>
            <a:r>
              <a:t>Sources:</a:t>
            </a:r>
          </a:p>
          <a:p>
            <a:r>
              <a:t>Project overview: https://app.notion.com/p/3d4b28a9701681b08a4ecf17f2c617d5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actual development order. OpenForensics face detection came first, even though the written report presents the later general-image branch before returning to face routing. Each stage answered a limitation discovered in the preceding stage.</a:t>
            </a:r>
          </a:p>
          <a:p/>
          <a:p>
            <a:r>
              <a:t>Sources:</a:t>
            </a:r>
          </a:p>
          <a:p>
            <a:r>
              <a:t>Implementation history: https://app.notion.com/p/3d4b28a97016815ba2a7ecfade37b97a</a:t>
            </a:r>
          </a:p>
          <a:p>
            <a:r>
              <a:t>Project overview: https://app.notion.com/p/3d4b28a9701681b08a4ecf17f2c617d5</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was the first trained model, not a general solution for all synthetic images. OpenForensics validation ROC-AUC was 0.9824 and held-out test ROC-AUC was 0.9387. Do not mix these figures with the later Tiny-GenImage or Dataset v1 experiments.</a:t>
            </a:r>
          </a:p>
          <a:p/>
          <a:p>
            <a:r>
              <a:t>Sources:</a:t>
            </a:r>
          </a:p>
          <a:p>
            <a:r>
              <a:t>Implementation history: https://app.notion.com/p/3d4b28a97016815ba2a7ecfade37b97a</a:t>
            </a:r>
          </a:p>
          <a:p>
            <a:r>
              <a:t>Results and limitations: https://app.notion.com/p/3d4b28a97016818b9665e09a1fe873b1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broader dataset used a balanced 28,000-image training subset and 7,000 original validation images. The VAE's failure is a result, not a hidden omission. A face score was marked inapplicable when no valid face existed. Calibration adjusted score interpretation without retraining the classifier.</a:t>
            </a:r>
          </a:p>
          <a:p/>
          <a:p>
            <a:r>
              <a:t>Sources:</a:t>
            </a:r>
          </a:p>
          <a:p>
            <a:r>
              <a:t>Implementation history: https://app.notion.com/p/3d4b28a97016815ba2a7ecfade37b97a</a:t>
            </a:r>
          </a:p>
          <a:p>
            <a:r>
              <a:t>Results and limitations: https://app.notion.com/p/3d4b28a97016818b9665e09a1fe873b1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an important original ML contribution. The reported system had roughly 87.2 million total parameters. Attention was intended to learn relationships among regions, but attention maps do not prove causal explanations or an ability to reason about hands, lighting or world facts.</a:t>
            </a:r>
          </a:p>
          <a:p/>
          <a:p>
            <a:r>
              <a:t>Sources:</a:t>
            </a:r>
          </a:p>
          <a:p>
            <a:r>
              <a:t>Implementation history: https://app.notion.com/p/3d4b28a97016815ba2a7ecfade37b97a</a:t>
            </a:r>
          </a:p>
          <a:p>
            <a:r>
              <a:t>Results and limitations: https://app.notion.com/p/3d4b28a97016818b9665e09a1fe873b1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fusion splits were 4,200 train, 1,400 validation, 1,400 test. The original full GLM correctly classified 1,317 of 1,400 examples. It used a validation threshold around 0.42. The old fusion's results must not be presented as the performance of the current CF detector, or compared directly with scores from a different test set.</a:t>
            </a:r>
          </a:p>
          <a:p/>
          <a:p>
            <a:r>
              <a:t>Sources:</a:t>
            </a:r>
          </a:p>
          <a:p>
            <a:r>
              <a:t>Implementation history: https://app.notion.com/p/3d4b28a97016815ba2a7ecfade37b97a</a:t>
            </a:r>
          </a:p>
          <a:p>
            <a:r>
              <a:t>Results and limitations: https://app.notion.com/p/3d4b28a97016818b9665e09a1fe873b1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audit motivated a change in direction. The old detector can learn patterns tied to its original image sources or generators. This is a possible explanation to investigate, not a proven diagnosis of every error. The comparison included original and fine-tuned Community Forensics.</a:t>
            </a:r>
          </a:p>
          <a:p/>
          <a:p>
            <a:r>
              <a:t>Sources:</a:t>
            </a:r>
          </a:p>
          <a:p>
            <a:r>
              <a:t>Results and limitations: https://app.notion.com/p/3d4b28a97016818b9665e09a1fe873b1</a:t>
            </a:r>
          </a:p>
          <a:p>
            <a:r>
              <a:t>Same-image baseline comparison: https://colab.research.google.com/drive/10jl7g0qknxLUCGF1VddbqbVf43oef4oD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development generators included FLUX.2 max, GLM-Image, Seedream 5, Nano Banana 2, and Qwen Image 2. 'Unseen' refers to exclusion from this project's fine-tuning and model selection; it does not independently prove that no pretrained model ever encountered related content.</a:t>
            </a:r>
          </a:p>
          <a:p/>
          <a:p>
            <a:r>
              <a:t>Sources:</a:t>
            </a:r>
          </a:p>
          <a:p>
            <a:r>
              <a:t>Dataset preparation: https://colab.research.google.com/drive/1JgyHuz_RPeWgQf4aemqB0DSry_SvWkPV</a:t>
            </a:r>
          </a:p>
          <a:p>
            <a:r>
              <a:t>Results and limitations: https://app.notion.com/p/3d4b28a97016818b9665e09a1fe873b1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Reused the pretrained visual backbone; did not claim to invent Community Forensics. Important engineering fixes included handling the first frame of MPO-style JPEG files and replacing a corrupted cached pretrained checkpoint with a verified download. Inputs use exact image preparation with a 384-pixel crop. Keep detailed hyperparameters in notes.</a:t>
            </a:r>
          </a:p>
          <a:p/>
          <a:p>
            <a:r>
              <a:t>Sources:</a:t>
            </a:r>
          </a:p>
          <a:p>
            <a:r>
              <a:t>CF fine-tuning: https://colab.research.google.com/drive/1q5CB7k9fdY9ylfqMDQgClVl4k_ogNJef</a:t>
            </a:r>
          </a:p>
          <a:p>
            <a:r>
              <a:t>Results and limitations: https://app.notion.com/p/3d4b28a97016818b9665e09a1fe873b1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results on the project's Dataset v1, not a universal performance guarantee. Fine-tuning was not a uniform win for every subgroup: Qwen Image 2 recall fell slightly, about 98.4% to 96.9%. Further source, category and transformation tests remain necessary.</a:t>
            </a:r>
          </a:p>
          <a:p/>
          <a:p>
            <a:r>
              <a:t>Sources:</a:t>
            </a:r>
          </a:p>
          <a:p>
            <a:r>
              <a:t>Results and limitations: https://app.notion.com/p/3d4b28a97016818b9665e09a1fe873b1</a:t>
            </a:r>
          </a:p>
          <a:p>
            <a:r>
              <a:t>CF fine-tuning: https://colab.research.google.com/drive/1q5CB7k9fdY9ylfqMDQgClVl4k_ogNJef</a:t>
            </a:r>
          </a:p>
          <a:p>
            <a:r>
              <a:t>Same-image baseline comparison: https://colab.research.google.com/drive/10jl7g0qknxLUCGF1VddbqbVf43oef4oD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different fusion experiment from the original 17-feature CS156 GLM. The VAE was not included and the old Phase-3 GLM was not reused. The choice favors the measured result and a simpler inference pipeline, not complexity for its own sake.</a:t>
            </a:r>
          </a:p>
          <a:p/>
          <a:p>
            <a:r>
              <a:t>Sources:</a:t>
            </a:r>
          </a:p>
          <a:p>
            <a:r>
              <a:t>New fusion experiment: https://colab.research.google.com/drive/1Kus5at9casCE1rSVYUSZbEeiZpvNCkOE</a:t>
            </a:r>
          </a:p>
          <a:p>
            <a:r>
              <a:t>Results and limitations: https://app.notion.com/p/3d4b28a97016818b9665e09a1fe873b1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implementation parity, not a fresh accuracy study. Precise settings: frame 0, EXIF transpose, RGB, resize shorter side 440 with bilinear antialiasing, center crop 384, ImageNet normalization, float32. Default threshold 0.6339887976646423. The fine-tuned checkpoint hash starts 51532d28; it differs from the pretrained checkpoint hash. Neither full hash nor dates need to appear on the slide.</a:t>
            </a:r>
          </a:p>
          <a:p/>
          <a:p>
            <a:r>
              <a:t>Sources:</a:t>
            </a:r>
          </a:p>
          <a:p>
            <a:r>
              <a:t>Detector freeze verification: https://colab.research.google.com/drive/1x1PmNrAi1RffEsunQq52HzGmjpY1oj0G</a:t>
            </a:r>
          </a:p>
          <a:p>
            <a:r>
              <a:t>Verified detector exports: https://drive.google.com/drive/folders/1i8fHQYF3hnp1BWJmwvb-MOK8-7WWmjlI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Metadata extraction is software, not a newly trained provenance model. Evidence does not change CF's score. The implementation preserves original bytes, keeps embedded and filesystem dates separate, makes GPS opt-in, limits uploads, handles errors and deletes temporary files. C2PA verification is offline: remote manifests and live revocation responses are not fetched. Even trusted signed claims do not prove scene truth. No SDAIE detector was added. Local timing was about 0.9 seconds per image on six CPU fixtures, not a production throughput benchmark.</a:t>
            </a:r>
          </a:p>
          <a:p/>
          <a:p>
            <a:r>
              <a:t>Sources:</a:t>
            </a:r>
          </a:p>
          <a:p>
            <a:r>
              <a:t>Project overview: https://app.notion.com/p/3d4b28a9701681b08a4ecf17f2c617d5</a:t>
            </a:r>
          </a:p>
          <a:p>
            <a:r>
              <a:t>Detector freeze verification: https://colab.research.google.com/drive/1x1PmNrAi1RffEsunQq52HzGmjpY1oj0G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provenance code has a local Git commit; backend changes are not yet committed/pushed. Do not claim Oracle deployment or ARM testing is complete. Hosting architecture is only proposed. The central contribution is the combination of custom modeling, controlled comparisons, documented negative findings, and a verified path from trained weights to usable evidence reporting.</a:t>
            </a:r>
          </a:p>
          <a:p/>
          <a:p>
            <a:r>
              <a:t>Sources:</a:t>
            </a:r>
          </a:p>
          <a:p>
            <a:r>
              <a:t>Project overview: https://app.notion.com/p/3d4b28a9701681b08a4ecf17f2c617d5</a:t>
            </a:r>
          </a:p>
          <a:p>
            <a:r>
              <a:t>GitHub repository (older published state): https://github.com/Abdulrahmansoliman/AI-SHEILD-MINI-CAPSTONE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pp.notion.com/p/3d4b28a9701681b08a4ecf17f2c617d5"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pp.notion.com/p/3d4b28a9701681b08a4ecf17f2c617d5" TargetMode="Externa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pp.notion.com/p/3d4b28a97016815ba2a7ecfade37b97a" TargetMode="External"/><Relationship Id="rId3" Type="http://schemas.openxmlformats.org/officeDocument/2006/relationships/hyperlink" Target="https://app.notion.com/p/3d4b28a9701681b08a4ecf17f2c617d5" TargetMode="Externa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pp.notion.com/p/3d4b28a97016815ba2a7ecfade37b97a" TargetMode="External"/><Relationship Id="rId3" Type="http://schemas.openxmlformats.org/officeDocument/2006/relationships/hyperlink" Target="https://app.notion.com/p/3d4b28a97016818b9665e09a1fe873b1" TargetMode="Externa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pp.notion.com/p/3d4b28a97016815ba2a7ecfade37b97a" TargetMode="External"/><Relationship Id="rId3" Type="http://schemas.openxmlformats.org/officeDocument/2006/relationships/hyperlink" Target="https://app.notion.com/p/3d4b28a97016818b9665e09a1fe873b1" TargetMode="Externa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pp.notion.com/p/3d4b28a97016815ba2a7ecfade37b97a" TargetMode="External"/><Relationship Id="rId3" Type="http://schemas.openxmlformats.org/officeDocument/2006/relationships/hyperlink" Target="https://app.notion.com/p/3d4b28a97016818b9665e09a1fe873b1" TargetMode="Externa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pp.notion.com/p/3d4b28a97016815ba2a7ecfade37b97a" TargetMode="External"/><Relationship Id="rId3" Type="http://schemas.openxmlformats.org/officeDocument/2006/relationships/hyperlink" Target="https://app.notion.com/p/3d4b28a97016818b9665e09a1fe873b1" TargetMode="Externa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pp.notion.com/p/3d4b28a97016818b9665e09a1fe873b1" TargetMode="External"/><Relationship Id="rId3" Type="http://schemas.openxmlformats.org/officeDocument/2006/relationships/hyperlink" Target="https://colab.research.google.com/drive/10jl7g0qknxLUCGF1VddbqbVf43oef4oD" TargetMode="Externa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drive/1JgyHuz_RPeWgQf4aemqB0DSry_SvWkPV" TargetMode="External"/><Relationship Id="rId3" Type="http://schemas.openxmlformats.org/officeDocument/2006/relationships/hyperlink" Target="https://app.notion.com/p/3d4b28a97016818b9665e09a1fe873b1" TargetMode="Externa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drive/1q5CB7k9fdY9ylfqMDQgClVl4k_ogNJef" TargetMode="External"/><Relationship Id="rId3" Type="http://schemas.openxmlformats.org/officeDocument/2006/relationships/hyperlink" Target="https://app.notion.com/p/3d4b28a97016818b9665e09a1fe873b1" TargetMode="Externa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pp.notion.com/p/3d4b28a97016818b9665e09a1fe873b1" TargetMode="External"/><Relationship Id="rId3" Type="http://schemas.openxmlformats.org/officeDocument/2006/relationships/hyperlink" Target="https://colab.research.google.com/drive/1q5CB7k9fdY9ylfqMDQgClVl4k_ogNJef" TargetMode="External"/><Relationship Id="rId4" Type="http://schemas.openxmlformats.org/officeDocument/2006/relationships/hyperlink" Target="https://colab.research.google.com/drive/10jl7g0qknxLUCGF1VddbqbVf43oef4oD" TargetMode="Externa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drive/1Kus5at9casCE1rSVYUSZbEeiZpvNCkOE" TargetMode="External"/><Relationship Id="rId3" Type="http://schemas.openxmlformats.org/officeDocument/2006/relationships/hyperlink" Target="https://app.notion.com/p/3d4b28a97016818b9665e09a1fe873b1" TargetMode="Externa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drive/1x1PmNrAi1RffEsunQq52HzGmjpY1oj0G" TargetMode="External"/><Relationship Id="rId3" Type="http://schemas.openxmlformats.org/officeDocument/2006/relationships/hyperlink" Target="https://drive.google.com/drive/folders/1i8fHQYF3hnp1BWJmwvb-MOK8-7WWmjlI" TargetMode="Externa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pp.notion.com/p/3d4b28a9701681b08a4ecf17f2c617d5" TargetMode="External"/><Relationship Id="rId3" Type="http://schemas.openxmlformats.org/officeDocument/2006/relationships/hyperlink" Target="https://colab.research.google.com/drive/1x1PmNrAi1RffEsunQq52HzGmjpY1oj0G" TargetMode="Externa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pp.notion.com/p/3d4b28a9701681b08a4ecf17f2c617d5" TargetMode="External"/><Relationship Id="rId3" Type="http://schemas.openxmlformats.org/officeDocument/2006/relationships/hyperlink" Target="https://github.com/Abdulrahmansoliman/AI-SHEILD-MINI-CAPSTONE" TargetMode="External"/><Relationship Id="rId4"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600" cy="6858000"/>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58800" y="304800"/>
            <a:ext cx="10160000" cy="193040"/>
          </a:xfrm>
          <a:prstGeom prst="rect">
            <a:avLst/>
          </a:prstGeom>
          <a:noFill/>
        </p:spPr>
        <p:txBody>
          <a:bodyPr wrap="none" lIns="0" rIns="0" tIns="0" bIns="0" anchor="t">
            <a:spAutoFit/>
          </a:bodyPr>
          <a:lstStyle/>
          <a:p>
            <a:pPr algn="l">
              <a:lnSpc>
                <a:spcPts val="1220"/>
              </a:lnSpc>
              <a:spcBef>
                <a:spcPts val="0"/>
              </a:spcBef>
              <a:spcAft>
                <a:spcPts val="0"/>
              </a:spcAft>
            </a:pPr>
            <a:r>
              <a:rPr sz="1000" b="1">
                <a:solidFill>
                  <a:srgbClr val="00796B"/>
                </a:solidFill>
                <a:latin typeface="Arial"/>
              </a:rPr>
              <a:t>CAPSTONE / RESEARCH AND ENGINEERING</a:t>
            </a:r>
          </a:p>
        </p:txBody>
      </p:sp>
      <p:sp>
        <p:nvSpPr>
          <p:cNvPr id="5" name="TextBox 4"/>
          <p:cNvSpPr txBox="1"/>
          <p:nvPr/>
        </p:nvSpPr>
        <p:spPr>
          <a:xfrm>
            <a:off x="10947400" y="304800"/>
            <a:ext cx="736600" cy="193040"/>
          </a:xfrm>
          <a:prstGeom prst="rect">
            <a:avLst/>
          </a:prstGeom>
          <a:noFill/>
        </p:spPr>
        <p:txBody>
          <a:bodyPr wrap="none" lIns="0" rIns="0" tIns="0" bIns="0" anchor="t">
            <a:spAutoFit/>
          </a:bodyPr>
          <a:lstStyle/>
          <a:p>
            <a:pPr algn="l">
              <a:lnSpc>
                <a:spcPts val="1220"/>
              </a:lnSpc>
              <a:spcBef>
                <a:spcPts val="0"/>
              </a:spcBef>
              <a:spcAft>
                <a:spcPts val="0"/>
              </a:spcAft>
            </a:pPr>
            <a:r>
              <a:rPr sz="1000" b="0">
                <a:solidFill>
                  <a:srgbClr val="546966"/>
                </a:solidFill>
                <a:latin typeface="Arial"/>
              </a:rPr>
              <a:t>01 / 15</a:t>
            </a:r>
          </a:p>
        </p:txBody>
      </p:sp>
      <p:sp>
        <p:nvSpPr>
          <p:cNvPr id="6" name="TextBox 5"/>
          <p:cNvSpPr txBox="1"/>
          <p:nvPr/>
        </p:nvSpPr>
        <p:spPr>
          <a:xfrm>
            <a:off x="558800" y="762000"/>
            <a:ext cx="11074400" cy="502920"/>
          </a:xfrm>
          <a:prstGeom prst="rect">
            <a:avLst/>
          </a:prstGeom>
          <a:noFill/>
        </p:spPr>
        <p:txBody>
          <a:bodyPr wrap="none" lIns="0" rIns="0" tIns="0" bIns="0" anchor="t">
            <a:spAutoFit/>
          </a:bodyPr>
          <a:lstStyle/>
          <a:p>
            <a:pPr algn="l">
              <a:lnSpc>
                <a:spcPts val="3660"/>
              </a:lnSpc>
              <a:spcBef>
                <a:spcPts val="0"/>
              </a:spcBef>
              <a:spcAft>
                <a:spcPts val="0"/>
              </a:spcAft>
            </a:pPr>
            <a:r>
              <a:rPr sz="3000" b="1">
                <a:solidFill>
                  <a:srgbClr val="172C2B"/>
                </a:solidFill>
                <a:latin typeface="Arial"/>
              </a:rPr>
              <a:t>AI Shield</a:t>
            </a:r>
          </a:p>
        </p:txBody>
      </p:sp>
      <p:cxnSp>
        <p:nvCxnSpPr>
          <p:cNvPr id="7" name="Connector 6"/>
          <p:cNvCxnSpPr/>
          <p:nvPr/>
        </p:nvCxnSpPr>
        <p:spPr>
          <a:xfrm>
            <a:off x="558800" y="6375400"/>
            <a:ext cx="11074400" cy="0"/>
          </a:xfrm>
          <a:prstGeom prst="line">
            <a:avLst/>
          </a:prstGeom>
          <a:ln w="12700">
            <a:solidFill>
              <a:srgbClr val="DCE5E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58800" y="6540500"/>
            <a:ext cx="5080000" cy="169799"/>
          </a:xfrm>
          <a:prstGeom prst="rect">
            <a:avLst/>
          </a:prstGeom>
          <a:noFill/>
        </p:spPr>
        <p:txBody>
          <a:bodyPr wrap="none" lIns="0" rIns="0" tIns="0" bIns="0" anchor="t">
            <a:spAutoFit/>
          </a:bodyPr>
          <a:lstStyle/>
          <a:p>
            <a:pPr algn="l">
              <a:lnSpc>
                <a:spcPts val="1037"/>
              </a:lnSpc>
              <a:spcBef>
                <a:spcPts val="0"/>
              </a:spcBef>
              <a:spcAft>
                <a:spcPts val="0"/>
              </a:spcAft>
            </a:pPr>
            <a:r>
              <a:rPr sz="850" b="0">
                <a:solidFill>
                  <a:srgbClr val="546966"/>
                </a:solidFill>
                <a:latin typeface="Arial"/>
              </a:rPr>
              <a:t>AI SHIELD / ABDELRAHMAN SOLIMAN</a:t>
            </a:r>
          </a:p>
        </p:txBody>
      </p:sp>
      <p:sp>
        <p:nvSpPr>
          <p:cNvPr id="9" name="TextBox 8"/>
          <p:cNvSpPr txBox="1"/>
          <p:nvPr/>
        </p:nvSpPr>
        <p:spPr>
          <a:xfrm>
            <a:off x="7175500" y="6540500"/>
            <a:ext cx="1460500" cy="169799"/>
          </a:xfrm>
          <a:prstGeom prst="rect">
            <a:avLst/>
          </a:prstGeom>
          <a:noFill/>
        </p:spPr>
        <p:txBody>
          <a:bodyPr wrap="none" lIns="0" rIns="0" tIns="0" bIns="0" anchor="t">
            <a:spAutoFit/>
          </a:bodyPr>
          <a:lstStyle/>
          <a:p>
            <a:pPr algn="l">
              <a:lnSpc>
                <a:spcPts val="1037"/>
              </a:lnSpc>
              <a:spcBef>
                <a:spcPts val="0"/>
              </a:spcBef>
              <a:spcAft>
                <a:spcPts val="0"/>
              </a:spcAft>
            </a:pPr>
            <a:r>
              <a:rPr sz="850" b="0">
                <a:solidFill>
                  <a:srgbClr val="546966"/>
                </a:solidFill>
                <a:latin typeface="Arial"/>
                <a:hlinkClick r:id="rId2"/>
              </a:rPr>
              <a:t>Project notes</a:t>
            </a:r>
          </a:p>
        </p:txBody>
      </p:sp>
      <p:sp>
        <p:nvSpPr>
          <p:cNvPr id="10" name="TextBox 9"/>
          <p:cNvSpPr txBox="1"/>
          <p:nvPr/>
        </p:nvSpPr>
        <p:spPr>
          <a:xfrm>
            <a:off x="584200" y="1790700"/>
            <a:ext cx="5969000" cy="1060704"/>
          </a:xfrm>
          <a:prstGeom prst="rect">
            <a:avLst/>
          </a:prstGeom>
          <a:noFill/>
        </p:spPr>
        <p:txBody>
          <a:bodyPr wrap="none" lIns="0" rIns="0" tIns="0" bIns="0" anchor="t">
            <a:spAutoFit/>
          </a:bodyPr>
          <a:lstStyle/>
          <a:p>
            <a:pPr algn="l">
              <a:lnSpc>
                <a:spcPts val="4026"/>
              </a:lnSpc>
              <a:spcBef>
                <a:spcPts val="0"/>
              </a:spcBef>
              <a:spcAft>
                <a:spcPts val="0"/>
              </a:spcAft>
            </a:pPr>
            <a:r>
              <a:rPr sz="3300" b="1">
                <a:solidFill>
                  <a:srgbClr val="172C2B"/>
                </a:solidFill>
                <a:latin typeface="Arial"/>
              </a:rPr>
              <a:t>From image detection to</a:t>
            </a:r>
          </a:p>
          <a:p>
            <a:pPr algn="l">
              <a:lnSpc>
                <a:spcPts val="4026"/>
              </a:lnSpc>
              <a:spcBef>
                <a:spcPts val="0"/>
              </a:spcBef>
              <a:spcAft>
                <a:spcPts val="0"/>
              </a:spcAft>
            </a:pPr>
            <a:r>
              <a:rPr sz="3300" b="1">
                <a:solidFill>
                  <a:srgbClr val="172C2B"/>
                </a:solidFill>
                <a:latin typeface="Arial"/>
              </a:rPr>
              <a:t>evidence-aware verification</a:t>
            </a:r>
          </a:p>
        </p:txBody>
      </p:sp>
      <p:sp>
        <p:nvSpPr>
          <p:cNvPr id="11" name="TextBox 10"/>
          <p:cNvSpPr txBox="1"/>
          <p:nvPr/>
        </p:nvSpPr>
        <p:spPr>
          <a:xfrm>
            <a:off x="609600" y="3429000"/>
            <a:ext cx="5588000" cy="347980"/>
          </a:xfrm>
          <a:prstGeom prst="rect">
            <a:avLst/>
          </a:prstGeom>
          <a:noFill/>
        </p:spPr>
        <p:txBody>
          <a:bodyPr wrap="none" lIns="0" rIns="0" tIns="0" bIns="0" anchor="t">
            <a:spAutoFit/>
          </a:bodyPr>
          <a:lstStyle/>
          <a:p>
            <a:pPr algn="l">
              <a:lnSpc>
                <a:spcPts val="2440"/>
              </a:lnSpc>
              <a:spcBef>
                <a:spcPts val="0"/>
              </a:spcBef>
              <a:spcAft>
                <a:spcPts val="0"/>
              </a:spcAft>
            </a:pPr>
            <a:r>
              <a:rPr sz="2000" b="1">
                <a:solidFill>
                  <a:srgbClr val="00796B"/>
                </a:solidFill>
                <a:latin typeface="Arial"/>
              </a:rPr>
              <a:t>Abdelrahman Soliman</a:t>
            </a:r>
          </a:p>
        </p:txBody>
      </p:sp>
      <p:sp>
        <p:nvSpPr>
          <p:cNvPr id="12" name="TextBox 11"/>
          <p:cNvSpPr txBox="1"/>
          <p:nvPr/>
        </p:nvSpPr>
        <p:spPr>
          <a:xfrm>
            <a:off x="609600" y="3949700"/>
            <a:ext cx="5588000" cy="595884"/>
          </a:xfrm>
          <a:prstGeom prst="rect">
            <a:avLst/>
          </a:prstGeom>
          <a:noFill/>
        </p:spPr>
        <p:txBody>
          <a:bodyPr wrap="none" lIns="0" rIns="0" tIns="0" bIns="0" anchor="t">
            <a:spAutoFit/>
          </a:bodyPr>
          <a:lstStyle/>
          <a:p>
            <a:pPr algn="l">
              <a:lnSpc>
                <a:spcPts val="2196"/>
              </a:lnSpc>
              <a:spcBef>
                <a:spcPts val="0"/>
              </a:spcBef>
              <a:spcAft>
                <a:spcPts val="0"/>
              </a:spcAft>
            </a:pPr>
            <a:r>
              <a:rPr sz="1800" b="0">
                <a:solidFill>
                  <a:srgbClr val="546966"/>
                </a:solidFill>
                <a:latin typeface="Arial"/>
              </a:rPr>
              <a:t>A project story: what I built, what failed,</a:t>
            </a:r>
          </a:p>
          <a:p>
            <a:pPr algn="l">
              <a:lnSpc>
                <a:spcPts val="2196"/>
              </a:lnSpc>
              <a:spcBef>
                <a:spcPts val="0"/>
              </a:spcBef>
              <a:spcAft>
                <a:spcPts val="0"/>
              </a:spcAft>
            </a:pPr>
            <a:r>
              <a:rPr sz="1800" b="0">
                <a:solidFill>
                  <a:srgbClr val="546966"/>
                </a:solidFill>
                <a:latin typeface="Arial"/>
              </a:rPr>
              <a:t>what improved, and where the work stands.</a:t>
            </a:r>
          </a:p>
        </p:txBody>
      </p:sp>
      <p:sp>
        <p:nvSpPr>
          <p:cNvPr id="13" name="Rectangle 12"/>
          <p:cNvSpPr/>
          <p:nvPr/>
        </p:nvSpPr>
        <p:spPr>
          <a:xfrm>
            <a:off x="6985000" y="1816100"/>
            <a:ext cx="4648200" cy="3505200"/>
          </a:xfrm>
          <a:prstGeom prst="rect">
            <a:avLst/>
          </a:prstGeom>
          <a:solidFill>
            <a:srgbClr val="F2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89800" y="2095500"/>
            <a:ext cx="3810000" cy="239522"/>
          </a:xfrm>
          <a:prstGeom prst="rect">
            <a:avLst/>
          </a:prstGeom>
          <a:noFill/>
        </p:spPr>
        <p:txBody>
          <a:bodyPr wrap="none" lIns="0" rIns="0" tIns="0" bIns="0" anchor="t">
            <a:spAutoFit/>
          </a:bodyPr>
          <a:lstStyle/>
          <a:p>
            <a:pPr algn="l">
              <a:lnSpc>
                <a:spcPts val="1586"/>
              </a:lnSpc>
              <a:spcBef>
                <a:spcPts val="0"/>
              </a:spcBef>
              <a:spcAft>
                <a:spcPts val="0"/>
              </a:spcAft>
            </a:pPr>
            <a:r>
              <a:rPr sz="1300" b="1">
                <a:solidFill>
                  <a:srgbClr val="546966"/>
                </a:solidFill>
                <a:latin typeface="Arial"/>
              </a:rPr>
              <a:t>ONE IMAGE</a:t>
            </a:r>
          </a:p>
        </p:txBody>
      </p:sp>
      <p:sp>
        <p:nvSpPr>
          <p:cNvPr id="15" name="Rectangle 14"/>
          <p:cNvSpPr/>
          <p:nvPr/>
        </p:nvSpPr>
        <p:spPr>
          <a:xfrm>
            <a:off x="7302500" y="2603500"/>
            <a:ext cx="4000500" cy="812800"/>
          </a:xfrm>
          <a:prstGeom prst="rect">
            <a:avLst/>
          </a:prstGeom>
          <a:solidFill>
            <a:srgbClr val="DF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56500" y="2844800"/>
            <a:ext cx="3492500" cy="347980"/>
          </a:xfrm>
          <a:prstGeom prst="rect">
            <a:avLst/>
          </a:prstGeom>
          <a:noFill/>
        </p:spPr>
        <p:txBody>
          <a:bodyPr wrap="none" lIns="0" rIns="0" tIns="0" bIns="0" anchor="t">
            <a:spAutoFit/>
          </a:bodyPr>
          <a:lstStyle/>
          <a:p>
            <a:pPr algn="l">
              <a:lnSpc>
                <a:spcPts val="2440"/>
              </a:lnSpc>
              <a:spcBef>
                <a:spcPts val="0"/>
              </a:spcBef>
              <a:spcAft>
                <a:spcPts val="0"/>
              </a:spcAft>
            </a:pPr>
            <a:r>
              <a:rPr sz="2000" b="1">
                <a:solidFill>
                  <a:srgbClr val="00796B"/>
                </a:solidFill>
                <a:latin typeface="Arial"/>
              </a:rPr>
              <a:t>AI-generation detection</a:t>
            </a:r>
          </a:p>
        </p:txBody>
      </p:sp>
      <p:sp>
        <p:nvSpPr>
          <p:cNvPr id="17" name="Rectangle 16"/>
          <p:cNvSpPr/>
          <p:nvPr/>
        </p:nvSpPr>
        <p:spPr>
          <a:xfrm>
            <a:off x="7302500" y="3619500"/>
            <a:ext cx="4000500" cy="1104900"/>
          </a:xfrm>
          <a:prstGeom prst="rect">
            <a:avLst/>
          </a:prstGeom>
          <a:solidFill>
            <a:srgbClr val="FFFFFF"/>
          </a:solidFill>
          <a:ln w="9525">
            <a:solidFill>
              <a:srgbClr val="DCE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56500" y="3835400"/>
            <a:ext cx="3492500" cy="657860"/>
          </a:xfrm>
          <a:prstGeom prst="rect">
            <a:avLst/>
          </a:prstGeom>
          <a:noFill/>
        </p:spPr>
        <p:txBody>
          <a:bodyPr wrap="none" lIns="0" rIns="0" tIns="0" bIns="0" anchor="t">
            <a:spAutoFit/>
          </a:bodyPr>
          <a:lstStyle/>
          <a:p>
            <a:pPr algn="l">
              <a:lnSpc>
                <a:spcPts val="2440"/>
              </a:lnSpc>
              <a:spcBef>
                <a:spcPts val="0"/>
              </a:spcBef>
              <a:spcAft>
                <a:spcPts val="0"/>
              </a:spcAft>
            </a:pPr>
            <a:r>
              <a:rPr sz="2000" b="1">
                <a:solidFill>
                  <a:srgbClr val="172C2B"/>
                </a:solidFill>
                <a:latin typeface="Arial"/>
              </a:rPr>
              <a:t>Recorded origin and</a:t>
            </a:r>
          </a:p>
          <a:p>
            <a:pPr algn="l">
              <a:lnSpc>
                <a:spcPts val="2440"/>
              </a:lnSpc>
              <a:spcBef>
                <a:spcPts val="0"/>
              </a:spcBef>
              <a:spcAft>
                <a:spcPts val="0"/>
              </a:spcAft>
            </a:pPr>
            <a:r>
              <a:rPr sz="2000" b="1">
                <a:solidFill>
                  <a:srgbClr val="172C2B"/>
                </a:solidFill>
                <a:latin typeface="Arial"/>
              </a:rPr>
              <a:t>editing evidence</a:t>
            </a:r>
          </a:p>
        </p:txBody>
      </p:sp>
      <p:sp>
        <p:nvSpPr>
          <p:cNvPr id="19" name="TextBox 18"/>
          <p:cNvSpPr txBox="1"/>
          <p:nvPr/>
        </p:nvSpPr>
        <p:spPr>
          <a:xfrm>
            <a:off x="609600" y="5740400"/>
            <a:ext cx="10795000" cy="301498"/>
          </a:xfrm>
          <a:prstGeom prst="rect">
            <a:avLst/>
          </a:prstGeom>
          <a:noFill/>
        </p:spPr>
        <p:txBody>
          <a:bodyPr wrap="none" lIns="0" rIns="0" tIns="0" bIns="0" anchor="t">
            <a:spAutoFit/>
          </a:bodyPr>
          <a:lstStyle/>
          <a:p>
            <a:pPr algn="l">
              <a:lnSpc>
                <a:spcPts val="2074"/>
              </a:lnSpc>
              <a:spcBef>
                <a:spcPts val="0"/>
              </a:spcBef>
              <a:spcAft>
                <a:spcPts val="0"/>
              </a:spcAft>
            </a:pPr>
            <a:r>
              <a:rPr sz="1700" b="0">
                <a:solidFill>
                  <a:srgbClr val="546966"/>
                </a:solidFill>
                <a:latin typeface="Arial"/>
              </a:rPr>
              <a:t>Research evidence, followed by a working local service.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600" cy="6858000"/>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58800" y="304800"/>
            <a:ext cx="10160000" cy="193040"/>
          </a:xfrm>
          <a:prstGeom prst="rect">
            <a:avLst/>
          </a:prstGeom>
          <a:noFill/>
        </p:spPr>
        <p:txBody>
          <a:bodyPr wrap="none" lIns="0" rIns="0" tIns="0" bIns="0" anchor="t">
            <a:spAutoFit/>
          </a:bodyPr>
          <a:lstStyle/>
          <a:p>
            <a:pPr algn="l">
              <a:lnSpc>
                <a:spcPts val="1220"/>
              </a:lnSpc>
              <a:spcBef>
                <a:spcPts val="0"/>
              </a:spcBef>
              <a:spcAft>
                <a:spcPts val="0"/>
              </a:spcAft>
            </a:pPr>
            <a:r>
              <a:rPr sz="1000" b="1">
                <a:solidFill>
                  <a:srgbClr val="00796B"/>
                </a:solidFill>
                <a:latin typeface="Arial"/>
              </a:rPr>
              <a:t>RESEARCH QUESTION</a:t>
            </a:r>
          </a:p>
        </p:txBody>
      </p:sp>
      <p:sp>
        <p:nvSpPr>
          <p:cNvPr id="5" name="TextBox 4"/>
          <p:cNvSpPr txBox="1"/>
          <p:nvPr/>
        </p:nvSpPr>
        <p:spPr>
          <a:xfrm>
            <a:off x="10947400" y="304800"/>
            <a:ext cx="736600" cy="193040"/>
          </a:xfrm>
          <a:prstGeom prst="rect">
            <a:avLst/>
          </a:prstGeom>
          <a:noFill/>
        </p:spPr>
        <p:txBody>
          <a:bodyPr wrap="none" lIns="0" rIns="0" tIns="0" bIns="0" anchor="t">
            <a:spAutoFit/>
          </a:bodyPr>
          <a:lstStyle/>
          <a:p>
            <a:pPr algn="l">
              <a:lnSpc>
                <a:spcPts val="1220"/>
              </a:lnSpc>
              <a:spcBef>
                <a:spcPts val="0"/>
              </a:spcBef>
              <a:spcAft>
                <a:spcPts val="0"/>
              </a:spcAft>
            </a:pPr>
            <a:r>
              <a:rPr sz="1000" b="0">
                <a:solidFill>
                  <a:srgbClr val="546966"/>
                </a:solidFill>
                <a:latin typeface="Arial"/>
              </a:rPr>
              <a:t>02 / 15</a:t>
            </a:r>
          </a:p>
        </p:txBody>
      </p:sp>
      <p:sp>
        <p:nvSpPr>
          <p:cNvPr id="6" name="TextBox 5"/>
          <p:cNvSpPr txBox="1"/>
          <p:nvPr/>
        </p:nvSpPr>
        <p:spPr>
          <a:xfrm>
            <a:off x="558800" y="762000"/>
            <a:ext cx="11074400" cy="502920"/>
          </a:xfrm>
          <a:prstGeom prst="rect">
            <a:avLst/>
          </a:prstGeom>
          <a:noFill/>
        </p:spPr>
        <p:txBody>
          <a:bodyPr wrap="none" lIns="0" rIns="0" tIns="0" bIns="0" anchor="t">
            <a:spAutoFit/>
          </a:bodyPr>
          <a:lstStyle/>
          <a:p>
            <a:pPr algn="l">
              <a:lnSpc>
                <a:spcPts val="3660"/>
              </a:lnSpc>
              <a:spcBef>
                <a:spcPts val="0"/>
              </a:spcBef>
              <a:spcAft>
                <a:spcPts val="0"/>
              </a:spcAft>
            </a:pPr>
            <a:r>
              <a:rPr sz="3000" b="1">
                <a:solidFill>
                  <a:srgbClr val="172C2B"/>
                </a:solidFill>
                <a:latin typeface="Arial"/>
              </a:rPr>
              <a:t>Can the prediction survive a change in source?</a:t>
            </a:r>
          </a:p>
        </p:txBody>
      </p:sp>
      <p:sp>
        <p:nvSpPr>
          <p:cNvPr id="7" name="TextBox 6"/>
          <p:cNvSpPr txBox="1"/>
          <p:nvPr/>
        </p:nvSpPr>
        <p:spPr>
          <a:xfrm>
            <a:off x="584200" y="1409700"/>
            <a:ext cx="11049000" cy="255015"/>
          </a:xfrm>
          <a:prstGeom prst="rect">
            <a:avLst/>
          </a:prstGeom>
          <a:noFill/>
        </p:spPr>
        <p:txBody>
          <a:bodyPr wrap="none" lIns="0" rIns="0" tIns="0" bIns="0" anchor="t">
            <a:spAutoFit/>
          </a:bodyPr>
          <a:lstStyle/>
          <a:p>
            <a:pPr algn="l">
              <a:lnSpc>
                <a:spcPts val="1707"/>
              </a:lnSpc>
              <a:spcBef>
                <a:spcPts val="0"/>
              </a:spcBef>
              <a:spcAft>
                <a:spcPts val="0"/>
              </a:spcAft>
            </a:pPr>
            <a:r>
              <a:rPr sz="1400" b="0">
                <a:solidFill>
                  <a:srgbClr val="546966"/>
                </a:solidFill>
                <a:latin typeface="Arial"/>
              </a:rPr>
              <a:t>The goal expanded from a classifier to an evidence-aware verification tool.</a:t>
            </a:r>
          </a:p>
        </p:txBody>
      </p:sp>
      <p:cxnSp>
        <p:nvCxnSpPr>
          <p:cNvPr id="8" name="Connector 7"/>
          <p:cNvCxnSpPr/>
          <p:nvPr/>
        </p:nvCxnSpPr>
        <p:spPr>
          <a:xfrm>
            <a:off x="558800" y="6375400"/>
            <a:ext cx="11074400" cy="0"/>
          </a:xfrm>
          <a:prstGeom prst="line">
            <a:avLst/>
          </a:prstGeom>
          <a:ln w="12700">
            <a:solidFill>
              <a:srgbClr val="DCE5E2"/>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58800" y="6540500"/>
            <a:ext cx="5080000" cy="169799"/>
          </a:xfrm>
          <a:prstGeom prst="rect">
            <a:avLst/>
          </a:prstGeom>
          <a:noFill/>
        </p:spPr>
        <p:txBody>
          <a:bodyPr wrap="none" lIns="0" rIns="0" tIns="0" bIns="0" anchor="t">
            <a:spAutoFit/>
          </a:bodyPr>
          <a:lstStyle/>
          <a:p>
            <a:pPr algn="l">
              <a:lnSpc>
                <a:spcPts val="1037"/>
              </a:lnSpc>
              <a:spcBef>
                <a:spcPts val="0"/>
              </a:spcBef>
              <a:spcAft>
                <a:spcPts val="0"/>
              </a:spcAft>
            </a:pPr>
            <a:r>
              <a:rPr sz="850" b="0">
                <a:solidFill>
                  <a:srgbClr val="546966"/>
                </a:solidFill>
                <a:latin typeface="Arial"/>
              </a:rPr>
              <a:t>AI SHIELD / ABDELRAHMAN SOLIMAN</a:t>
            </a:r>
          </a:p>
        </p:txBody>
      </p:sp>
      <p:sp>
        <p:nvSpPr>
          <p:cNvPr id="10" name="TextBox 9"/>
          <p:cNvSpPr txBox="1"/>
          <p:nvPr/>
        </p:nvSpPr>
        <p:spPr>
          <a:xfrm>
            <a:off x="7175500" y="6540500"/>
            <a:ext cx="1460500" cy="169799"/>
          </a:xfrm>
          <a:prstGeom prst="rect">
            <a:avLst/>
          </a:prstGeom>
          <a:noFill/>
        </p:spPr>
        <p:txBody>
          <a:bodyPr wrap="none" lIns="0" rIns="0" tIns="0" bIns="0" anchor="t">
            <a:spAutoFit/>
          </a:bodyPr>
          <a:lstStyle/>
          <a:p>
            <a:pPr algn="l">
              <a:lnSpc>
                <a:spcPts val="1037"/>
              </a:lnSpc>
              <a:spcBef>
                <a:spcPts val="0"/>
              </a:spcBef>
              <a:spcAft>
                <a:spcPts val="0"/>
              </a:spcAft>
            </a:pPr>
            <a:r>
              <a:rPr sz="850" b="0">
                <a:solidFill>
                  <a:srgbClr val="546966"/>
                </a:solidFill>
                <a:latin typeface="Arial"/>
                <a:hlinkClick r:id="rId2"/>
              </a:rPr>
              <a:t>Project notes</a:t>
            </a:r>
          </a:p>
        </p:txBody>
      </p:sp>
      <p:sp>
        <p:nvSpPr>
          <p:cNvPr id="11" name="TextBox 10"/>
          <p:cNvSpPr txBox="1"/>
          <p:nvPr/>
        </p:nvSpPr>
        <p:spPr>
          <a:xfrm>
            <a:off x="558800" y="2273300"/>
            <a:ext cx="3429000" cy="626872"/>
          </a:xfrm>
          <a:prstGeom prst="rect">
            <a:avLst/>
          </a:prstGeom>
          <a:noFill/>
        </p:spPr>
        <p:txBody>
          <a:bodyPr wrap="none" lIns="0" rIns="0" tIns="0" bIns="0" anchor="t">
            <a:spAutoFit/>
          </a:bodyPr>
          <a:lstStyle/>
          <a:p>
            <a:pPr algn="l">
              <a:lnSpc>
                <a:spcPts val="4636"/>
              </a:lnSpc>
              <a:spcBef>
                <a:spcPts val="0"/>
              </a:spcBef>
              <a:spcAft>
                <a:spcPts val="0"/>
              </a:spcAft>
            </a:pPr>
            <a:r>
              <a:rPr sz="3800" b="1">
                <a:solidFill>
                  <a:srgbClr val="00796B"/>
                </a:solidFill>
                <a:latin typeface="Arial"/>
              </a:rPr>
              <a:t>01</a:t>
            </a:r>
          </a:p>
        </p:txBody>
      </p:sp>
      <p:cxnSp>
        <p:nvCxnSpPr>
          <p:cNvPr id="12" name="Connector 11"/>
          <p:cNvCxnSpPr/>
          <p:nvPr/>
        </p:nvCxnSpPr>
        <p:spPr>
          <a:xfrm>
            <a:off x="558800" y="3009900"/>
            <a:ext cx="3378200" cy="0"/>
          </a:xfrm>
          <a:prstGeom prst="line">
            <a:avLst/>
          </a:prstGeom>
          <a:ln w="12700">
            <a:solidFill>
              <a:srgbClr val="DCE5E2"/>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58800" y="3276600"/>
            <a:ext cx="3378200" cy="394462"/>
          </a:xfrm>
          <a:prstGeom prst="rect">
            <a:avLst/>
          </a:prstGeom>
          <a:noFill/>
        </p:spPr>
        <p:txBody>
          <a:bodyPr wrap="none" lIns="0" rIns="0" tIns="0" bIns="0" anchor="t">
            <a:spAutoFit/>
          </a:bodyPr>
          <a:lstStyle/>
          <a:p>
            <a:pPr algn="l">
              <a:lnSpc>
                <a:spcPts val="2806"/>
              </a:lnSpc>
              <a:spcBef>
                <a:spcPts val="0"/>
              </a:spcBef>
              <a:spcAft>
                <a:spcPts val="0"/>
              </a:spcAft>
            </a:pPr>
            <a:r>
              <a:rPr sz="2300" b="1">
                <a:solidFill>
                  <a:srgbClr val="172C2B"/>
                </a:solidFill>
                <a:latin typeface="Arial"/>
              </a:rPr>
              <a:t>Detect</a:t>
            </a:r>
          </a:p>
        </p:txBody>
      </p:sp>
      <p:sp>
        <p:nvSpPr>
          <p:cNvPr id="14" name="TextBox 13"/>
          <p:cNvSpPr txBox="1"/>
          <p:nvPr/>
        </p:nvSpPr>
        <p:spPr>
          <a:xfrm>
            <a:off x="558800" y="3886200"/>
            <a:ext cx="3378200" cy="921257"/>
          </a:xfrm>
          <a:prstGeom prst="rect">
            <a:avLst/>
          </a:prstGeom>
          <a:noFill/>
        </p:spPr>
        <p:txBody>
          <a:bodyPr wrap="none" lIns="0" rIns="0" tIns="0" bIns="0" anchor="t">
            <a:spAutoFit/>
          </a:bodyPr>
          <a:lstStyle/>
          <a:p>
            <a:pPr algn="l">
              <a:lnSpc>
                <a:spcPts val="2318"/>
              </a:lnSpc>
              <a:spcBef>
                <a:spcPts val="0"/>
              </a:spcBef>
              <a:spcAft>
                <a:spcPts val="0"/>
              </a:spcAft>
            </a:pPr>
            <a:r>
              <a:rPr sz="1900" b="0">
                <a:solidFill>
                  <a:srgbClr val="546966"/>
                </a:solidFill>
                <a:latin typeface="Arial"/>
              </a:rPr>
              <a:t>Estimate whether an image</a:t>
            </a:r>
          </a:p>
          <a:p>
            <a:pPr algn="l">
              <a:lnSpc>
                <a:spcPts val="2318"/>
              </a:lnSpc>
              <a:spcBef>
                <a:spcPts val="0"/>
              </a:spcBef>
              <a:spcAft>
                <a:spcPts val="0"/>
              </a:spcAft>
            </a:pPr>
            <a:r>
              <a:rPr sz="1900" b="0">
                <a:solidFill>
                  <a:srgbClr val="546966"/>
                </a:solidFill>
                <a:latin typeface="Arial"/>
              </a:rPr>
              <a:t>shows visual evidence of AI</a:t>
            </a:r>
          </a:p>
          <a:p>
            <a:pPr algn="l">
              <a:lnSpc>
                <a:spcPts val="2318"/>
              </a:lnSpc>
              <a:spcBef>
                <a:spcPts val="0"/>
              </a:spcBef>
              <a:spcAft>
                <a:spcPts val="0"/>
              </a:spcAft>
            </a:pPr>
            <a:r>
              <a:rPr sz="1900" b="0">
                <a:solidFill>
                  <a:srgbClr val="546966"/>
                </a:solidFill>
                <a:latin typeface="Arial"/>
              </a:rPr>
              <a:t>generation.</a:t>
            </a:r>
          </a:p>
        </p:txBody>
      </p:sp>
      <p:sp>
        <p:nvSpPr>
          <p:cNvPr id="15" name="TextBox 14"/>
          <p:cNvSpPr txBox="1"/>
          <p:nvPr/>
        </p:nvSpPr>
        <p:spPr>
          <a:xfrm>
            <a:off x="4368800" y="2273300"/>
            <a:ext cx="3429000" cy="626872"/>
          </a:xfrm>
          <a:prstGeom prst="rect">
            <a:avLst/>
          </a:prstGeom>
          <a:noFill/>
        </p:spPr>
        <p:txBody>
          <a:bodyPr wrap="none" lIns="0" rIns="0" tIns="0" bIns="0" anchor="t">
            <a:spAutoFit/>
          </a:bodyPr>
          <a:lstStyle/>
          <a:p>
            <a:pPr algn="l">
              <a:lnSpc>
                <a:spcPts val="4636"/>
              </a:lnSpc>
              <a:spcBef>
                <a:spcPts val="0"/>
              </a:spcBef>
              <a:spcAft>
                <a:spcPts val="0"/>
              </a:spcAft>
            </a:pPr>
            <a:r>
              <a:rPr sz="3800" b="1">
                <a:solidFill>
                  <a:srgbClr val="00796B"/>
                </a:solidFill>
                <a:latin typeface="Arial"/>
              </a:rPr>
              <a:t>02</a:t>
            </a:r>
          </a:p>
        </p:txBody>
      </p:sp>
      <p:cxnSp>
        <p:nvCxnSpPr>
          <p:cNvPr id="16" name="Connector 15"/>
          <p:cNvCxnSpPr/>
          <p:nvPr/>
        </p:nvCxnSpPr>
        <p:spPr>
          <a:xfrm>
            <a:off x="4368800" y="3009900"/>
            <a:ext cx="3378200" cy="0"/>
          </a:xfrm>
          <a:prstGeom prst="line">
            <a:avLst/>
          </a:prstGeom>
          <a:ln w="12700">
            <a:solidFill>
              <a:srgbClr val="DCE5E2"/>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368800" y="3276600"/>
            <a:ext cx="3378200" cy="394462"/>
          </a:xfrm>
          <a:prstGeom prst="rect">
            <a:avLst/>
          </a:prstGeom>
          <a:noFill/>
        </p:spPr>
        <p:txBody>
          <a:bodyPr wrap="none" lIns="0" rIns="0" tIns="0" bIns="0" anchor="t">
            <a:spAutoFit/>
          </a:bodyPr>
          <a:lstStyle/>
          <a:p>
            <a:pPr algn="l">
              <a:lnSpc>
                <a:spcPts val="2806"/>
              </a:lnSpc>
              <a:spcBef>
                <a:spcPts val="0"/>
              </a:spcBef>
              <a:spcAft>
                <a:spcPts val="0"/>
              </a:spcAft>
            </a:pPr>
            <a:r>
              <a:rPr sz="2300" b="1">
                <a:solidFill>
                  <a:srgbClr val="172C2B"/>
                </a:solidFill>
                <a:latin typeface="Arial"/>
              </a:rPr>
              <a:t>Generalize</a:t>
            </a:r>
          </a:p>
        </p:txBody>
      </p:sp>
      <p:sp>
        <p:nvSpPr>
          <p:cNvPr id="18" name="TextBox 17"/>
          <p:cNvSpPr txBox="1"/>
          <p:nvPr/>
        </p:nvSpPr>
        <p:spPr>
          <a:xfrm>
            <a:off x="4368800" y="3886200"/>
            <a:ext cx="3378200" cy="921257"/>
          </a:xfrm>
          <a:prstGeom prst="rect">
            <a:avLst/>
          </a:prstGeom>
          <a:noFill/>
        </p:spPr>
        <p:txBody>
          <a:bodyPr wrap="none" lIns="0" rIns="0" tIns="0" bIns="0" anchor="t">
            <a:spAutoFit/>
          </a:bodyPr>
          <a:lstStyle/>
          <a:p>
            <a:pPr algn="l">
              <a:lnSpc>
                <a:spcPts val="2318"/>
              </a:lnSpc>
              <a:spcBef>
                <a:spcPts val="0"/>
              </a:spcBef>
              <a:spcAft>
                <a:spcPts val="0"/>
              </a:spcAft>
            </a:pPr>
            <a:r>
              <a:rPr sz="1900" b="0">
                <a:solidFill>
                  <a:srgbClr val="546966"/>
                </a:solidFill>
                <a:latin typeface="Arial"/>
              </a:rPr>
              <a:t>Test on new generators and</a:t>
            </a:r>
          </a:p>
          <a:p>
            <a:pPr algn="l">
              <a:lnSpc>
                <a:spcPts val="2318"/>
              </a:lnSpc>
              <a:spcBef>
                <a:spcPts val="0"/>
              </a:spcBef>
              <a:spcAft>
                <a:spcPts val="0"/>
              </a:spcAft>
            </a:pPr>
            <a:r>
              <a:rPr sz="1900" b="0">
                <a:solidFill>
                  <a:srgbClr val="546966"/>
                </a:solidFill>
                <a:latin typeface="Arial"/>
              </a:rPr>
              <a:t>image sources, not only</a:t>
            </a:r>
          </a:p>
          <a:p>
            <a:pPr algn="l">
              <a:lnSpc>
                <a:spcPts val="2318"/>
              </a:lnSpc>
              <a:spcBef>
                <a:spcPts val="0"/>
              </a:spcBef>
              <a:spcAft>
                <a:spcPts val="0"/>
              </a:spcAft>
            </a:pPr>
            <a:r>
              <a:rPr sz="1900" b="0">
                <a:solidFill>
                  <a:srgbClr val="546966"/>
                </a:solidFill>
                <a:latin typeface="Arial"/>
              </a:rPr>
              <a:t>familiar examples.</a:t>
            </a:r>
          </a:p>
        </p:txBody>
      </p:sp>
      <p:sp>
        <p:nvSpPr>
          <p:cNvPr id="19" name="TextBox 18"/>
          <p:cNvSpPr txBox="1"/>
          <p:nvPr/>
        </p:nvSpPr>
        <p:spPr>
          <a:xfrm>
            <a:off x="8178800" y="2273300"/>
            <a:ext cx="3429000" cy="626872"/>
          </a:xfrm>
          <a:prstGeom prst="rect">
            <a:avLst/>
          </a:prstGeom>
          <a:noFill/>
        </p:spPr>
        <p:txBody>
          <a:bodyPr wrap="none" lIns="0" rIns="0" tIns="0" bIns="0" anchor="t">
            <a:spAutoFit/>
          </a:bodyPr>
          <a:lstStyle/>
          <a:p>
            <a:pPr algn="l">
              <a:lnSpc>
                <a:spcPts val="4636"/>
              </a:lnSpc>
              <a:spcBef>
                <a:spcPts val="0"/>
              </a:spcBef>
              <a:spcAft>
                <a:spcPts val="0"/>
              </a:spcAft>
            </a:pPr>
            <a:r>
              <a:rPr sz="3800" b="1">
                <a:solidFill>
                  <a:srgbClr val="00796B"/>
                </a:solidFill>
                <a:latin typeface="Arial"/>
              </a:rPr>
              <a:t>03</a:t>
            </a:r>
          </a:p>
        </p:txBody>
      </p:sp>
      <p:cxnSp>
        <p:nvCxnSpPr>
          <p:cNvPr id="20" name="Connector 19"/>
          <p:cNvCxnSpPr/>
          <p:nvPr/>
        </p:nvCxnSpPr>
        <p:spPr>
          <a:xfrm>
            <a:off x="8178800" y="3009900"/>
            <a:ext cx="3378200" cy="0"/>
          </a:xfrm>
          <a:prstGeom prst="line">
            <a:avLst/>
          </a:prstGeom>
          <a:ln w="12700">
            <a:solidFill>
              <a:srgbClr val="DCE5E2"/>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178800" y="3276600"/>
            <a:ext cx="3378200" cy="394462"/>
          </a:xfrm>
          <a:prstGeom prst="rect">
            <a:avLst/>
          </a:prstGeom>
          <a:noFill/>
        </p:spPr>
        <p:txBody>
          <a:bodyPr wrap="none" lIns="0" rIns="0" tIns="0" bIns="0" anchor="t">
            <a:spAutoFit/>
          </a:bodyPr>
          <a:lstStyle/>
          <a:p>
            <a:pPr algn="l">
              <a:lnSpc>
                <a:spcPts val="2806"/>
              </a:lnSpc>
              <a:spcBef>
                <a:spcPts val="0"/>
              </a:spcBef>
              <a:spcAft>
                <a:spcPts val="0"/>
              </a:spcAft>
            </a:pPr>
            <a:r>
              <a:rPr sz="2300" b="1">
                <a:solidFill>
                  <a:srgbClr val="172C2B"/>
                </a:solidFill>
                <a:latin typeface="Arial"/>
              </a:rPr>
              <a:t>Explain evidence</a:t>
            </a:r>
          </a:p>
        </p:txBody>
      </p:sp>
      <p:sp>
        <p:nvSpPr>
          <p:cNvPr id="22" name="TextBox 21"/>
          <p:cNvSpPr txBox="1"/>
          <p:nvPr/>
        </p:nvSpPr>
        <p:spPr>
          <a:xfrm>
            <a:off x="8178800" y="3886200"/>
            <a:ext cx="3378200" cy="626872"/>
          </a:xfrm>
          <a:prstGeom prst="rect">
            <a:avLst/>
          </a:prstGeom>
          <a:noFill/>
        </p:spPr>
        <p:txBody>
          <a:bodyPr wrap="none" lIns="0" rIns="0" tIns="0" bIns="0" anchor="t">
            <a:spAutoFit/>
          </a:bodyPr>
          <a:lstStyle/>
          <a:p>
            <a:pPr algn="l">
              <a:lnSpc>
                <a:spcPts val="2318"/>
              </a:lnSpc>
              <a:spcBef>
                <a:spcPts val="0"/>
              </a:spcBef>
              <a:spcAft>
                <a:spcPts val="0"/>
              </a:spcAft>
            </a:pPr>
            <a:r>
              <a:rPr sz="1900" b="0">
                <a:solidFill>
                  <a:srgbClr val="546966"/>
                </a:solidFill>
                <a:latin typeface="Arial"/>
              </a:rPr>
              <a:t>Show available camera, editing</a:t>
            </a:r>
          </a:p>
          <a:p>
            <a:pPr algn="l">
              <a:lnSpc>
                <a:spcPts val="2318"/>
              </a:lnSpc>
              <a:spcBef>
                <a:spcPts val="0"/>
              </a:spcBef>
              <a:spcAft>
                <a:spcPts val="0"/>
              </a:spcAft>
            </a:pPr>
            <a:r>
              <a:rPr sz="1900" b="0">
                <a:solidFill>
                  <a:srgbClr val="546966"/>
                </a:solidFill>
                <a:latin typeface="Arial"/>
              </a:rPr>
              <a:t>and signed-history information.</a:t>
            </a:r>
          </a:p>
        </p:txBody>
      </p:sp>
      <p:sp>
        <p:nvSpPr>
          <p:cNvPr id="23" name="Rectangle 22"/>
          <p:cNvSpPr/>
          <p:nvPr/>
        </p:nvSpPr>
        <p:spPr>
          <a:xfrm>
            <a:off x="558800" y="5588000"/>
            <a:ext cx="11074400" cy="571500"/>
          </a:xfrm>
          <a:prstGeom prst="rect">
            <a:avLst/>
          </a:prstGeom>
          <a:solidFill>
            <a:srgbClr val="DF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2000" y="5727700"/>
            <a:ext cx="10668000" cy="301498"/>
          </a:xfrm>
          <a:prstGeom prst="rect">
            <a:avLst/>
          </a:prstGeom>
          <a:noFill/>
        </p:spPr>
        <p:txBody>
          <a:bodyPr wrap="none" lIns="0" rIns="0" tIns="0" bIns="0" anchor="t">
            <a:spAutoFit/>
          </a:bodyPr>
          <a:lstStyle/>
          <a:p>
            <a:pPr algn="l">
              <a:lnSpc>
                <a:spcPts val="2074"/>
              </a:lnSpc>
              <a:spcBef>
                <a:spcPts val="0"/>
              </a:spcBef>
              <a:spcAft>
                <a:spcPts val="0"/>
              </a:spcAft>
            </a:pPr>
            <a:r>
              <a:rPr sz="1700" b="1">
                <a:solidFill>
                  <a:srgbClr val="00796B"/>
                </a:solidFill>
                <a:latin typeface="Arial"/>
              </a:rPr>
              <a:t>An AI score is a prediction. Recorded history is separate evidence.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600" cy="6858000"/>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58800" y="304800"/>
            <a:ext cx="10160000" cy="193040"/>
          </a:xfrm>
          <a:prstGeom prst="rect">
            <a:avLst/>
          </a:prstGeom>
          <a:noFill/>
        </p:spPr>
        <p:txBody>
          <a:bodyPr wrap="none" lIns="0" rIns="0" tIns="0" bIns="0" anchor="t">
            <a:spAutoFit/>
          </a:bodyPr>
          <a:lstStyle/>
          <a:p>
            <a:pPr algn="l">
              <a:lnSpc>
                <a:spcPts val="1220"/>
              </a:lnSpc>
              <a:spcBef>
                <a:spcPts val="0"/>
              </a:spcBef>
              <a:spcAft>
                <a:spcPts val="0"/>
              </a:spcAft>
            </a:pPr>
            <a:r>
              <a:rPr sz="1000" b="1">
                <a:solidFill>
                  <a:srgbClr val="00796B"/>
                </a:solidFill>
                <a:latin typeface="Arial"/>
              </a:rPr>
              <a:t>PROJECT JOURNEY</a:t>
            </a:r>
          </a:p>
        </p:txBody>
      </p:sp>
      <p:sp>
        <p:nvSpPr>
          <p:cNvPr id="5" name="TextBox 4"/>
          <p:cNvSpPr txBox="1"/>
          <p:nvPr/>
        </p:nvSpPr>
        <p:spPr>
          <a:xfrm>
            <a:off x="10947400" y="304800"/>
            <a:ext cx="736600" cy="193040"/>
          </a:xfrm>
          <a:prstGeom prst="rect">
            <a:avLst/>
          </a:prstGeom>
          <a:noFill/>
        </p:spPr>
        <p:txBody>
          <a:bodyPr wrap="none" lIns="0" rIns="0" tIns="0" bIns="0" anchor="t">
            <a:spAutoFit/>
          </a:bodyPr>
          <a:lstStyle/>
          <a:p>
            <a:pPr algn="l">
              <a:lnSpc>
                <a:spcPts val="1220"/>
              </a:lnSpc>
              <a:spcBef>
                <a:spcPts val="0"/>
              </a:spcBef>
              <a:spcAft>
                <a:spcPts val="0"/>
              </a:spcAft>
            </a:pPr>
            <a:r>
              <a:rPr sz="1000" b="0">
                <a:solidFill>
                  <a:srgbClr val="546966"/>
                </a:solidFill>
                <a:latin typeface="Arial"/>
              </a:rPr>
              <a:t>03 / 15</a:t>
            </a:r>
          </a:p>
        </p:txBody>
      </p:sp>
      <p:sp>
        <p:nvSpPr>
          <p:cNvPr id="6" name="TextBox 5"/>
          <p:cNvSpPr txBox="1"/>
          <p:nvPr/>
        </p:nvSpPr>
        <p:spPr>
          <a:xfrm>
            <a:off x="558800" y="762000"/>
            <a:ext cx="11074400" cy="502920"/>
          </a:xfrm>
          <a:prstGeom prst="rect">
            <a:avLst/>
          </a:prstGeom>
          <a:noFill/>
        </p:spPr>
        <p:txBody>
          <a:bodyPr wrap="none" lIns="0" rIns="0" tIns="0" bIns="0" anchor="t">
            <a:spAutoFit/>
          </a:bodyPr>
          <a:lstStyle/>
          <a:p>
            <a:pPr algn="l">
              <a:lnSpc>
                <a:spcPts val="3660"/>
              </a:lnSpc>
              <a:spcBef>
                <a:spcPts val="0"/>
              </a:spcBef>
              <a:spcAft>
                <a:spcPts val="0"/>
              </a:spcAft>
            </a:pPr>
            <a:r>
              <a:rPr sz="3000" b="1">
                <a:solidFill>
                  <a:srgbClr val="172C2B"/>
                </a:solidFill>
                <a:latin typeface="Arial"/>
              </a:rPr>
              <a:t>Six stages, each prompted by a limitation</a:t>
            </a:r>
          </a:p>
        </p:txBody>
      </p:sp>
      <p:sp>
        <p:nvSpPr>
          <p:cNvPr id="7" name="TextBox 6"/>
          <p:cNvSpPr txBox="1"/>
          <p:nvPr/>
        </p:nvSpPr>
        <p:spPr>
          <a:xfrm>
            <a:off x="584200" y="1409700"/>
            <a:ext cx="11049000" cy="255015"/>
          </a:xfrm>
          <a:prstGeom prst="rect">
            <a:avLst/>
          </a:prstGeom>
          <a:noFill/>
        </p:spPr>
        <p:txBody>
          <a:bodyPr wrap="none" lIns="0" rIns="0" tIns="0" bIns="0" anchor="t">
            <a:spAutoFit/>
          </a:bodyPr>
          <a:lstStyle/>
          <a:p>
            <a:pPr algn="l">
              <a:lnSpc>
                <a:spcPts val="1707"/>
              </a:lnSpc>
              <a:spcBef>
                <a:spcPts val="0"/>
              </a:spcBef>
              <a:spcAft>
                <a:spcPts val="0"/>
              </a:spcAft>
            </a:pPr>
            <a:r>
              <a:rPr sz="1400" b="0">
                <a:solidFill>
                  <a:srgbClr val="546966"/>
                </a:solidFill>
                <a:latin typeface="Arial"/>
              </a:rPr>
              <a:t>Milestones show the development order without calendar dates.</a:t>
            </a:r>
          </a:p>
        </p:txBody>
      </p:sp>
      <p:cxnSp>
        <p:nvCxnSpPr>
          <p:cNvPr id="8" name="Connector 7"/>
          <p:cNvCxnSpPr/>
          <p:nvPr/>
        </p:nvCxnSpPr>
        <p:spPr>
          <a:xfrm>
            <a:off x="558800" y="6375400"/>
            <a:ext cx="11074400" cy="0"/>
          </a:xfrm>
          <a:prstGeom prst="line">
            <a:avLst/>
          </a:prstGeom>
          <a:ln w="12700">
            <a:solidFill>
              <a:srgbClr val="DCE5E2"/>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58800" y="6540500"/>
            <a:ext cx="5080000" cy="169799"/>
          </a:xfrm>
          <a:prstGeom prst="rect">
            <a:avLst/>
          </a:prstGeom>
          <a:noFill/>
        </p:spPr>
        <p:txBody>
          <a:bodyPr wrap="none" lIns="0" rIns="0" tIns="0" bIns="0" anchor="t">
            <a:spAutoFit/>
          </a:bodyPr>
          <a:lstStyle/>
          <a:p>
            <a:pPr algn="l">
              <a:lnSpc>
                <a:spcPts val="1037"/>
              </a:lnSpc>
              <a:spcBef>
                <a:spcPts val="0"/>
              </a:spcBef>
              <a:spcAft>
                <a:spcPts val="0"/>
              </a:spcAft>
            </a:pPr>
            <a:r>
              <a:rPr sz="850" b="0">
                <a:solidFill>
                  <a:srgbClr val="546966"/>
                </a:solidFill>
                <a:latin typeface="Arial"/>
              </a:rPr>
              <a:t>AI SHIELD / ABDELRAHMAN SOLIMAN</a:t>
            </a:r>
          </a:p>
        </p:txBody>
      </p:sp>
      <p:sp>
        <p:nvSpPr>
          <p:cNvPr id="10" name="TextBox 9"/>
          <p:cNvSpPr txBox="1"/>
          <p:nvPr/>
        </p:nvSpPr>
        <p:spPr>
          <a:xfrm>
            <a:off x="7175500" y="6540500"/>
            <a:ext cx="1460500" cy="169799"/>
          </a:xfrm>
          <a:prstGeom prst="rect">
            <a:avLst/>
          </a:prstGeom>
          <a:noFill/>
        </p:spPr>
        <p:txBody>
          <a:bodyPr wrap="none" lIns="0" rIns="0" tIns="0" bIns="0" anchor="t">
            <a:spAutoFit/>
          </a:bodyPr>
          <a:lstStyle/>
          <a:p>
            <a:pPr algn="l">
              <a:lnSpc>
                <a:spcPts val="1037"/>
              </a:lnSpc>
              <a:spcBef>
                <a:spcPts val="0"/>
              </a:spcBef>
              <a:spcAft>
                <a:spcPts val="0"/>
              </a:spcAft>
            </a:pPr>
            <a:r>
              <a:rPr sz="850" b="0">
                <a:solidFill>
                  <a:srgbClr val="546966"/>
                </a:solidFill>
                <a:latin typeface="Arial"/>
                <a:hlinkClick r:id="rId2"/>
              </a:rPr>
              <a:t>Build history</a:t>
            </a:r>
          </a:p>
        </p:txBody>
      </p:sp>
      <p:sp>
        <p:nvSpPr>
          <p:cNvPr id="11" name="TextBox 10"/>
          <p:cNvSpPr txBox="1"/>
          <p:nvPr/>
        </p:nvSpPr>
        <p:spPr>
          <a:xfrm>
            <a:off x="8648700" y="6540500"/>
            <a:ext cx="1460500" cy="169799"/>
          </a:xfrm>
          <a:prstGeom prst="rect">
            <a:avLst/>
          </a:prstGeom>
          <a:noFill/>
        </p:spPr>
        <p:txBody>
          <a:bodyPr wrap="none" lIns="0" rIns="0" tIns="0" bIns="0" anchor="t">
            <a:spAutoFit/>
          </a:bodyPr>
          <a:lstStyle/>
          <a:p>
            <a:pPr algn="l">
              <a:lnSpc>
                <a:spcPts val="1037"/>
              </a:lnSpc>
              <a:spcBef>
                <a:spcPts val="0"/>
              </a:spcBef>
              <a:spcAft>
                <a:spcPts val="0"/>
              </a:spcAft>
            </a:pPr>
            <a:r>
              <a:rPr sz="850" b="0">
                <a:solidFill>
                  <a:srgbClr val="546966"/>
                </a:solidFill>
                <a:latin typeface="Arial"/>
                <a:hlinkClick r:id="rId3"/>
              </a:rPr>
              <a:t>Project notes</a:t>
            </a:r>
          </a:p>
        </p:txBody>
      </p:sp>
      <p:cxnSp>
        <p:nvCxnSpPr>
          <p:cNvPr id="12" name="Connector 11"/>
          <p:cNvCxnSpPr/>
          <p:nvPr/>
        </p:nvCxnSpPr>
        <p:spPr>
          <a:xfrm>
            <a:off x="800100" y="2209800"/>
            <a:ext cx="0" cy="3530600"/>
          </a:xfrm>
          <a:prstGeom prst="line">
            <a:avLst/>
          </a:prstGeom>
          <a:ln w="25400">
            <a:solidFill>
              <a:srgbClr val="00796B"/>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596900" y="2082800"/>
            <a:ext cx="406400" cy="406400"/>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9600" y="2159000"/>
            <a:ext cx="381000" cy="286004"/>
          </a:xfrm>
          <a:prstGeom prst="rect">
            <a:avLst/>
          </a:prstGeom>
          <a:noFill/>
        </p:spPr>
        <p:txBody>
          <a:bodyPr wrap="none" lIns="0" rIns="0" tIns="0" bIns="0" anchor="t">
            <a:spAutoFit/>
          </a:bodyPr>
          <a:lstStyle/>
          <a:p>
            <a:pPr algn="ctr">
              <a:lnSpc>
                <a:spcPts val="1952"/>
              </a:lnSpc>
              <a:spcBef>
                <a:spcPts val="0"/>
              </a:spcBef>
              <a:spcAft>
                <a:spcPts val="0"/>
              </a:spcAft>
            </a:pPr>
            <a:r>
              <a:rPr sz="1600" b="1">
                <a:solidFill>
                  <a:srgbClr val="FFFFFF"/>
                </a:solidFill>
                <a:latin typeface="Arial"/>
              </a:rPr>
              <a:t>1</a:t>
            </a:r>
          </a:p>
        </p:txBody>
      </p:sp>
      <p:sp>
        <p:nvSpPr>
          <p:cNvPr id="15" name="TextBox 14"/>
          <p:cNvSpPr txBox="1"/>
          <p:nvPr/>
        </p:nvSpPr>
        <p:spPr>
          <a:xfrm>
            <a:off x="1270000" y="2120900"/>
            <a:ext cx="3302000" cy="316992"/>
          </a:xfrm>
          <a:prstGeom prst="rect">
            <a:avLst/>
          </a:prstGeom>
          <a:noFill/>
        </p:spPr>
        <p:txBody>
          <a:bodyPr wrap="none" lIns="0" rIns="0" tIns="0" bIns="0" anchor="t">
            <a:spAutoFit/>
          </a:bodyPr>
          <a:lstStyle/>
          <a:p>
            <a:pPr algn="l">
              <a:lnSpc>
                <a:spcPts val="2196"/>
              </a:lnSpc>
              <a:spcBef>
                <a:spcPts val="0"/>
              </a:spcBef>
              <a:spcAft>
                <a:spcPts val="0"/>
              </a:spcAft>
            </a:pPr>
            <a:r>
              <a:rPr sz="1800" b="1">
                <a:solidFill>
                  <a:srgbClr val="172C2B"/>
                </a:solidFill>
                <a:latin typeface="Arial"/>
              </a:rPr>
              <a:t>Face detector</a:t>
            </a:r>
          </a:p>
        </p:txBody>
      </p:sp>
      <p:sp>
        <p:nvSpPr>
          <p:cNvPr id="16" name="TextBox 15"/>
          <p:cNvSpPr txBox="1"/>
          <p:nvPr/>
        </p:nvSpPr>
        <p:spPr>
          <a:xfrm>
            <a:off x="4749800" y="2133600"/>
            <a:ext cx="6781800" cy="286004"/>
          </a:xfrm>
          <a:prstGeom prst="rect">
            <a:avLst/>
          </a:prstGeom>
          <a:noFill/>
        </p:spPr>
        <p:txBody>
          <a:bodyPr wrap="none" lIns="0" rIns="0" tIns="0" bIns="0" anchor="t">
            <a:spAutoFit/>
          </a:bodyPr>
          <a:lstStyle/>
          <a:p>
            <a:pPr algn="l">
              <a:lnSpc>
                <a:spcPts val="1952"/>
              </a:lnSpc>
              <a:spcBef>
                <a:spcPts val="0"/>
              </a:spcBef>
              <a:spcAft>
                <a:spcPts val="0"/>
              </a:spcAft>
            </a:pPr>
            <a:r>
              <a:rPr sz="1600" b="0">
                <a:solidFill>
                  <a:srgbClr val="546966"/>
                </a:solidFill>
                <a:latin typeface="Arial"/>
              </a:rPr>
              <a:t>A working prototype, but a narrow image domain.</a:t>
            </a:r>
          </a:p>
        </p:txBody>
      </p:sp>
      <p:sp>
        <p:nvSpPr>
          <p:cNvPr id="17" name="Rectangle 16"/>
          <p:cNvSpPr/>
          <p:nvPr/>
        </p:nvSpPr>
        <p:spPr>
          <a:xfrm>
            <a:off x="596900" y="2705100"/>
            <a:ext cx="406400" cy="406400"/>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9600" y="2781300"/>
            <a:ext cx="381000" cy="286004"/>
          </a:xfrm>
          <a:prstGeom prst="rect">
            <a:avLst/>
          </a:prstGeom>
          <a:noFill/>
        </p:spPr>
        <p:txBody>
          <a:bodyPr wrap="none" lIns="0" rIns="0" tIns="0" bIns="0" anchor="t">
            <a:spAutoFit/>
          </a:bodyPr>
          <a:lstStyle/>
          <a:p>
            <a:pPr algn="ctr">
              <a:lnSpc>
                <a:spcPts val="1952"/>
              </a:lnSpc>
              <a:spcBef>
                <a:spcPts val="0"/>
              </a:spcBef>
              <a:spcAft>
                <a:spcPts val="0"/>
              </a:spcAft>
            </a:pPr>
            <a:r>
              <a:rPr sz="1600" b="1">
                <a:solidFill>
                  <a:srgbClr val="FFFFFF"/>
                </a:solidFill>
                <a:latin typeface="Arial"/>
              </a:rPr>
              <a:t>2</a:t>
            </a:r>
          </a:p>
        </p:txBody>
      </p:sp>
      <p:sp>
        <p:nvSpPr>
          <p:cNvPr id="19" name="TextBox 18"/>
          <p:cNvSpPr txBox="1"/>
          <p:nvPr/>
        </p:nvSpPr>
        <p:spPr>
          <a:xfrm>
            <a:off x="1270000" y="2743200"/>
            <a:ext cx="3302000" cy="316992"/>
          </a:xfrm>
          <a:prstGeom prst="rect">
            <a:avLst/>
          </a:prstGeom>
          <a:noFill/>
        </p:spPr>
        <p:txBody>
          <a:bodyPr wrap="none" lIns="0" rIns="0" tIns="0" bIns="0" anchor="t">
            <a:spAutoFit/>
          </a:bodyPr>
          <a:lstStyle/>
          <a:p>
            <a:pPr algn="l">
              <a:lnSpc>
                <a:spcPts val="2196"/>
              </a:lnSpc>
              <a:spcBef>
                <a:spcPts val="0"/>
              </a:spcBef>
              <a:spcAft>
                <a:spcPts val="0"/>
              </a:spcAft>
            </a:pPr>
            <a:r>
              <a:rPr sz="1800" b="1">
                <a:solidFill>
                  <a:srgbClr val="172C2B"/>
                </a:solidFill>
                <a:latin typeface="Arial"/>
              </a:rPr>
              <a:t>Forensic branches</a:t>
            </a:r>
          </a:p>
        </p:txBody>
      </p:sp>
      <p:sp>
        <p:nvSpPr>
          <p:cNvPr id="20" name="TextBox 19"/>
          <p:cNvSpPr txBox="1"/>
          <p:nvPr/>
        </p:nvSpPr>
        <p:spPr>
          <a:xfrm>
            <a:off x="4749800" y="2755900"/>
            <a:ext cx="6781800" cy="286004"/>
          </a:xfrm>
          <a:prstGeom prst="rect">
            <a:avLst/>
          </a:prstGeom>
          <a:noFill/>
        </p:spPr>
        <p:txBody>
          <a:bodyPr wrap="none" lIns="0" rIns="0" tIns="0" bIns="0" anchor="t">
            <a:spAutoFit/>
          </a:bodyPr>
          <a:lstStyle/>
          <a:p>
            <a:pPr algn="l">
              <a:lnSpc>
                <a:spcPts val="1952"/>
              </a:lnSpc>
              <a:spcBef>
                <a:spcPts val="0"/>
              </a:spcBef>
              <a:spcAft>
                <a:spcPts val="0"/>
              </a:spcAft>
            </a:pPr>
            <a:r>
              <a:rPr sz="1600" b="0">
                <a:solidFill>
                  <a:srgbClr val="546966"/>
                </a:solidFill>
                <a:latin typeface="Arial"/>
              </a:rPr>
              <a:t>Broader visual signals, reconstruction and face routing.</a:t>
            </a:r>
          </a:p>
        </p:txBody>
      </p:sp>
      <p:sp>
        <p:nvSpPr>
          <p:cNvPr id="21" name="Rectangle 20"/>
          <p:cNvSpPr/>
          <p:nvPr/>
        </p:nvSpPr>
        <p:spPr>
          <a:xfrm>
            <a:off x="596900" y="3327400"/>
            <a:ext cx="406400" cy="406400"/>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9600" y="3403600"/>
            <a:ext cx="381000" cy="286004"/>
          </a:xfrm>
          <a:prstGeom prst="rect">
            <a:avLst/>
          </a:prstGeom>
          <a:noFill/>
        </p:spPr>
        <p:txBody>
          <a:bodyPr wrap="none" lIns="0" rIns="0" tIns="0" bIns="0" anchor="t">
            <a:spAutoFit/>
          </a:bodyPr>
          <a:lstStyle/>
          <a:p>
            <a:pPr algn="ctr">
              <a:lnSpc>
                <a:spcPts val="1952"/>
              </a:lnSpc>
              <a:spcBef>
                <a:spcPts val="0"/>
              </a:spcBef>
              <a:spcAft>
                <a:spcPts val="0"/>
              </a:spcAft>
            </a:pPr>
            <a:r>
              <a:rPr sz="1600" b="1">
                <a:solidFill>
                  <a:srgbClr val="FFFFFF"/>
                </a:solidFill>
                <a:latin typeface="Arial"/>
              </a:rPr>
              <a:t>3</a:t>
            </a:r>
          </a:p>
        </p:txBody>
      </p:sp>
      <p:sp>
        <p:nvSpPr>
          <p:cNvPr id="23" name="TextBox 22"/>
          <p:cNvSpPr txBox="1"/>
          <p:nvPr/>
        </p:nvSpPr>
        <p:spPr>
          <a:xfrm>
            <a:off x="1270000" y="3365500"/>
            <a:ext cx="3302000" cy="316992"/>
          </a:xfrm>
          <a:prstGeom prst="rect">
            <a:avLst/>
          </a:prstGeom>
          <a:noFill/>
        </p:spPr>
        <p:txBody>
          <a:bodyPr wrap="none" lIns="0" rIns="0" tIns="0" bIns="0" anchor="t">
            <a:spAutoFit/>
          </a:bodyPr>
          <a:lstStyle/>
          <a:p>
            <a:pPr algn="l">
              <a:lnSpc>
                <a:spcPts val="2196"/>
              </a:lnSpc>
              <a:spcBef>
                <a:spcPts val="0"/>
              </a:spcBef>
              <a:spcAft>
                <a:spcPts val="0"/>
              </a:spcAft>
            </a:pPr>
            <a:r>
              <a:rPr sz="1800" b="1">
                <a:solidFill>
                  <a:srgbClr val="172C2B"/>
                </a:solidFill>
                <a:latin typeface="Arial"/>
              </a:rPr>
              <a:t>Semantic + fusion</a:t>
            </a:r>
          </a:p>
        </p:txBody>
      </p:sp>
      <p:sp>
        <p:nvSpPr>
          <p:cNvPr id="24" name="TextBox 23"/>
          <p:cNvSpPr txBox="1"/>
          <p:nvPr/>
        </p:nvSpPr>
        <p:spPr>
          <a:xfrm>
            <a:off x="4749800" y="3378200"/>
            <a:ext cx="6781800" cy="286004"/>
          </a:xfrm>
          <a:prstGeom prst="rect">
            <a:avLst/>
          </a:prstGeom>
          <a:noFill/>
        </p:spPr>
        <p:txBody>
          <a:bodyPr wrap="none" lIns="0" rIns="0" tIns="0" bIns="0" anchor="t">
            <a:spAutoFit/>
          </a:bodyPr>
          <a:lstStyle/>
          <a:p>
            <a:pPr algn="l">
              <a:lnSpc>
                <a:spcPts val="1952"/>
              </a:lnSpc>
              <a:spcBef>
                <a:spcPts val="0"/>
              </a:spcBef>
              <a:spcAft>
                <a:spcPts val="0"/>
              </a:spcAft>
            </a:pPr>
            <a:r>
              <a:rPr sz="1600" b="0">
                <a:solidFill>
                  <a:srgbClr val="546966"/>
                </a:solidFill>
                <a:latin typeface="Arial"/>
              </a:rPr>
              <a:t>Custom patch attention and a learned score combiner.</a:t>
            </a:r>
          </a:p>
        </p:txBody>
      </p:sp>
      <p:sp>
        <p:nvSpPr>
          <p:cNvPr id="25" name="Rectangle 24"/>
          <p:cNvSpPr/>
          <p:nvPr/>
        </p:nvSpPr>
        <p:spPr>
          <a:xfrm>
            <a:off x="596900" y="3949700"/>
            <a:ext cx="406400" cy="406400"/>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9600" y="4025900"/>
            <a:ext cx="381000" cy="286004"/>
          </a:xfrm>
          <a:prstGeom prst="rect">
            <a:avLst/>
          </a:prstGeom>
          <a:noFill/>
        </p:spPr>
        <p:txBody>
          <a:bodyPr wrap="none" lIns="0" rIns="0" tIns="0" bIns="0" anchor="t">
            <a:spAutoFit/>
          </a:bodyPr>
          <a:lstStyle/>
          <a:p>
            <a:pPr algn="ctr">
              <a:lnSpc>
                <a:spcPts val="1952"/>
              </a:lnSpc>
              <a:spcBef>
                <a:spcPts val="0"/>
              </a:spcBef>
              <a:spcAft>
                <a:spcPts val="0"/>
              </a:spcAft>
            </a:pPr>
            <a:r>
              <a:rPr sz="1600" b="1">
                <a:solidFill>
                  <a:srgbClr val="FFFFFF"/>
                </a:solidFill>
                <a:latin typeface="Arial"/>
              </a:rPr>
              <a:t>4</a:t>
            </a:r>
          </a:p>
        </p:txBody>
      </p:sp>
      <p:sp>
        <p:nvSpPr>
          <p:cNvPr id="27" name="TextBox 26"/>
          <p:cNvSpPr txBox="1"/>
          <p:nvPr/>
        </p:nvSpPr>
        <p:spPr>
          <a:xfrm>
            <a:off x="1270000" y="3987800"/>
            <a:ext cx="3302000" cy="316992"/>
          </a:xfrm>
          <a:prstGeom prst="rect">
            <a:avLst/>
          </a:prstGeom>
          <a:noFill/>
        </p:spPr>
        <p:txBody>
          <a:bodyPr wrap="none" lIns="0" rIns="0" tIns="0" bIns="0" anchor="t">
            <a:spAutoFit/>
          </a:bodyPr>
          <a:lstStyle/>
          <a:p>
            <a:pPr algn="l">
              <a:lnSpc>
                <a:spcPts val="2196"/>
              </a:lnSpc>
              <a:spcBef>
                <a:spcPts val="0"/>
              </a:spcBef>
              <a:spcAft>
                <a:spcPts val="0"/>
              </a:spcAft>
            </a:pPr>
            <a:r>
              <a:rPr sz="1800" b="1">
                <a:solidFill>
                  <a:srgbClr val="172C2B"/>
                </a:solidFill>
                <a:latin typeface="Arial"/>
              </a:rPr>
              <a:t>Generalization audit</a:t>
            </a:r>
          </a:p>
        </p:txBody>
      </p:sp>
      <p:sp>
        <p:nvSpPr>
          <p:cNvPr id="28" name="TextBox 27"/>
          <p:cNvSpPr txBox="1"/>
          <p:nvPr/>
        </p:nvSpPr>
        <p:spPr>
          <a:xfrm>
            <a:off x="4749800" y="4000500"/>
            <a:ext cx="6781800" cy="286004"/>
          </a:xfrm>
          <a:prstGeom prst="rect">
            <a:avLst/>
          </a:prstGeom>
          <a:noFill/>
        </p:spPr>
        <p:txBody>
          <a:bodyPr wrap="none" lIns="0" rIns="0" tIns="0" bIns="0" anchor="t">
            <a:spAutoFit/>
          </a:bodyPr>
          <a:lstStyle/>
          <a:p>
            <a:pPr algn="l">
              <a:lnSpc>
                <a:spcPts val="1952"/>
              </a:lnSpc>
              <a:spcBef>
                <a:spcPts val="0"/>
              </a:spcBef>
              <a:spcAft>
                <a:spcPts val="0"/>
              </a:spcAft>
            </a:pPr>
            <a:r>
              <a:rPr sz="1600" b="0">
                <a:solidFill>
                  <a:srgbClr val="546966"/>
                </a:solidFill>
                <a:latin typeface="Arial"/>
              </a:rPr>
              <a:t>A newer benchmark exposed the original model's weakness.</a:t>
            </a:r>
          </a:p>
        </p:txBody>
      </p:sp>
      <p:sp>
        <p:nvSpPr>
          <p:cNvPr id="29" name="Rectangle 28"/>
          <p:cNvSpPr/>
          <p:nvPr/>
        </p:nvSpPr>
        <p:spPr>
          <a:xfrm>
            <a:off x="596900" y="4572000"/>
            <a:ext cx="406400" cy="406400"/>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9600" y="4648200"/>
            <a:ext cx="381000" cy="286004"/>
          </a:xfrm>
          <a:prstGeom prst="rect">
            <a:avLst/>
          </a:prstGeom>
          <a:noFill/>
        </p:spPr>
        <p:txBody>
          <a:bodyPr wrap="none" lIns="0" rIns="0" tIns="0" bIns="0" anchor="t">
            <a:spAutoFit/>
          </a:bodyPr>
          <a:lstStyle/>
          <a:p>
            <a:pPr algn="ctr">
              <a:lnSpc>
                <a:spcPts val="1952"/>
              </a:lnSpc>
              <a:spcBef>
                <a:spcPts val="0"/>
              </a:spcBef>
              <a:spcAft>
                <a:spcPts val="0"/>
              </a:spcAft>
            </a:pPr>
            <a:r>
              <a:rPr sz="1600" b="1">
                <a:solidFill>
                  <a:srgbClr val="FFFFFF"/>
                </a:solidFill>
                <a:latin typeface="Arial"/>
              </a:rPr>
              <a:t>5</a:t>
            </a:r>
          </a:p>
        </p:txBody>
      </p:sp>
      <p:sp>
        <p:nvSpPr>
          <p:cNvPr id="31" name="TextBox 30"/>
          <p:cNvSpPr txBox="1"/>
          <p:nvPr/>
        </p:nvSpPr>
        <p:spPr>
          <a:xfrm>
            <a:off x="1270000" y="4610100"/>
            <a:ext cx="3302000" cy="316992"/>
          </a:xfrm>
          <a:prstGeom prst="rect">
            <a:avLst/>
          </a:prstGeom>
          <a:noFill/>
        </p:spPr>
        <p:txBody>
          <a:bodyPr wrap="none" lIns="0" rIns="0" tIns="0" bIns="0" anchor="t">
            <a:spAutoFit/>
          </a:bodyPr>
          <a:lstStyle/>
          <a:p>
            <a:pPr algn="l">
              <a:lnSpc>
                <a:spcPts val="2196"/>
              </a:lnSpc>
              <a:spcBef>
                <a:spcPts val="0"/>
              </a:spcBef>
              <a:spcAft>
                <a:spcPts val="0"/>
              </a:spcAft>
            </a:pPr>
            <a:r>
              <a:rPr sz="1800" b="1">
                <a:solidFill>
                  <a:srgbClr val="172C2B"/>
                </a:solidFill>
                <a:latin typeface="Arial"/>
              </a:rPr>
              <a:t>Community Forensics</a:t>
            </a:r>
          </a:p>
        </p:txBody>
      </p:sp>
      <p:sp>
        <p:nvSpPr>
          <p:cNvPr id="32" name="TextBox 31"/>
          <p:cNvSpPr txBox="1"/>
          <p:nvPr/>
        </p:nvSpPr>
        <p:spPr>
          <a:xfrm>
            <a:off x="4749800" y="4622800"/>
            <a:ext cx="6781800" cy="286004"/>
          </a:xfrm>
          <a:prstGeom prst="rect">
            <a:avLst/>
          </a:prstGeom>
          <a:noFill/>
        </p:spPr>
        <p:txBody>
          <a:bodyPr wrap="none" lIns="0" rIns="0" tIns="0" bIns="0" anchor="t">
            <a:spAutoFit/>
          </a:bodyPr>
          <a:lstStyle/>
          <a:p>
            <a:pPr algn="l">
              <a:lnSpc>
                <a:spcPts val="1952"/>
              </a:lnSpc>
              <a:spcBef>
                <a:spcPts val="0"/>
              </a:spcBef>
              <a:spcAft>
                <a:spcPts val="0"/>
              </a:spcAft>
            </a:pPr>
            <a:r>
              <a:rPr sz="1600" b="0">
                <a:solidFill>
                  <a:srgbClr val="546966"/>
                </a:solidFill>
                <a:latin typeface="Arial"/>
              </a:rPr>
              <a:t>A stronger detector, selected by controlled comparison.</a:t>
            </a:r>
          </a:p>
        </p:txBody>
      </p:sp>
      <p:sp>
        <p:nvSpPr>
          <p:cNvPr id="33" name="Rectangle 32"/>
          <p:cNvSpPr/>
          <p:nvPr/>
        </p:nvSpPr>
        <p:spPr>
          <a:xfrm>
            <a:off x="596900" y="5194300"/>
            <a:ext cx="406400" cy="406400"/>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9600" y="5270500"/>
            <a:ext cx="381000" cy="286004"/>
          </a:xfrm>
          <a:prstGeom prst="rect">
            <a:avLst/>
          </a:prstGeom>
          <a:noFill/>
        </p:spPr>
        <p:txBody>
          <a:bodyPr wrap="none" lIns="0" rIns="0" tIns="0" bIns="0" anchor="t">
            <a:spAutoFit/>
          </a:bodyPr>
          <a:lstStyle/>
          <a:p>
            <a:pPr algn="ctr">
              <a:lnSpc>
                <a:spcPts val="1952"/>
              </a:lnSpc>
              <a:spcBef>
                <a:spcPts val="0"/>
              </a:spcBef>
              <a:spcAft>
                <a:spcPts val="0"/>
              </a:spcAft>
            </a:pPr>
            <a:r>
              <a:rPr sz="1600" b="1">
                <a:solidFill>
                  <a:srgbClr val="FFFFFF"/>
                </a:solidFill>
                <a:latin typeface="Arial"/>
              </a:rPr>
              <a:t>6</a:t>
            </a:r>
          </a:p>
        </p:txBody>
      </p:sp>
      <p:sp>
        <p:nvSpPr>
          <p:cNvPr id="35" name="TextBox 34"/>
          <p:cNvSpPr txBox="1"/>
          <p:nvPr/>
        </p:nvSpPr>
        <p:spPr>
          <a:xfrm>
            <a:off x="1270000" y="5232400"/>
            <a:ext cx="3302000" cy="316992"/>
          </a:xfrm>
          <a:prstGeom prst="rect">
            <a:avLst/>
          </a:prstGeom>
          <a:noFill/>
        </p:spPr>
        <p:txBody>
          <a:bodyPr wrap="none" lIns="0" rIns="0" tIns="0" bIns="0" anchor="t">
            <a:spAutoFit/>
          </a:bodyPr>
          <a:lstStyle/>
          <a:p>
            <a:pPr algn="l">
              <a:lnSpc>
                <a:spcPts val="2196"/>
              </a:lnSpc>
              <a:spcBef>
                <a:spcPts val="0"/>
              </a:spcBef>
              <a:spcAft>
                <a:spcPts val="0"/>
              </a:spcAft>
            </a:pPr>
            <a:r>
              <a:rPr sz="1800" b="1">
                <a:solidFill>
                  <a:srgbClr val="172C2B"/>
                </a:solidFill>
                <a:latin typeface="Arial"/>
              </a:rPr>
              <a:t>Provenance + service</a:t>
            </a:r>
          </a:p>
        </p:txBody>
      </p:sp>
      <p:sp>
        <p:nvSpPr>
          <p:cNvPr id="36" name="TextBox 35"/>
          <p:cNvSpPr txBox="1"/>
          <p:nvPr/>
        </p:nvSpPr>
        <p:spPr>
          <a:xfrm>
            <a:off x="4749800" y="5245100"/>
            <a:ext cx="6781800" cy="286004"/>
          </a:xfrm>
          <a:prstGeom prst="rect">
            <a:avLst/>
          </a:prstGeom>
          <a:noFill/>
        </p:spPr>
        <p:txBody>
          <a:bodyPr wrap="none" lIns="0" rIns="0" tIns="0" bIns="0" anchor="t">
            <a:spAutoFit/>
          </a:bodyPr>
          <a:lstStyle/>
          <a:p>
            <a:pPr algn="l">
              <a:lnSpc>
                <a:spcPts val="1952"/>
              </a:lnSpc>
              <a:spcBef>
                <a:spcPts val="0"/>
              </a:spcBef>
              <a:spcAft>
                <a:spcPts val="0"/>
              </a:spcAft>
            </a:pPr>
            <a:r>
              <a:rPr sz="1600" b="0">
                <a:solidFill>
                  <a:srgbClr val="546966"/>
                </a:solidFill>
                <a:latin typeface="Arial"/>
              </a:rPr>
              <a:t>Repeatable inference and a combined local upload API.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600" cy="6858000"/>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58800" y="304800"/>
            <a:ext cx="10160000" cy="193040"/>
          </a:xfrm>
          <a:prstGeom prst="rect">
            <a:avLst/>
          </a:prstGeom>
          <a:noFill/>
        </p:spPr>
        <p:txBody>
          <a:bodyPr wrap="none" lIns="0" rIns="0" tIns="0" bIns="0" anchor="t">
            <a:spAutoFit/>
          </a:bodyPr>
          <a:lstStyle/>
          <a:p>
            <a:pPr algn="l">
              <a:lnSpc>
                <a:spcPts val="1220"/>
              </a:lnSpc>
              <a:spcBef>
                <a:spcPts val="0"/>
              </a:spcBef>
              <a:spcAft>
                <a:spcPts val="0"/>
              </a:spcAft>
            </a:pPr>
            <a:r>
              <a:rPr sz="1000" b="1">
                <a:solidFill>
                  <a:srgbClr val="00796B"/>
                </a:solidFill>
                <a:latin typeface="Arial"/>
              </a:rPr>
              <a:t>STAGE 1 / FIRST PROTOTYPE</a:t>
            </a:r>
          </a:p>
        </p:txBody>
      </p:sp>
      <p:sp>
        <p:nvSpPr>
          <p:cNvPr id="5" name="TextBox 4"/>
          <p:cNvSpPr txBox="1"/>
          <p:nvPr/>
        </p:nvSpPr>
        <p:spPr>
          <a:xfrm>
            <a:off x="10947400" y="304800"/>
            <a:ext cx="736600" cy="193040"/>
          </a:xfrm>
          <a:prstGeom prst="rect">
            <a:avLst/>
          </a:prstGeom>
          <a:noFill/>
        </p:spPr>
        <p:txBody>
          <a:bodyPr wrap="none" lIns="0" rIns="0" tIns="0" bIns="0" anchor="t">
            <a:spAutoFit/>
          </a:bodyPr>
          <a:lstStyle/>
          <a:p>
            <a:pPr algn="l">
              <a:lnSpc>
                <a:spcPts val="1220"/>
              </a:lnSpc>
              <a:spcBef>
                <a:spcPts val="0"/>
              </a:spcBef>
              <a:spcAft>
                <a:spcPts val="0"/>
              </a:spcAft>
            </a:pPr>
            <a:r>
              <a:rPr sz="1000" b="0">
                <a:solidFill>
                  <a:srgbClr val="546966"/>
                </a:solidFill>
                <a:latin typeface="Arial"/>
              </a:rPr>
              <a:t>04 / 15</a:t>
            </a:r>
          </a:p>
        </p:txBody>
      </p:sp>
      <p:sp>
        <p:nvSpPr>
          <p:cNvPr id="6" name="TextBox 5"/>
          <p:cNvSpPr txBox="1"/>
          <p:nvPr/>
        </p:nvSpPr>
        <p:spPr>
          <a:xfrm>
            <a:off x="558800" y="762000"/>
            <a:ext cx="11074400" cy="502920"/>
          </a:xfrm>
          <a:prstGeom prst="rect">
            <a:avLst/>
          </a:prstGeom>
          <a:noFill/>
        </p:spPr>
        <p:txBody>
          <a:bodyPr wrap="none" lIns="0" rIns="0" tIns="0" bIns="0" anchor="t">
            <a:spAutoFit/>
          </a:bodyPr>
          <a:lstStyle/>
          <a:p>
            <a:pPr algn="l">
              <a:lnSpc>
                <a:spcPts val="3660"/>
              </a:lnSpc>
              <a:spcBef>
                <a:spcPts val="0"/>
              </a:spcBef>
              <a:spcAft>
                <a:spcPts val="0"/>
              </a:spcAft>
            </a:pPr>
            <a:r>
              <a:rPr sz="3000" b="1">
                <a:solidFill>
                  <a:srgbClr val="172C2B"/>
                </a:solidFill>
                <a:latin typeface="Arial"/>
              </a:rPr>
              <a:t>The first detector worked, but its scope was narrow</a:t>
            </a:r>
          </a:p>
        </p:txBody>
      </p:sp>
      <p:sp>
        <p:nvSpPr>
          <p:cNvPr id="7" name="TextBox 6"/>
          <p:cNvSpPr txBox="1"/>
          <p:nvPr/>
        </p:nvSpPr>
        <p:spPr>
          <a:xfrm>
            <a:off x="584200" y="1409700"/>
            <a:ext cx="11049000" cy="255015"/>
          </a:xfrm>
          <a:prstGeom prst="rect">
            <a:avLst/>
          </a:prstGeom>
          <a:noFill/>
        </p:spPr>
        <p:txBody>
          <a:bodyPr wrap="none" lIns="0" rIns="0" tIns="0" bIns="0" anchor="t">
            <a:spAutoFit/>
          </a:bodyPr>
          <a:lstStyle/>
          <a:p>
            <a:pPr algn="l">
              <a:lnSpc>
                <a:spcPts val="1707"/>
              </a:lnSpc>
              <a:spcBef>
                <a:spcPts val="0"/>
              </a:spcBef>
              <a:spcAft>
                <a:spcPts val="0"/>
              </a:spcAft>
            </a:pPr>
            <a:r>
              <a:rPr sz="1400" b="0">
                <a:solidFill>
                  <a:srgbClr val="546966"/>
                </a:solidFill>
                <a:latin typeface="Arial"/>
              </a:rPr>
              <a:t>EfficientNetV2-B0 trained on OpenForensics face-manipulation images.</a:t>
            </a:r>
          </a:p>
        </p:txBody>
      </p:sp>
      <p:cxnSp>
        <p:nvCxnSpPr>
          <p:cNvPr id="8" name="Connector 7"/>
          <p:cNvCxnSpPr/>
          <p:nvPr/>
        </p:nvCxnSpPr>
        <p:spPr>
          <a:xfrm>
            <a:off x="558800" y="6375400"/>
            <a:ext cx="11074400" cy="0"/>
          </a:xfrm>
          <a:prstGeom prst="line">
            <a:avLst/>
          </a:prstGeom>
          <a:ln w="12700">
            <a:solidFill>
              <a:srgbClr val="DCE5E2"/>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58800" y="6540500"/>
            <a:ext cx="5080000" cy="169799"/>
          </a:xfrm>
          <a:prstGeom prst="rect">
            <a:avLst/>
          </a:prstGeom>
          <a:noFill/>
        </p:spPr>
        <p:txBody>
          <a:bodyPr wrap="none" lIns="0" rIns="0" tIns="0" bIns="0" anchor="t">
            <a:spAutoFit/>
          </a:bodyPr>
          <a:lstStyle/>
          <a:p>
            <a:pPr algn="l">
              <a:lnSpc>
                <a:spcPts val="1037"/>
              </a:lnSpc>
              <a:spcBef>
                <a:spcPts val="0"/>
              </a:spcBef>
              <a:spcAft>
                <a:spcPts val="0"/>
              </a:spcAft>
            </a:pPr>
            <a:r>
              <a:rPr sz="850" b="0">
                <a:solidFill>
                  <a:srgbClr val="546966"/>
                </a:solidFill>
                <a:latin typeface="Arial"/>
              </a:rPr>
              <a:t>AI SHIELD / ABDELRAHMAN SOLIMAN</a:t>
            </a:r>
          </a:p>
        </p:txBody>
      </p:sp>
      <p:sp>
        <p:nvSpPr>
          <p:cNvPr id="10" name="TextBox 9"/>
          <p:cNvSpPr txBox="1"/>
          <p:nvPr/>
        </p:nvSpPr>
        <p:spPr>
          <a:xfrm>
            <a:off x="7175500" y="6540500"/>
            <a:ext cx="1460500" cy="169799"/>
          </a:xfrm>
          <a:prstGeom prst="rect">
            <a:avLst/>
          </a:prstGeom>
          <a:noFill/>
        </p:spPr>
        <p:txBody>
          <a:bodyPr wrap="none" lIns="0" rIns="0" tIns="0" bIns="0" anchor="t">
            <a:spAutoFit/>
          </a:bodyPr>
          <a:lstStyle/>
          <a:p>
            <a:pPr algn="l">
              <a:lnSpc>
                <a:spcPts val="1037"/>
              </a:lnSpc>
              <a:spcBef>
                <a:spcPts val="0"/>
              </a:spcBef>
              <a:spcAft>
                <a:spcPts val="0"/>
              </a:spcAft>
            </a:pPr>
            <a:r>
              <a:rPr sz="850" b="0">
                <a:solidFill>
                  <a:srgbClr val="546966"/>
                </a:solidFill>
                <a:latin typeface="Arial"/>
                <a:hlinkClick r:id="rId2"/>
              </a:rPr>
              <a:t>Build history</a:t>
            </a:r>
          </a:p>
        </p:txBody>
      </p:sp>
      <p:sp>
        <p:nvSpPr>
          <p:cNvPr id="11" name="TextBox 10"/>
          <p:cNvSpPr txBox="1"/>
          <p:nvPr/>
        </p:nvSpPr>
        <p:spPr>
          <a:xfrm>
            <a:off x="8648700" y="6540500"/>
            <a:ext cx="1460500" cy="169799"/>
          </a:xfrm>
          <a:prstGeom prst="rect">
            <a:avLst/>
          </a:prstGeom>
          <a:noFill/>
        </p:spPr>
        <p:txBody>
          <a:bodyPr wrap="none" lIns="0" rIns="0" tIns="0" bIns="0" anchor="t">
            <a:spAutoFit/>
          </a:bodyPr>
          <a:lstStyle/>
          <a:p>
            <a:pPr algn="l">
              <a:lnSpc>
                <a:spcPts val="1037"/>
              </a:lnSpc>
              <a:spcBef>
                <a:spcPts val="0"/>
              </a:spcBef>
              <a:spcAft>
                <a:spcPts val="0"/>
              </a:spcAft>
            </a:pPr>
            <a:r>
              <a:rPr sz="850" b="0">
                <a:solidFill>
                  <a:srgbClr val="546966"/>
                </a:solidFill>
                <a:latin typeface="Arial"/>
                <a:hlinkClick r:id="rId3"/>
              </a:rPr>
              <a:t>Results</a:t>
            </a:r>
          </a:p>
        </p:txBody>
      </p:sp>
      <p:sp>
        <p:nvSpPr>
          <p:cNvPr id="12" name="Rectangle 11"/>
          <p:cNvSpPr/>
          <p:nvPr/>
        </p:nvSpPr>
        <p:spPr>
          <a:xfrm>
            <a:off x="558800" y="2247900"/>
            <a:ext cx="50800" cy="228600"/>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2000" y="2197100"/>
            <a:ext cx="4114800" cy="301498"/>
          </a:xfrm>
          <a:prstGeom prst="rect">
            <a:avLst/>
          </a:prstGeom>
          <a:noFill/>
        </p:spPr>
        <p:txBody>
          <a:bodyPr wrap="none" lIns="0" rIns="0" tIns="0" bIns="0" anchor="t">
            <a:spAutoFit/>
          </a:bodyPr>
          <a:lstStyle/>
          <a:p>
            <a:pPr algn="l">
              <a:lnSpc>
                <a:spcPts val="2074"/>
              </a:lnSpc>
              <a:spcBef>
                <a:spcPts val="0"/>
              </a:spcBef>
              <a:spcAft>
                <a:spcPts val="0"/>
              </a:spcAft>
            </a:pPr>
            <a:r>
              <a:rPr sz="1700" b="1">
                <a:solidFill>
                  <a:srgbClr val="172C2B"/>
                </a:solidFill>
                <a:latin typeface="Arial"/>
              </a:rPr>
              <a:t>What I built</a:t>
            </a:r>
          </a:p>
        </p:txBody>
      </p:sp>
      <p:sp>
        <p:nvSpPr>
          <p:cNvPr id="14" name="TextBox 13"/>
          <p:cNvSpPr txBox="1"/>
          <p:nvPr/>
        </p:nvSpPr>
        <p:spPr>
          <a:xfrm>
            <a:off x="762000" y="2587498"/>
            <a:ext cx="4114800" cy="533908"/>
          </a:xfrm>
          <a:prstGeom prst="rect">
            <a:avLst/>
          </a:prstGeom>
          <a:noFill/>
        </p:spPr>
        <p:txBody>
          <a:bodyPr wrap="none" lIns="0" rIns="0" tIns="0" bIns="0" anchor="t">
            <a:spAutoFit/>
          </a:bodyPr>
          <a:lstStyle/>
          <a:p>
            <a:pPr algn="l">
              <a:lnSpc>
                <a:spcPts val="1952"/>
              </a:lnSpc>
              <a:spcBef>
                <a:spcPts val="0"/>
              </a:spcBef>
              <a:spcAft>
                <a:spcPts val="0"/>
              </a:spcAft>
            </a:pPr>
            <a:r>
              <a:rPr sz="1600" b="0">
                <a:solidFill>
                  <a:srgbClr val="546966"/>
                </a:solidFill>
                <a:latin typeface="Arial"/>
              </a:rPr>
              <a:t>Training, evaluation and an image-upload</a:t>
            </a:r>
          </a:p>
          <a:p>
            <a:pPr algn="l">
              <a:lnSpc>
                <a:spcPts val="1952"/>
              </a:lnSpc>
              <a:spcBef>
                <a:spcPts val="0"/>
              </a:spcBef>
              <a:spcAft>
                <a:spcPts val="0"/>
              </a:spcAft>
            </a:pPr>
            <a:r>
              <a:rPr sz="1600" b="0">
                <a:solidFill>
                  <a:srgbClr val="546966"/>
                </a:solidFill>
                <a:latin typeface="Arial"/>
              </a:rPr>
              <a:t>demo for face manipulation.</a:t>
            </a:r>
          </a:p>
        </p:txBody>
      </p:sp>
      <p:sp>
        <p:nvSpPr>
          <p:cNvPr id="15" name="Rectangle 14"/>
          <p:cNvSpPr/>
          <p:nvPr/>
        </p:nvSpPr>
        <p:spPr>
          <a:xfrm>
            <a:off x="558800" y="3695700"/>
            <a:ext cx="50800" cy="228600"/>
          </a:xfrm>
          <a:prstGeom prst="rect">
            <a:avLst/>
          </a:prstGeom>
          <a:solidFill>
            <a:srgbClr val="C847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2000" y="3644900"/>
            <a:ext cx="4114800" cy="301498"/>
          </a:xfrm>
          <a:prstGeom prst="rect">
            <a:avLst/>
          </a:prstGeom>
          <a:noFill/>
        </p:spPr>
        <p:txBody>
          <a:bodyPr wrap="none" lIns="0" rIns="0" tIns="0" bIns="0" anchor="t">
            <a:spAutoFit/>
          </a:bodyPr>
          <a:lstStyle/>
          <a:p>
            <a:pPr algn="l">
              <a:lnSpc>
                <a:spcPts val="2074"/>
              </a:lnSpc>
              <a:spcBef>
                <a:spcPts val="0"/>
              </a:spcBef>
              <a:spcAft>
                <a:spcPts val="0"/>
              </a:spcAft>
            </a:pPr>
            <a:r>
              <a:rPr sz="1700" b="1">
                <a:solidFill>
                  <a:srgbClr val="172C2B"/>
                </a:solidFill>
                <a:latin typeface="Arial"/>
              </a:rPr>
              <a:t>What I learned</a:t>
            </a:r>
          </a:p>
        </p:txBody>
      </p:sp>
      <p:sp>
        <p:nvSpPr>
          <p:cNvPr id="17" name="TextBox 16"/>
          <p:cNvSpPr txBox="1"/>
          <p:nvPr/>
        </p:nvSpPr>
        <p:spPr>
          <a:xfrm>
            <a:off x="762000" y="4035298"/>
            <a:ext cx="4114800" cy="533908"/>
          </a:xfrm>
          <a:prstGeom prst="rect">
            <a:avLst/>
          </a:prstGeom>
          <a:noFill/>
        </p:spPr>
        <p:txBody>
          <a:bodyPr wrap="none" lIns="0" rIns="0" tIns="0" bIns="0" anchor="t">
            <a:spAutoFit/>
          </a:bodyPr>
          <a:lstStyle/>
          <a:p>
            <a:pPr algn="l">
              <a:lnSpc>
                <a:spcPts val="1952"/>
              </a:lnSpc>
              <a:spcBef>
                <a:spcPts val="0"/>
              </a:spcBef>
              <a:spcAft>
                <a:spcPts val="0"/>
              </a:spcAft>
            </a:pPr>
            <a:r>
              <a:rPr sz="1600" b="0">
                <a:solidFill>
                  <a:srgbClr val="546966"/>
                </a:solidFill>
                <a:latin typeface="Arial"/>
              </a:rPr>
              <a:t>A strong validation result did not guarantee</a:t>
            </a:r>
          </a:p>
          <a:p>
            <a:pPr algn="l">
              <a:lnSpc>
                <a:spcPts val="1952"/>
              </a:lnSpc>
              <a:spcBef>
                <a:spcPts val="0"/>
              </a:spcBef>
              <a:spcAft>
                <a:spcPts val="0"/>
              </a:spcAft>
            </a:pPr>
            <a:r>
              <a:rPr sz="1600" b="0">
                <a:solidFill>
                  <a:srgbClr val="546966"/>
                </a:solidFill>
                <a:latin typeface="Arial"/>
              </a:rPr>
              <a:t>the same reliability on held-out images.</a:t>
            </a:r>
          </a:p>
        </p:txBody>
      </p:sp>
      <p:cxnSp>
        <p:nvCxnSpPr>
          <p:cNvPr id="18" name="Connector 17"/>
          <p:cNvCxnSpPr/>
          <p:nvPr/>
        </p:nvCxnSpPr>
        <p:spPr>
          <a:xfrm>
            <a:off x="5715000" y="5181600"/>
            <a:ext cx="5892800" cy="0"/>
          </a:xfrm>
          <a:prstGeom prst="line">
            <a:avLst/>
          </a:prstGeom>
          <a:ln w="12700">
            <a:solidFill>
              <a:srgbClr val="DCE5E2"/>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375400" y="2338029"/>
            <a:ext cx="1612900" cy="2843570"/>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46800" y="1893529"/>
            <a:ext cx="2082800" cy="394462"/>
          </a:xfrm>
          <a:prstGeom prst="rect">
            <a:avLst/>
          </a:prstGeom>
          <a:noFill/>
        </p:spPr>
        <p:txBody>
          <a:bodyPr wrap="none" lIns="0" rIns="0" tIns="0" bIns="0" anchor="t">
            <a:spAutoFit/>
          </a:bodyPr>
          <a:lstStyle/>
          <a:p>
            <a:pPr algn="ctr">
              <a:lnSpc>
                <a:spcPts val="2806"/>
              </a:lnSpc>
              <a:spcBef>
                <a:spcPts val="0"/>
              </a:spcBef>
              <a:spcAft>
                <a:spcPts val="0"/>
              </a:spcAft>
            </a:pPr>
            <a:r>
              <a:rPr sz="2300" b="1">
                <a:solidFill>
                  <a:srgbClr val="00796B"/>
                </a:solidFill>
                <a:latin typeface="Arial"/>
              </a:rPr>
              <a:t>96.51%</a:t>
            </a:r>
          </a:p>
        </p:txBody>
      </p:sp>
      <p:sp>
        <p:nvSpPr>
          <p:cNvPr id="21" name="TextBox 20"/>
          <p:cNvSpPr txBox="1"/>
          <p:nvPr/>
        </p:nvSpPr>
        <p:spPr>
          <a:xfrm>
            <a:off x="6159500" y="5308600"/>
            <a:ext cx="2108200" cy="270510"/>
          </a:xfrm>
          <a:prstGeom prst="rect">
            <a:avLst/>
          </a:prstGeom>
          <a:noFill/>
        </p:spPr>
        <p:txBody>
          <a:bodyPr wrap="none" lIns="0" rIns="0" tIns="0" bIns="0" anchor="t">
            <a:spAutoFit/>
          </a:bodyPr>
          <a:lstStyle/>
          <a:p>
            <a:pPr algn="ctr">
              <a:lnSpc>
                <a:spcPts val="1830"/>
              </a:lnSpc>
              <a:spcBef>
                <a:spcPts val="0"/>
              </a:spcBef>
              <a:spcAft>
                <a:spcPts val="0"/>
              </a:spcAft>
            </a:pPr>
            <a:r>
              <a:rPr sz="1500" b="0">
                <a:solidFill>
                  <a:srgbClr val="546966"/>
                </a:solidFill>
                <a:latin typeface="Arial"/>
              </a:rPr>
              <a:t>Validation</a:t>
            </a:r>
          </a:p>
        </p:txBody>
      </p:sp>
      <p:sp>
        <p:nvSpPr>
          <p:cNvPr id="22" name="Rectangle 21"/>
          <p:cNvSpPr/>
          <p:nvPr/>
        </p:nvSpPr>
        <p:spPr>
          <a:xfrm>
            <a:off x="9093200" y="2654472"/>
            <a:ext cx="1612900" cy="2527127"/>
          </a:xfrm>
          <a:prstGeom prst="rect">
            <a:avLst/>
          </a:prstGeom>
          <a:solidFill>
            <a:srgbClr val="C847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64600" y="2209972"/>
            <a:ext cx="2082800" cy="394462"/>
          </a:xfrm>
          <a:prstGeom prst="rect">
            <a:avLst/>
          </a:prstGeom>
          <a:noFill/>
        </p:spPr>
        <p:txBody>
          <a:bodyPr wrap="none" lIns="0" rIns="0" tIns="0" bIns="0" anchor="t">
            <a:spAutoFit/>
          </a:bodyPr>
          <a:lstStyle/>
          <a:p>
            <a:pPr algn="ctr">
              <a:lnSpc>
                <a:spcPts val="2806"/>
              </a:lnSpc>
              <a:spcBef>
                <a:spcPts val="0"/>
              </a:spcBef>
              <a:spcAft>
                <a:spcPts val="0"/>
              </a:spcAft>
            </a:pPr>
            <a:r>
              <a:rPr sz="2300" b="1">
                <a:solidFill>
                  <a:srgbClr val="C84760"/>
                </a:solidFill>
                <a:latin typeface="Arial"/>
              </a:rPr>
              <a:t>85.77%</a:t>
            </a:r>
          </a:p>
        </p:txBody>
      </p:sp>
      <p:sp>
        <p:nvSpPr>
          <p:cNvPr id="24" name="TextBox 23"/>
          <p:cNvSpPr txBox="1"/>
          <p:nvPr/>
        </p:nvSpPr>
        <p:spPr>
          <a:xfrm>
            <a:off x="8877300" y="5308600"/>
            <a:ext cx="2108200" cy="270510"/>
          </a:xfrm>
          <a:prstGeom prst="rect">
            <a:avLst/>
          </a:prstGeom>
          <a:noFill/>
        </p:spPr>
        <p:txBody>
          <a:bodyPr wrap="none" lIns="0" rIns="0" tIns="0" bIns="0" anchor="t">
            <a:spAutoFit/>
          </a:bodyPr>
          <a:lstStyle/>
          <a:p>
            <a:pPr algn="ctr">
              <a:lnSpc>
                <a:spcPts val="1830"/>
              </a:lnSpc>
              <a:spcBef>
                <a:spcPts val="0"/>
              </a:spcBef>
              <a:spcAft>
                <a:spcPts val="0"/>
              </a:spcAft>
            </a:pPr>
            <a:r>
              <a:rPr sz="1500" b="0">
                <a:solidFill>
                  <a:srgbClr val="546966"/>
                </a:solidFill>
                <a:latin typeface="Arial"/>
              </a:rPr>
              <a:t>Held-out test</a:t>
            </a:r>
          </a:p>
        </p:txBody>
      </p:sp>
      <p:sp>
        <p:nvSpPr>
          <p:cNvPr id="25" name="TextBox 24"/>
          <p:cNvSpPr txBox="1"/>
          <p:nvPr/>
        </p:nvSpPr>
        <p:spPr>
          <a:xfrm>
            <a:off x="5715000" y="5803900"/>
            <a:ext cx="5715000" cy="224028"/>
          </a:xfrm>
          <a:prstGeom prst="rect">
            <a:avLst/>
          </a:prstGeom>
          <a:noFill/>
        </p:spPr>
        <p:txBody>
          <a:bodyPr wrap="none" lIns="0" rIns="0" tIns="0" bIns="0" anchor="t">
            <a:spAutoFit/>
          </a:bodyPr>
          <a:lstStyle/>
          <a:p>
            <a:pPr algn="l">
              <a:lnSpc>
                <a:spcPts val="1464"/>
              </a:lnSpc>
              <a:spcBef>
                <a:spcPts val="0"/>
              </a:spcBef>
              <a:spcAft>
                <a:spcPts val="0"/>
              </a:spcAft>
            </a:pPr>
            <a:r>
              <a:rPr sz="1200" b="0">
                <a:solidFill>
                  <a:srgbClr val="546966"/>
                </a:solidFill>
                <a:latin typeface="Arial"/>
              </a:rPr>
              <a:t>Accuracy; chart baseline = 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600" cy="6858000"/>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58800" y="304800"/>
            <a:ext cx="10160000" cy="193040"/>
          </a:xfrm>
          <a:prstGeom prst="rect">
            <a:avLst/>
          </a:prstGeom>
          <a:noFill/>
        </p:spPr>
        <p:txBody>
          <a:bodyPr wrap="none" lIns="0" rIns="0" tIns="0" bIns="0" anchor="t">
            <a:spAutoFit/>
          </a:bodyPr>
          <a:lstStyle/>
          <a:p>
            <a:pPr algn="l">
              <a:lnSpc>
                <a:spcPts val="1220"/>
              </a:lnSpc>
              <a:spcBef>
                <a:spcPts val="0"/>
              </a:spcBef>
              <a:spcAft>
                <a:spcPts val="0"/>
              </a:spcAft>
            </a:pPr>
            <a:r>
              <a:rPr sz="1000" b="1">
                <a:solidFill>
                  <a:srgbClr val="00796B"/>
                </a:solidFill>
                <a:latin typeface="Arial"/>
              </a:rPr>
              <a:t>STAGE 2 / BROADER VISUAL EVIDENCE</a:t>
            </a:r>
          </a:p>
        </p:txBody>
      </p:sp>
      <p:sp>
        <p:nvSpPr>
          <p:cNvPr id="5" name="TextBox 4"/>
          <p:cNvSpPr txBox="1"/>
          <p:nvPr/>
        </p:nvSpPr>
        <p:spPr>
          <a:xfrm>
            <a:off x="10947400" y="304800"/>
            <a:ext cx="736600" cy="193040"/>
          </a:xfrm>
          <a:prstGeom prst="rect">
            <a:avLst/>
          </a:prstGeom>
          <a:noFill/>
        </p:spPr>
        <p:txBody>
          <a:bodyPr wrap="none" lIns="0" rIns="0" tIns="0" bIns="0" anchor="t">
            <a:spAutoFit/>
          </a:bodyPr>
          <a:lstStyle/>
          <a:p>
            <a:pPr algn="l">
              <a:lnSpc>
                <a:spcPts val="1220"/>
              </a:lnSpc>
              <a:spcBef>
                <a:spcPts val="0"/>
              </a:spcBef>
              <a:spcAft>
                <a:spcPts val="0"/>
              </a:spcAft>
            </a:pPr>
            <a:r>
              <a:rPr sz="1000" b="0">
                <a:solidFill>
                  <a:srgbClr val="546966"/>
                </a:solidFill>
                <a:latin typeface="Arial"/>
              </a:rPr>
              <a:t>05 / 15</a:t>
            </a:r>
          </a:p>
        </p:txBody>
      </p:sp>
      <p:sp>
        <p:nvSpPr>
          <p:cNvPr id="6" name="TextBox 5"/>
          <p:cNvSpPr txBox="1"/>
          <p:nvPr/>
        </p:nvSpPr>
        <p:spPr>
          <a:xfrm>
            <a:off x="558800" y="762000"/>
            <a:ext cx="11074400" cy="502920"/>
          </a:xfrm>
          <a:prstGeom prst="rect">
            <a:avLst/>
          </a:prstGeom>
          <a:noFill/>
        </p:spPr>
        <p:txBody>
          <a:bodyPr wrap="none" lIns="0" rIns="0" tIns="0" bIns="0" anchor="t">
            <a:spAutoFit/>
          </a:bodyPr>
          <a:lstStyle/>
          <a:p>
            <a:pPr algn="l">
              <a:lnSpc>
                <a:spcPts val="3660"/>
              </a:lnSpc>
              <a:spcBef>
                <a:spcPts val="0"/>
              </a:spcBef>
              <a:spcAft>
                <a:spcPts val="0"/>
              </a:spcAft>
            </a:pPr>
            <a:r>
              <a:rPr sz="3000" b="1">
                <a:solidFill>
                  <a:srgbClr val="172C2B"/>
                </a:solidFill>
                <a:latin typeface="Arial"/>
              </a:rPr>
              <a:t>Built several forensic signals, then tested their value</a:t>
            </a:r>
          </a:p>
        </p:txBody>
      </p:sp>
      <p:sp>
        <p:nvSpPr>
          <p:cNvPr id="7" name="TextBox 6"/>
          <p:cNvSpPr txBox="1"/>
          <p:nvPr/>
        </p:nvSpPr>
        <p:spPr>
          <a:xfrm>
            <a:off x="584200" y="1409700"/>
            <a:ext cx="11049000" cy="255015"/>
          </a:xfrm>
          <a:prstGeom prst="rect">
            <a:avLst/>
          </a:prstGeom>
          <a:noFill/>
        </p:spPr>
        <p:txBody>
          <a:bodyPr wrap="none" lIns="0" rIns="0" tIns="0" bIns="0" anchor="t">
            <a:spAutoFit/>
          </a:bodyPr>
          <a:lstStyle/>
          <a:p>
            <a:pPr algn="l">
              <a:lnSpc>
                <a:spcPts val="1707"/>
              </a:lnSpc>
              <a:spcBef>
                <a:spcPts val="0"/>
              </a:spcBef>
              <a:spcAft>
                <a:spcPts val="0"/>
              </a:spcAft>
            </a:pPr>
            <a:r>
              <a:rPr sz="1400" b="0">
                <a:solidFill>
                  <a:srgbClr val="546966"/>
                </a:solidFill>
                <a:latin typeface="Arial"/>
              </a:rPr>
              <a:t>Forensic = patterns in the pixels and image-processing traces.</a:t>
            </a:r>
          </a:p>
        </p:txBody>
      </p:sp>
      <p:cxnSp>
        <p:nvCxnSpPr>
          <p:cNvPr id="8" name="Connector 7"/>
          <p:cNvCxnSpPr/>
          <p:nvPr/>
        </p:nvCxnSpPr>
        <p:spPr>
          <a:xfrm>
            <a:off x="558800" y="6375400"/>
            <a:ext cx="11074400" cy="0"/>
          </a:xfrm>
          <a:prstGeom prst="line">
            <a:avLst/>
          </a:prstGeom>
          <a:ln w="12700">
            <a:solidFill>
              <a:srgbClr val="DCE5E2"/>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58800" y="6540500"/>
            <a:ext cx="5080000" cy="169799"/>
          </a:xfrm>
          <a:prstGeom prst="rect">
            <a:avLst/>
          </a:prstGeom>
          <a:noFill/>
        </p:spPr>
        <p:txBody>
          <a:bodyPr wrap="none" lIns="0" rIns="0" tIns="0" bIns="0" anchor="t">
            <a:spAutoFit/>
          </a:bodyPr>
          <a:lstStyle/>
          <a:p>
            <a:pPr algn="l">
              <a:lnSpc>
                <a:spcPts val="1037"/>
              </a:lnSpc>
              <a:spcBef>
                <a:spcPts val="0"/>
              </a:spcBef>
              <a:spcAft>
                <a:spcPts val="0"/>
              </a:spcAft>
            </a:pPr>
            <a:r>
              <a:rPr sz="850" b="0">
                <a:solidFill>
                  <a:srgbClr val="546966"/>
                </a:solidFill>
                <a:latin typeface="Arial"/>
              </a:rPr>
              <a:t>AI SHIELD / ABDELRAHMAN SOLIMAN</a:t>
            </a:r>
          </a:p>
        </p:txBody>
      </p:sp>
      <p:sp>
        <p:nvSpPr>
          <p:cNvPr id="10" name="TextBox 9"/>
          <p:cNvSpPr txBox="1"/>
          <p:nvPr/>
        </p:nvSpPr>
        <p:spPr>
          <a:xfrm>
            <a:off x="7175500" y="6540500"/>
            <a:ext cx="1460500" cy="169799"/>
          </a:xfrm>
          <a:prstGeom prst="rect">
            <a:avLst/>
          </a:prstGeom>
          <a:noFill/>
        </p:spPr>
        <p:txBody>
          <a:bodyPr wrap="none" lIns="0" rIns="0" tIns="0" bIns="0" anchor="t">
            <a:spAutoFit/>
          </a:bodyPr>
          <a:lstStyle/>
          <a:p>
            <a:pPr algn="l">
              <a:lnSpc>
                <a:spcPts val="1037"/>
              </a:lnSpc>
              <a:spcBef>
                <a:spcPts val="0"/>
              </a:spcBef>
              <a:spcAft>
                <a:spcPts val="0"/>
              </a:spcAft>
            </a:pPr>
            <a:r>
              <a:rPr sz="850" b="0">
                <a:solidFill>
                  <a:srgbClr val="546966"/>
                </a:solidFill>
                <a:latin typeface="Arial"/>
                <a:hlinkClick r:id="rId2"/>
              </a:rPr>
              <a:t>Build history</a:t>
            </a:r>
          </a:p>
        </p:txBody>
      </p:sp>
      <p:sp>
        <p:nvSpPr>
          <p:cNvPr id="11" name="TextBox 10"/>
          <p:cNvSpPr txBox="1"/>
          <p:nvPr/>
        </p:nvSpPr>
        <p:spPr>
          <a:xfrm>
            <a:off x="8648700" y="6540500"/>
            <a:ext cx="1460500" cy="169799"/>
          </a:xfrm>
          <a:prstGeom prst="rect">
            <a:avLst/>
          </a:prstGeom>
          <a:noFill/>
        </p:spPr>
        <p:txBody>
          <a:bodyPr wrap="none" lIns="0" rIns="0" tIns="0" bIns="0" anchor="t">
            <a:spAutoFit/>
          </a:bodyPr>
          <a:lstStyle/>
          <a:p>
            <a:pPr algn="l">
              <a:lnSpc>
                <a:spcPts val="1037"/>
              </a:lnSpc>
              <a:spcBef>
                <a:spcPts val="0"/>
              </a:spcBef>
              <a:spcAft>
                <a:spcPts val="0"/>
              </a:spcAft>
            </a:pPr>
            <a:r>
              <a:rPr sz="850" b="0">
                <a:solidFill>
                  <a:srgbClr val="546966"/>
                </a:solidFill>
                <a:latin typeface="Arial"/>
                <a:hlinkClick r:id="rId3"/>
              </a:rPr>
              <a:t>Results</a:t>
            </a:r>
          </a:p>
        </p:txBody>
      </p:sp>
      <p:sp>
        <p:nvSpPr>
          <p:cNvPr id="12" name="Rectangle 11"/>
          <p:cNvSpPr/>
          <p:nvPr/>
        </p:nvSpPr>
        <p:spPr>
          <a:xfrm>
            <a:off x="558800" y="2197100"/>
            <a:ext cx="3378200" cy="63500"/>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8800" y="2540000"/>
            <a:ext cx="3378200" cy="394462"/>
          </a:xfrm>
          <a:prstGeom prst="rect">
            <a:avLst/>
          </a:prstGeom>
          <a:noFill/>
        </p:spPr>
        <p:txBody>
          <a:bodyPr wrap="none" lIns="0" rIns="0" tIns="0" bIns="0" anchor="t">
            <a:spAutoFit/>
          </a:bodyPr>
          <a:lstStyle/>
          <a:p>
            <a:pPr algn="l">
              <a:lnSpc>
                <a:spcPts val="2806"/>
              </a:lnSpc>
              <a:spcBef>
                <a:spcPts val="0"/>
              </a:spcBef>
              <a:spcAft>
                <a:spcPts val="0"/>
              </a:spcAft>
            </a:pPr>
            <a:r>
              <a:rPr sz="2300" b="1">
                <a:solidFill>
                  <a:srgbClr val="00796B"/>
                </a:solidFill>
                <a:latin typeface="Arial"/>
              </a:rPr>
              <a:t>EfficientNet-B0</a:t>
            </a:r>
          </a:p>
        </p:txBody>
      </p:sp>
      <p:sp>
        <p:nvSpPr>
          <p:cNvPr id="14" name="TextBox 13"/>
          <p:cNvSpPr txBox="1"/>
          <p:nvPr/>
        </p:nvSpPr>
        <p:spPr>
          <a:xfrm>
            <a:off x="558800" y="3111500"/>
            <a:ext cx="3378200" cy="286004"/>
          </a:xfrm>
          <a:prstGeom prst="rect">
            <a:avLst/>
          </a:prstGeom>
          <a:noFill/>
        </p:spPr>
        <p:txBody>
          <a:bodyPr wrap="none" lIns="0" rIns="0" tIns="0" bIns="0" anchor="t">
            <a:spAutoFit/>
          </a:bodyPr>
          <a:lstStyle/>
          <a:p>
            <a:pPr algn="l">
              <a:lnSpc>
                <a:spcPts val="1952"/>
              </a:lnSpc>
              <a:spcBef>
                <a:spcPts val="0"/>
              </a:spcBef>
              <a:spcAft>
                <a:spcPts val="0"/>
              </a:spcAft>
            </a:pPr>
            <a:r>
              <a:rPr sz="1600" b="1">
                <a:solidFill>
                  <a:srgbClr val="172C2B"/>
                </a:solidFill>
                <a:latin typeface="Arial"/>
              </a:rPr>
              <a:t>General image classifier</a:t>
            </a:r>
          </a:p>
        </p:txBody>
      </p:sp>
      <p:sp>
        <p:nvSpPr>
          <p:cNvPr id="15" name="TextBox 14"/>
          <p:cNvSpPr txBox="1"/>
          <p:nvPr/>
        </p:nvSpPr>
        <p:spPr>
          <a:xfrm>
            <a:off x="558800" y="3898900"/>
            <a:ext cx="3378200" cy="828294"/>
          </a:xfrm>
          <a:prstGeom prst="rect">
            <a:avLst/>
          </a:prstGeom>
          <a:noFill/>
        </p:spPr>
        <p:txBody>
          <a:bodyPr wrap="none" lIns="0" rIns="0" tIns="0" bIns="0" anchor="t">
            <a:spAutoFit/>
          </a:bodyPr>
          <a:lstStyle/>
          <a:p>
            <a:pPr algn="l">
              <a:lnSpc>
                <a:spcPts val="2074"/>
              </a:lnSpc>
              <a:spcBef>
                <a:spcPts val="0"/>
              </a:spcBef>
              <a:spcAft>
                <a:spcPts val="0"/>
              </a:spcAft>
            </a:pPr>
            <a:r>
              <a:rPr sz="1700" b="0">
                <a:solidFill>
                  <a:srgbClr val="546966"/>
                </a:solidFill>
                <a:latin typeface="Arial"/>
              </a:rPr>
              <a:t>Trained on balanced</a:t>
            </a:r>
          </a:p>
          <a:p>
            <a:pPr algn="l">
              <a:lnSpc>
                <a:spcPts val="2074"/>
              </a:lnSpc>
              <a:spcBef>
                <a:spcPts val="0"/>
              </a:spcBef>
              <a:spcAft>
                <a:spcPts val="0"/>
              </a:spcAft>
            </a:pPr>
            <a:r>
              <a:rPr sz="1700" b="0">
                <a:solidFill>
                  <a:srgbClr val="546966"/>
                </a:solidFill>
                <a:latin typeface="Arial"/>
              </a:rPr>
              <a:t>Tiny-GenImage; calibrated scores</a:t>
            </a:r>
          </a:p>
          <a:p>
            <a:pPr algn="l">
              <a:lnSpc>
                <a:spcPts val="2074"/>
              </a:lnSpc>
              <a:spcBef>
                <a:spcPts val="0"/>
              </a:spcBef>
              <a:spcAft>
                <a:spcPts val="0"/>
              </a:spcAft>
            </a:pPr>
            <a:r>
              <a:rPr sz="1700" b="0">
                <a:solidFill>
                  <a:srgbClr val="546966"/>
                </a:solidFill>
                <a:latin typeface="Arial"/>
              </a:rPr>
              <a:t>and saved branch outputs.</a:t>
            </a:r>
          </a:p>
        </p:txBody>
      </p:sp>
      <p:sp>
        <p:nvSpPr>
          <p:cNvPr id="16" name="Rectangle 15"/>
          <p:cNvSpPr/>
          <p:nvPr/>
        </p:nvSpPr>
        <p:spPr>
          <a:xfrm>
            <a:off x="4368800" y="2197100"/>
            <a:ext cx="3378200" cy="63500"/>
          </a:xfrm>
          <a:prstGeom prst="rect">
            <a:avLst/>
          </a:prstGeom>
          <a:solidFill>
            <a:srgbClr val="C847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68800" y="2540000"/>
            <a:ext cx="3378200" cy="394462"/>
          </a:xfrm>
          <a:prstGeom prst="rect">
            <a:avLst/>
          </a:prstGeom>
          <a:noFill/>
        </p:spPr>
        <p:txBody>
          <a:bodyPr wrap="none" lIns="0" rIns="0" tIns="0" bIns="0" anchor="t">
            <a:spAutoFit/>
          </a:bodyPr>
          <a:lstStyle/>
          <a:p>
            <a:pPr algn="l">
              <a:lnSpc>
                <a:spcPts val="2806"/>
              </a:lnSpc>
              <a:spcBef>
                <a:spcPts val="0"/>
              </a:spcBef>
              <a:spcAft>
                <a:spcPts val="0"/>
              </a:spcAft>
            </a:pPr>
            <a:r>
              <a:rPr sz="2300" b="1">
                <a:solidFill>
                  <a:srgbClr val="C84760"/>
                </a:solidFill>
                <a:latin typeface="Arial"/>
              </a:rPr>
              <a:t>Real-only VAE</a:t>
            </a:r>
          </a:p>
        </p:txBody>
      </p:sp>
      <p:sp>
        <p:nvSpPr>
          <p:cNvPr id="18" name="TextBox 17"/>
          <p:cNvSpPr txBox="1"/>
          <p:nvPr/>
        </p:nvSpPr>
        <p:spPr>
          <a:xfrm>
            <a:off x="4368800" y="3111500"/>
            <a:ext cx="3378200" cy="286004"/>
          </a:xfrm>
          <a:prstGeom prst="rect">
            <a:avLst/>
          </a:prstGeom>
          <a:noFill/>
        </p:spPr>
        <p:txBody>
          <a:bodyPr wrap="none" lIns="0" rIns="0" tIns="0" bIns="0" anchor="t">
            <a:spAutoFit/>
          </a:bodyPr>
          <a:lstStyle/>
          <a:p>
            <a:pPr algn="l">
              <a:lnSpc>
                <a:spcPts val="1952"/>
              </a:lnSpc>
              <a:spcBef>
                <a:spcPts val="0"/>
              </a:spcBef>
              <a:spcAft>
                <a:spcPts val="0"/>
              </a:spcAft>
            </a:pPr>
            <a:r>
              <a:rPr sz="1600" b="1">
                <a:solidFill>
                  <a:srgbClr val="172C2B"/>
                </a:solidFill>
                <a:latin typeface="Arial"/>
              </a:rPr>
              <a:t>Reconstruction test</a:t>
            </a:r>
          </a:p>
        </p:txBody>
      </p:sp>
      <p:sp>
        <p:nvSpPr>
          <p:cNvPr id="19" name="TextBox 18"/>
          <p:cNvSpPr txBox="1"/>
          <p:nvPr/>
        </p:nvSpPr>
        <p:spPr>
          <a:xfrm>
            <a:off x="4368800" y="3898900"/>
            <a:ext cx="3378200" cy="1091692"/>
          </a:xfrm>
          <a:prstGeom prst="rect">
            <a:avLst/>
          </a:prstGeom>
          <a:noFill/>
        </p:spPr>
        <p:txBody>
          <a:bodyPr wrap="none" lIns="0" rIns="0" tIns="0" bIns="0" anchor="t">
            <a:spAutoFit/>
          </a:bodyPr>
          <a:lstStyle/>
          <a:p>
            <a:pPr algn="l">
              <a:lnSpc>
                <a:spcPts val="2074"/>
              </a:lnSpc>
              <a:spcBef>
                <a:spcPts val="0"/>
              </a:spcBef>
              <a:spcAft>
                <a:spcPts val="0"/>
              </a:spcAft>
            </a:pPr>
            <a:r>
              <a:rPr sz="1700" b="0">
                <a:solidFill>
                  <a:srgbClr val="546966"/>
                </a:solidFill>
                <a:latin typeface="Arial"/>
              </a:rPr>
              <a:t>Built the encoder, decoder and</a:t>
            </a:r>
          </a:p>
          <a:p>
            <a:pPr algn="l">
              <a:lnSpc>
                <a:spcPts val="2074"/>
              </a:lnSpc>
              <a:spcBef>
                <a:spcPts val="0"/>
              </a:spcBef>
              <a:spcAft>
                <a:spcPts val="0"/>
              </a:spcAft>
            </a:pPr>
            <a:r>
              <a:rPr sz="1700" b="0">
                <a:solidFill>
                  <a:srgbClr val="546966"/>
                </a:solidFill>
                <a:latin typeface="Arial"/>
              </a:rPr>
              <a:t>training loop; tested whether</a:t>
            </a:r>
          </a:p>
          <a:p>
            <a:pPr algn="l">
              <a:lnSpc>
                <a:spcPts val="2074"/>
              </a:lnSpc>
              <a:spcBef>
                <a:spcPts val="0"/>
              </a:spcBef>
              <a:spcAft>
                <a:spcPts val="0"/>
              </a:spcAft>
            </a:pPr>
            <a:r>
              <a:rPr sz="1700" b="0">
                <a:solidFill>
                  <a:srgbClr val="546966"/>
                </a:solidFill>
                <a:latin typeface="Arial"/>
              </a:rPr>
              <a:t>unusual reconstruction errors flag</a:t>
            </a:r>
          </a:p>
          <a:p>
            <a:pPr algn="l">
              <a:lnSpc>
                <a:spcPts val="2074"/>
              </a:lnSpc>
              <a:spcBef>
                <a:spcPts val="0"/>
              </a:spcBef>
              <a:spcAft>
                <a:spcPts val="0"/>
              </a:spcAft>
            </a:pPr>
            <a:r>
              <a:rPr sz="1700" b="0">
                <a:solidFill>
                  <a:srgbClr val="546966"/>
                </a:solidFill>
                <a:latin typeface="Arial"/>
              </a:rPr>
              <a:t>AI.</a:t>
            </a:r>
          </a:p>
        </p:txBody>
      </p:sp>
      <p:sp>
        <p:nvSpPr>
          <p:cNvPr id="20" name="Rectangle 19"/>
          <p:cNvSpPr/>
          <p:nvPr/>
        </p:nvSpPr>
        <p:spPr>
          <a:xfrm>
            <a:off x="8178800" y="2197100"/>
            <a:ext cx="3378200" cy="63500"/>
          </a:xfrm>
          <a:prstGeom prst="rect">
            <a:avLst/>
          </a:prstGeom>
          <a:solidFill>
            <a:srgbClr val="B7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8800" y="2540000"/>
            <a:ext cx="3378200" cy="394462"/>
          </a:xfrm>
          <a:prstGeom prst="rect">
            <a:avLst/>
          </a:prstGeom>
          <a:noFill/>
        </p:spPr>
        <p:txBody>
          <a:bodyPr wrap="none" lIns="0" rIns="0" tIns="0" bIns="0" anchor="t">
            <a:spAutoFit/>
          </a:bodyPr>
          <a:lstStyle/>
          <a:p>
            <a:pPr algn="l">
              <a:lnSpc>
                <a:spcPts val="2806"/>
              </a:lnSpc>
              <a:spcBef>
                <a:spcPts val="0"/>
              </a:spcBef>
              <a:spcAft>
                <a:spcPts val="0"/>
              </a:spcAft>
            </a:pPr>
            <a:r>
              <a:rPr sz="2300" b="1">
                <a:solidFill>
                  <a:srgbClr val="B77B00"/>
                </a:solidFill>
                <a:latin typeface="Arial"/>
              </a:rPr>
              <a:t>FaceGate</a:t>
            </a:r>
          </a:p>
        </p:txBody>
      </p:sp>
      <p:sp>
        <p:nvSpPr>
          <p:cNvPr id="22" name="TextBox 21"/>
          <p:cNvSpPr txBox="1"/>
          <p:nvPr/>
        </p:nvSpPr>
        <p:spPr>
          <a:xfrm>
            <a:off x="8178800" y="3111500"/>
            <a:ext cx="3378200" cy="533908"/>
          </a:xfrm>
          <a:prstGeom prst="rect">
            <a:avLst/>
          </a:prstGeom>
          <a:noFill/>
        </p:spPr>
        <p:txBody>
          <a:bodyPr wrap="none" lIns="0" rIns="0" tIns="0" bIns="0" anchor="t">
            <a:spAutoFit/>
          </a:bodyPr>
          <a:lstStyle/>
          <a:p>
            <a:pPr algn="l">
              <a:lnSpc>
                <a:spcPts val="1952"/>
              </a:lnSpc>
              <a:spcBef>
                <a:spcPts val="0"/>
              </a:spcBef>
              <a:spcAft>
                <a:spcPts val="0"/>
              </a:spcAft>
            </a:pPr>
            <a:r>
              <a:rPr sz="1600" b="1">
                <a:solidFill>
                  <a:srgbClr val="172C2B"/>
                </a:solidFill>
                <a:latin typeface="Arial"/>
              </a:rPr>
              <a:t>Use the face model only when</a:t>
            </a:r>
          </a:p>
          <a:p>
            <a:pPr algn="l">
              <a:lnSpc>
                <a:spcPts val="1952"/>
              </a:lnSpc>
              <a:spcBef>
                <a:spcPts val="0"/>
              </a:spcBef>
              <a:spcAft>
                <a:spcPts val="0"/>
              </a:spcAft>
            </a:pPr>
            <a:r>
              <a:rPr sz="1600" b="1">
                <a:solidFill>
                  <a:srgbClr val="172C2B"/>
                </a:solidFill>
                <a:latin typeface="Arial"/>
              </a:rPr>
              <a:t>relevant</a:t>
            </a:r>
          </a:p>
        </p:txBody>
      </p:sp>
      <p:sp>
        <p:nvSpPr>
          <p:cNvPr id="23" name="TextBox 22"/>
          <p:cNvSpPr txBox="1"/>
          <p:nvPr/>
        </p:nvSpPr>
        <p:spPr>
          <a:xfrm>
            <a:off x="8178800" y="3898900"/>
            <a:ext cx="3378200" cy="828294"/>
          </a:xfrm>
          <a:prstGeom prst="rect">
            <a:avLst/>
          </a:prstGeom>
          <a:noFill/>
        </p:spPr>
        <p:txBody>
          <a:bodyPr wrap="none" lIns="0" rIns="0" tIns="0" bIns="0" anchor="t">
            <a:spAutoFit/>
          </a:bodyPr>
          <a:lstStyle/>
          <a:p>
            <a:pPr algn="l">
              <a:lnSpc>
                <a:spcPts val="2074"/>
              </a:lnSpc>
              <a:spcBef>
                <a:spcPts val="0"/>
              </a:spcBef>
              <a:spcAft>
                <a:spcPts val="0"/>
              </a:spcAft>
            </a:pPr>
            <a:r>
              <a:rPr sz="1700" b="0">
                <a:solidFill>
                  <a:srgbClr val="546966"/>
                </a:solidFill>
                <a:latin typeface="Arial"/>
              </a:rPr>
              <a:t>Checked face presence and</a:t>
            </a:r>
          </a:p>
          <a:p>
            <a:pPr algn="l">
              <a:lnSpc>
                <a:spcPts val="2074"/>
              </a:lnSpc>
              <a:spcBef>
                <a:spcPts val="0"/>
              </a:spcBef>
              <a:spcAft>
                <a:spcPts val="0"/>
              </a:spcAft>
            </a:pPr>
            <a:r>
              <a:rPr sz="1700" b="0">
                <a:solidFill>
                  <a:srgbClr val="546966"/>
                </a:solidFill>
                <a:latin typeface="Arial"/>
              </a:rPr>
              <a:t>routed the OpenForensics score</a:t>
            </a:r>
          </a:p>
          <a:p>
            <a:pPr algn="l">
              <a:lnSpc>
                <a:spcPts val="2074"/>
              </a:lnSpc>
              <a:spcBef>
                <a:spcPts val="0"/>
              </a:spcBef>
              <a:spcAft>
                <a:spcPts val="0"/>
              </a:spcAft>
            </a:pPr>
            <a:r>
              <a:rPr sz="1700" b="0">
                <a:solidFill>
                  <a:srgbClr val="546966"/>
                </a:solidFill>
                <a:latin typeface="Arial"/>
              </a:rPr>
              <a:t>only when a valid face was found.</a:t>
            </a:r>
          </a:p>
        </p:txBody>
      </p:sp>
      <p:sp>
        <p:nvSpPr>
          <p:cNvPr id="24" name="Rectangle 23"/>
          <p:cNvSpPr/>
          <p:nvPr/>
        </p:nvSpPr>
        <p:spPr>
          <a:xfrm>
            <a:off x="558800" y="5588000"/>
            <a:ext cx="11074400" cy="571500"/>
          </a:xfrm>
          <a:prstGeom prst="rect">
            <a:avLst/>
          </a:prstGeom>
          <a:solidFill>
            <a:srgbClr val="DF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2000" y="5727700"/>
            <a:ext cx="10668000" cy="270510"/>
          </a:xfrm>
          <a:prstGeom prst="rect">
            <a:avLst/>
          </a:prstGeom>
          <a:noFill/>
        </p:spPr>
        <p:txBody>
          <a:bodyPr wrap="none" lIns="0" rIns="0" tIns="0" bIns="0" anchor="t">
            <a:spAutoFit/>
          </a:bodyPr>
          <a:lstStyle/>
          <a:p>
            <a:pPr algn="l">
              <a:lnSpc>
                <a:spcPts val="1830"/>
              </a:lnSpc>
              <a:spcBef>
                <a:spcPts val="0"/>
              </a:spcBef>
              <a:spcAft>
                <a:spcPts val="0"/>
              </a:spcAft>
            </a:pPr>
            <a:r>
              <a:rPr sz="1500" b="1">
                <a:solidFill>
                  <a:srgbClr val="00796B"/>
                </a:solidFill>
                <a:latin typeface="Arial"/>
              </a:rPr>
              <a:t>Negative finding: VAE alone AUROC ~0.470; a naive weighted blend hurt performance.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600" cy="6858000"/>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58800" y="304800"/>
            <a:ext cx="10160000" cy="193040"/>
          </a:xfrm>
          <a:prstGeom prst="rect">
            <a:avLst/>
          </a:prstGeom>
          <a:noFill/>
        </p:spPr>
        <p:txBody>
          <a:bodyPr wrap="none" lIns="0" rIns="0" tIns="0" bIns="0" anchor="t">
            <a:spAutoFit/>
          </a:bodyPr>
          <a:lstStyle/>
          <a:p>
            <a:pPr algn="l">
              <a:lnSpc>
                <a:spcPts val="1220"/>
              </a:lnSpc>
              <a:spcBef>
                <a:spcPts val="0"/>
              </a:spcBef>
              <a:spcAft>
                <a:spcPts val="0"/>
              </a:spcAft>
            </a:pPr>
            <a:r>
              <a:rPr sz="1000" b="1">
                <a:solidFill>
                  <a:srgbClr val="00796B"/>
                </a:solidFill>
                <a:latin typeface="Arial"/>
              </a:rPr>
              <a:t>STAGE 3 / SEMANTIC LAYER</a:t>
            </a:r>
          </a:p>
        </p:txBody>
      </p:sp>
      <p:sp>
        <p:nvSpPr>
          <p:cNvPr id="5" name="TextBox 4"/>
          <p:cNvSpPr txBox="1"/>
          <p:nvPr/>
        </p:nvSpPr>
        <p:spPr>
          <a:xfrm>
            <a:off x="10947400" y="304800"/>
            <a:ext cx="736600" cy="193040"/>
          </a:xfrm>
          <a:prstGeom prst="rect">
            <a:avLst/>
          </a:prstGeom>
          <a:noFill/>
        </p:spPr>
        <p:txBody>
          <a:bodyPr wrap="none" lIns="0" rIns="0" tIns="0" bIns="0" anchor="t">
            <a:spAutoFit/>
          </a:bodyPr>
          <a:lstStyle/>
          <a:p>
            <a:pPr algn="l">
              <a:lnSpc>
                <a:spcPts val="1220"/>
              </a:lnSpc>
              <a:spcBef>
                <a:spcPts val="0"/>
              </a:spcBef>
              <a:spcAft>
                <a:spcPts val="0"/>
              </a:spcAft>
            </a:pPr>
            <a:r>
              <a:rPr sz="1000" b="0">
                <a:solidFill>
                  <a:srgbClr val="546966"/>
                </a:solidFill>
                <a:latin typeface="Arial"/>
              </a:rPr>
              <a:t>06 / 15</a:t>
            </a:r>
          </a:p>
        </p:txBody>
      </p:sp>
      <p:sp>
        <p:nvSpPr>
          <p:cNvPr id="6" name="TextBox 5"/>
          <p:cNvSpPr txBox="1"/>
          <p:nvPr/>
        </p:nvSpPr>
        <p:spPr>
          <a:xfrm>
            <a:off x="558800" y="762000"/>
            <a:ext cx="11074400" cy="502920"/>
          </a:xfrm>
          <a:prstGeom prst="rect">
            <a:avLst/>
          </a:prstGeom>
          <a:noFill/>
        </p:spPr>
        <p:txBody>
          <a:bodyPr wrap="none" lIns="0" rIns="0" tIns="0" bIns="0" anchor="t">
            <a:spAutoFit/>
          </a:bodyPr>
          <a:lstStyle/>
          <a:p>
            <a:pPr algn="l">
              <a:lnSpc>
                <a:spcPts val="3660"/>
              </a:lnSpc>
              <a:spcBef>
                <a:spcPts val="0"/>
              </a:spcBef>
              <a:spcAft>
                <a:spcPts val="0"/>
              </a:spcAft>
            </a:pPr>
            <a:r>
              <a:rPr sz="3000" b="1">
                <a:solidFill>
                  <a:srgbClr val="172C2B"/>
                </a:solidFill>
                <a:latin typeface="Arial"/>
              </a:rPr>
              <a:t>Built a custom attention head over image patches</a:t>
            </a:r>
          </a:p>
        </p:txBody>
      </p:sp>
      <p:sp>
        <p:nvSpPr>
          <p:cNvPr id="7" name="TextBox 6"/>
          <p:cNvSpPr txBox="1"/>
          <p:nvPr/>
        </p:nvSpPr>
        <p:spPr>
          <a:xfrm>
            <a:off x="584200" y="1409700"/>
            <a:ext cx="11049000" cy="255015"/>
          </a:xfrm>
          <a:prstGeom prst="rect">
            <a:avLst/>
          </a:prstGeom>
          <a:noFill/>
        </p:spPr>
        <p:txBody>
          <a:bodyPr wrap="none" lIns="0" rIns="0" tIns="0" bIns="0" anchor="t">
            <a:spAutoFit/>
          </a:bodyPr>
          <a:lstStyle/>
          <a:p>
            <a:pPr algn="l">
              <a:lnSpc>
                <a:spcPts val="1707"/>
              </a:lnSpc>
              <a:spcBef>
                <a:spcPts val="0"/>
              </a:spcBef>
              <a:spcAft>
                <a:spcPts val="0"/>
              </a:spcAft>
            </a:pPr>
            <a:r>
              <a:rPr sz="1400" b="0">
                <a:solidFill>
                  <a:srgbClr val="546966"/>
                </a:solidFill>
                <a:latin typeface="Arial"/>
              </a:rPr>
              <a:t>ViT = Vision Transformer; it represents an image as a sequence of patches.</a:t>
            </a:r>
          </a:p>
        </p:txBody>
      </p:sp>
      <p:cxnSp>
        <p:nvCxnSpPr>
          <p:cNvPr id="8" name="Connector 7"/>
          <p:cNvCxnSpPr/>
          <p:nvPr/>
        </p:nvCxnSpPr>
        <p:spPr>
          <a:xfrm>
            <a:off x="558800" y="6375400"/>
            <a:ext cx="11074400" cy="0"/>
          </a:xfrm>
          <a:prstGeom prst="line">
            <a:avLst/>
          </a:prstGeom>
          <a:ln w="12700">
            <a:solidFill>
              <a:srgbClr val="DCE5E2"/>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58800" y="6540500"/>
            <a:ext cx="5080000" cy="169799"/>
          </a:xfrm>
          <a:prstGeom prst="rect">
            <a:avLst/>
          </a:prstGeom>
          <a:noFill/>
        </p:spPr>
        <p:txBody>
          <a:bodyPr wrap="none" lIns="0" rIns="0" tIns="0" bIns="0" anchor="t">
            <a:spAutoFit/>
          </a:bodyPr>
          <a:lstStyle/>
          <a:p>
            <a:pPr algn="l">
              <a:lnSpc>
                <a:spcPts val="1037"/>
              </a:lnSpc>
              <a:spcBef>
                <a:spcPts val="0"/>
              </a:spcBef>
              <a:spcAft>
                <a:spcPts val="0"/>
              </a:spcAft>
            </a:pPr>
            <a:r>
              <a:rPr sz="850" b="0">
                <a:solidFill>
                  <a:srgbClr val="546966"/>
                </a:solidFill>
                <a:latin typeface="Arial"/>
              </a:rPr>
              <a:t>AI SHIELD / ABDELRAHMAN SOLIMAN</a:t>
            </a:r>
          </a:p>
        </p:txBody>
      </p:sp>
      <p:sp>
        <p:nvSpPr>
          <p:cNvPr id="10" name="TextBox 9"/>
          <p:cNvSpPr txBox="1"/>
          <p:nvPr/>
        </p:nvSpPr>
        <p:spPr>
          <a:xfrm>
            <a:off x="7175500" y="6540500"/>
            <a:ext cx="1460500" cy="169799"/>
          </a:xfrm>
          <a:prstGeom prst="rect">
            <a:avLst/>
          </a:prstGeom>
          <a:noFill/>
        </p:spPr>
        <p:txBody>
          <a:bodyPr wrap="none" lIns="0" rIns="0" tIns="0" bIns="0" anchor="t">
            <a:spAutoFit/>
          </a:bodyPr>
          <a:lstStyle/>
          <a:p>
            <a:pPr algn="l">
              <a:lnSpc>
                <a:spcPts val="1037"/>
              </a:lnSpc>
              <a:spcBef>
                <a:spcPts val="0"/>
              </a:spcBef>
              <a:spcAft>
                <a:spcPts val="0"/>
              </a:spcAft>
            </a:pPr>
            <a:r>
              <a:rPr sz="850" b="0">
                <a:solidFill>
                  <a:srgbClr val="546966"/>
                </a:solidFill>
                <a:latin typeface="Arial"/>
                <a:hlinkClick r:id="rId2"/>
              </a:rPr>
              <a:t>Build history</a:t>
            </a:r>
          </a:p>
        </p:txBody>
      </p:sp>
      <p:sp>
        <p:nvSpPr>
          <p:cNvPr id="11" name="TextBox 10"/>
          <p:cNvSpPr txBox="1"/>
          <p:nvPr/>
        </p:nvSpPr>
        <p:spPr>
          <a:xfrm>
            <a:off x="8648700" y="6540500"/>
            <a:ext cx="1460500" cy="169799"/>
          </a:xfrm>
          <a:prstGeom prst="rect">
            <a:avLst/>
          </a:prstGeom>
          <a:noFill/>
        </p:spPr>
        <p:txBody>
          <a:bodyPr wrap="none" lIns="0" rIns="0" tIns="0" bIns="0" anchor="t">
            <a:spAutoFit/>
          </a:bodyPr>
          <a:lstStyle/>
          <a:p>
            <a:pPr algn="l">
              <a:lnSpc>
                <a:spcPts val="1037"/>
              </a:lnSpc>
              <a:spcBef>
                <a:spcPts val="0"/>
              </a:spcBef>
              <a:spcAft>
                <a:spcPts val="0"/>
              </a:spcAft>
            </a:pPr>
            <a:r>
              <a:rPr sz="850" b="0">
                <a:solidFill>
                  <a:srgbClr val="546966"/>
                </a:solidFill>
                <a:latin typeface="Arial"/>
                <a:hlinkClick r:id="rId3"/>
              </a:rPr>
              <a:t>Results</a:t>
            </a:r>
          </a:p>
        </p:txBody>
      </p:sp>
      <p:sp>
        <p:nvSpPr>
          <p:cNvPr id="12" name="Rectangle 11"/>
          <p:cNvSpPr/>
          <p:nvPr/>
        </p:nvSpPr>
        <p:spPr>
          <a:xfrm>
            <a:off x="558800" y="2400300"/>
            <a:ext cx="1651000" cy="1244600"/>
          </a:xfrm>
          <a:prstGeom prst="rect">
            <a:avLst/>
          </a:prstGeom>
          <a:solidFill>
            <a:srgbClr val="F2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1200" y="2705100"/>
            <a:ext cx="1346200" cy="595884"/>
          </a:xfrm>
          <a:prstGeom prst="rect">
            <a:avLst/>
          </a:prstGeom>
          <a:noFill/>
        </p:spPr>
        <p:txBody>
          <a:bodyPr wrap="none" lIns="0" rIns="0" tIns="0" bIns="0" anchor="t">
            <a:spAutoFit/>
          </a:bodyPr>
          <a:lstStyle/>
          <a:p>
            <a:pPr algn="ctr">
              <a:lnSpc>
                <a:spcPts val="2196"/>
              </a:lnSpc>
              <a:spcBef>
                <a:spcPts val="0"/>
              </a:spcBef>
              <a:spcAft>
                <a:spcPts val="0"/>
              </a:spcAft>
            </a:pPr>
            <a:r>
              <a:rPr sz="1800" b="1">
                <a:solidFill>
                  <a:srgbClr val="172C2B"/>
                </a:solidFill>
                <a:latin typeface="Arial"/>
              </a:rPr>
              <a:t>Image</a:t>
            </a:r>
          </a:p>
          <a:p>
            <a:pPr algn="ctr">
              <a:lnSpc>
                <a:spcPts val="2196"/>
              </a:lnSpc>
              <a:spcBef>
                <a:spcPts val="0"/>
              </a:spcBef>
              <a:spcAft>
                <a:spcPts val="0"/>
              </a:spcAft>
            </a:pPr>
            <a:r>
              <a:rPr sz="1800" b="1">
                <a:solidFill>
                  <a:srgbClr val="172C2B"/>
                </a:solidFill>
                <a:latin typeface="Arial"/>
              </a:rPr>
              <a:t>patches</a:t>
            </a:r>
          </a:p>
        </p:txBody>
      </p:sp>
      <p:sp>
        <p:nvSpPr>
          <p:cNvPr id="14" name="Rectangle 13"/>
          <p:cNvSpPr/>
          <p:nvPr/>
        </p:nvSpPr>
        <p:spPr>
          <a:xfrm>
            <a:off x="2743200" y="2400300"/>
            <a:ext cx="2108200" cy="1244600"/>
          </a:xfrm>
          <a:prstGeom prst="rect">
            <a:avLst/>
          </a:prstGeom>
          <a:solidFill>
            <a:srgbClr val="F2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95600" y="2705100"/>
            <a:ext cx="1803400" cy="595884"/>
          </a:xfrm>
          <a:prstGeom prst="rect">
            <a:avLst/>
          </a:prstGeom>
          <a:noFill/>
        </p:spPr>
        <p:txBody>
          <a:bodyPr wrap="none" lIns="0" rIns="0" tIns="0" bIns="0" anchor="t">
            <a:spAutoFit/>
          </a:bodyPr>
          <a:lstStyle/>
          <a:p>
            <a:pPr algn="ctr">
              <a:lnSpc>
                <a:spcPts val="2196"/>
              </a:lnSpc>
              <a:spcBef>
                <a:spcPts val="0"/>
              </a:spcBef>
              <a:spcAft>
                <a:spcPts val="0"/>
              </a:spcAft>
            </a:pPr>
            <a:r>
              <a:rPr sz="1800" b="1">
                <a:solidFill>
                  <a:srgbClr val="172C2B"/>
                </a:solidFill>
                <a:latin typeface="Arial"/>
              </a:rPr>
              <a:t>Pretrained</a:t>
            </a:r>
          </a:p>
          <a:p>
            <a:pPr algn="ctr">
              <a:lnSpc>
                <a:spcPts val="2196"/>
              </a:lnSpc>
              <a:spcBef>
                <a:spcPts val="0"/>
              </a:spcBef>
              <a:spcAft>
                <a:spcPts val="0"/>
              </a:spcAft>
            </a:pPr>
            <a:r>
              <a:rPr sz="1800" b="1">
                <a:solidFill>
                  <a:srgbClr val="172C2B"/>
                </a:solidFill>
                <a:latin typeface="Arial"/>
              </a:rPr>
              <a:t>ViT backbone</a:t>
            </a:r>
          </a:p>
        </p:txBody>
      </p:sp>
      <p:sp>
        <p:nvSpPr>
          <p:cNvPr id="16" name="Rectangle 15"/>
          <p:cNvSpPr/>
          <p:nvPr/>
        </p:nvSpPr>
        <p:spPr>
          <a:xfrm>
            <a:off x="5384800" y="2400300"/>
            <a:ext cx="3619500" cy="1244600"/>
          </a:xfrm>
          <a:prstGeom prst="rect">
            <a:avLst/>
          </a:prstGeom>
          <a:solidFill>
            <a:srgbClr val="DF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37200" y="2705100"/>
            <a:ext cx="3314700" cy="595884"/>
          </a:xfrm>
          <a:prstGeom prst="rect">
            <a:avLst/>
          </a:prstGeom>
          <a:noFill/>
        </p:spPr>
        <p:txBody>
          <a:bodyPr wrap="none" lIns="0" rIns="0" tIns="0" bIns="0" anchor="t">
            <a:spAutoFit/>
          </a:bodyPr>
          <a:lstStyle/>
          <a:p>
            <a:pPr algn="ctr">
              <a:lnSpc>
                <a:spcPts val="2196"/>
              </a:lnSpc>
              <a:spcBef>
                <a:spcPts val="0"/>
              </a:spcBef>
              <a:spcAft>
                <a:spcPts val="0"/>
              </a:spcAft>
            </a:pPr>
            <a:r>
              <a:rPr sz="1800" b="1">
                <a:solidFill>
                  <a:srgbClr val="00796B"/>
                </a:solidFill>
                <a:latin typeface="Arial"/>
              </a:rPr>
              <a:t>Custom attention</a:t>
            </a:r>
          </a:p>
          <a:p>
            <a:pPr algn="ctr">
              <a:lnSpc>
                <a:spcPts val="2196"/>
              </a:lnSpc>
              <a:spcBef>
                <a:spcPts val="0"/>
              </a:spcBef>
              <a:spcAft>
                <a:spcPts val="0"/>
              </a:spcAft>
            </a:pPr>
            <a:r>
              <a:rPr sz="1800" b="1">
                <a:solidFill>
                  <a:srgbClr val="00796B"/>
                </a:solidFill>
                <a:latin typeface="Arial"/>
              </a:rPr>
              <a:t>+ refinement + pooling</a:t>
            </a:r>
          </a:p>
        </p:txBody>
      </p:sp>
      <p:sp>
        <p:nvSpPr>
          <p:cNvPr id="18" name="Rectangle 17"/>
          <p:cNvSpPr/>
          <p:nvPr/>
        </p:nvSpPr>
        <p:spPr>
          <a:xfrm>
            <a:off x="9537700" y="2400300"/>
            <a:ext cx="2095500" cy="1244600"/>
          </a:xfrm>
          <a:prstGeom prst="rect">
            <a:avLst/>
          </a:prstGeom>
          <a:solidFill>
            <a:srgbClr val="F2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90100" y="2705100"/>
            <a:ext cx="1790700" cy="595884"/>
          </a:xfrm>
          <a:prstGeom prst="rect">
            <a:avLst/>
          </a:prstGeom>
          <a:noFill/>
        </p:spPr>
        <p:txBody>
          <a:bodyPr wrap="none" lIns="0" rIns="0" tIns="0" bIns="0" anchor="t">
            <a:spAutoFit/>
          </a:bodyPr>
          <a:lstStyle/>
          <a:p>
            <a:pPr algn="ctr">
              <a:lnSpc>
                <a:spcPts val="2196"/>
              </a:lnSpc>
              <a:spcBef>
                <a:spcPts val="0"/>
              </a:spcBef>
              <a:spcAft>
                <a:spcPts val="0"/>
              </a:spcAft>
            </a:pPr>
            <a:r>
              <a:rPr sz="1800" b="1">
                <a:solidFill>
                  <a:srgbClr val="172C2B"/>
                </a:solidFill>
                <a:latin typeface="Arial"/>
              </a:rPr>
              <a:t>Whole-image</a:t>
            </a:r>
          </a:p>
          <a:p>
            <a:pPr algn="ctr">
              <a:lnSpc>
                <a:spcPts val="2196"/>
              </a:lnSpc>
              <a:spcBef>
                <a:spcPts val="0"/>
              </a:spcBef>
              <a:spcAft>
                <a:spcPts val="0"/>
              </a:spcAft>
            </a:pPr>
            <a:r>
              <a:rPr sz="1800" b="1">
                <a:solidFill>
                  <a:srgbClr val="172C2B"/>
                </a:solidFill>
                <a:latin typeface="Arial"/>
              </a:rPr>
              <a:t>AI score</a:t>
            </a:r>
          </a:p>
        </p:txBody>
      </p:sp>
      <p:cxnSp>
        <p:nvCxnSpPr>
          <p:cNvPr id="20" name="Connector 19"/>
          <p:cNvCxnSpPr/>
          <p:nvPr/>
        </p:nvCxnSpPr>
        <p:spPr>
          <a:xfrm>
            <a:off x="2298700" y="3009900"/>
            <a:ext cx="330200" cy="0"/>
          </a:xfrm>
          <a:prstGeom prst="line">
            <a:avLst/>
          </a:prstGeom>
          <a:ln w="20320">
            <a:solidFill>
              <a:srgbClr val="00796B"/>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2550882" y="3009900"/>
            <a:ext cx="78018" cy="42620"/>
          </a:xfrm>
          <a:prstGeom prst="line">
            <a:avLst/>
          </a:prstGeom>
          <a:ln w="20320">
            <a:solidFill>
              <a:srgbClr val="00796B"/>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2550882" y="2967279"/>
            <a:ext cx="78018" cy="42621"/>
          </a:xfrm>
          <a:prstGeom prst="line">
            <a:avLst/>
          </a:prstGeom>
          <a:ln w="20320">
            <a:solidFill>
              <a:srgbClr val="00796B"/>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940300" y="3009900"/>
            <a:ext cx="330200" cy="0"/>
          </a:xfrm>
          <a:prstGeom prst="line">
            <a:avLst/>
          </a:prstGeom>
          <a:ln w="20320">
            <a:solidFill>
              <a:srgbClr val="00796B"/>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5192482" y="3009900"/>
            <a:ext cx="78018" cy="42620"/>
          </a:xfrm>
          <a:prstGeom prst="line">
            <a:avLst/>
          </a:prstGeom>
          <a:ln w="20320">
            <a:solidFill>
              <a:srgbClr val="00796B"/>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5192482" y="2967279"/>
            <a:ext cx="78018" cy="42621"/>
          </a:xfrm>
          <a:prstGeom prst="line">
            <a:avLst/>
          </a:prstGeom>
          <a:ln w="20320">
            <a:solidFill>
              <a:srgbClr val="00796B"/>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093200" y="3009900"/>
            <a:ext cx="330200" cy="0"/>
          </a:xfrm>
          <a:prstGeom prst="line">
            <a:avLst/>
          </a:prstGeom>
          <a:ln w="20320">
            <a:solidFill>
              <a:srgbClr val="00796B"/>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9345382" y="3009900"/>
            <a:ext cx="78018" cy="42620"/>
          </a:xfrm>
          <a:prstGeom prst="line">
            <a:avLst/>
          </a:prstGeom>
          <a:ln w="20320">
            <a:solidFill>
              <a:srgbClr val="00796B"/>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9345382" y="2967279"/>
            <a:ext cx="78018" cy="42621"/>
          </a:xfrm>
          <a:prstGeom prst="line">
            <a:avLst/>
          </a:prstGeom>
          <a:ln w="20320">
            <a:solidFill>
              <a:srgbClr val="00796B"/>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09600" y="4292600"/>
            <a:ext cx="4191000" cy="611378"/>
          </a:xfrm>
          <a:prstGeom prst="rect">
            <a:avLst/>
          </a:prstGeom>
          <a:noFill/>
        </p:spPr>
        <p:txBody>
          <a:bodyPr wrap="none" lIns="0" rIns="0" tIns="0" bIns="0" anchor="t">
            <a:spAutoFit/>
          </a:bodyPr>
          <a:lstStyle/>
          <a:p>
            <a:pPr algn="l">
              <a:lnSpc>
                <a:spcPts val="4514"/>
              </a:lnSpc>
              <a:spcBef>
                <a:spcPts val="0"/>
              </a:spcBef>
              <a:spcAft>
                <a:spcPts val="0"/>
              </a:spcAft>
            </a:pPr>
            <a:r>
              <a:rPr sz="3700" b="1">
                <a:solidFill>
                  <a:srgbClr val="00796B"/>
                </a:solidFill>
                <a:latin typeface="Arial"/>
              </a:rPr>
              <a:t>856,578</a:t>
            </a:r>
          </a:p>
        </p:txBody>
      </p:sp>
      <p:sp>
        <p:nvSpPr>
          <p:cNvPr id="30" name="TextBox 29"/>
          <p:cNvSpPr txBox="1"/>
          <p:nvPr/>
        </p:nvSpPr>
        <p:spPr>
          <a:xfrm>
            <a:off x="635000" y="4914900"/>
            <a:ext cx="4953000" cy="301498"/>
          </a:xfrm>
          <a:prstGeom prst="rect">
            <a:avLst/>
          </a:prstGeom>
          <a:noFill/>
        </p:spPr>
        <p:txBody>
          <a:bodyPr wrap="none" lIns="0" rIns="0" tIns="0" bIns="0" anchor="t">
            <a:spAutoFit/>
          </a:bodyPr>
          <a:lstStyle/>
          <a:p>
            <a:pPr algn="l">
              <a:lnSpc>
                <a:spcPts val="2074"/>
              </a:lnSpc>
              <a:spcBef>
                <a:spcPts val="0"/>
              </a:spcBef>
              <a:spcAft>
                <a:spcPts val="0"/>
              </a:spcAft>
            </a:pPr>
            <a:r>
              <a:rPr sz="1700" b="0">
                <a:solidFill>
                  <a:srgbClr val="546966"/>
                </a:solidFill>
                <a:latin typeface="Arial"/>
              </a:rPr>
              <a:t>trainable custom-head parameters</a:t>
            </a:r>
          </a:p>
        </p:txBody>
      </p:sp>
      <p:sp>
        <p:nvSpPr>
          <p:cNvPr id="31" name="TextBox 30"/>
          <p:cNvSpPr txBox="1"/>
          <p:nvPr/>
        </p:nvSpPr>
        <p:spPr>
          <a:xfrm>
            <a:off x="5969000" y="4305300"/>
            <a:ext cx="5588000" cy="874776"/>
          </a:xfrm>
          <a:prstGeom prst="rect">
            <a:avLst/>
          </a:prstGeom>
          <a:noFill/>
        </p:spPr>
        <p:txBody>
          <a:bodyPr wrap="none" lIns="0" rIns="0" tIns="0" bIns="0" anchor="t">
            <a:spAutoFit/>
          </a:bodyPr>
          <a:lstStyle/>
          <a:p>
            <a:pPr algn="l">
              <a:lnSpc>
                <a:spcPts val="2196"/>
              </a:lnSpc>
              <a:spcBef>
                <a:spcPts val="0"/>
              </a:spcBef>
              <a:spcAft>
                <a:spcPts val="0"/>
              </a:spcAft>
            </a:pPr>
            <a:r>
              <a:rPr sz="1800" b="0">
                <a:solidFill>
                  <a:srgbClr val="546966"/>
                </a:solidFill>
                <a:latin typeface="Arial"/>
              </a:rPr>
              <a:t>Backbone frozen; custom head trained.</a:t>
            </a:r>
          </a:p>
          <a:p>
            <a:pPr algn="l">
              <a:lnSpc>
                <a:spcPts val="2196"/>
              </a:lnSpc>
              <a:spcBef>
                <a:spcPts val="0"/>
              </a:spcBef>
              <a:spcAft>
                <a:spcPts val="0"/>
              </a:spcAft>
            </a:pPr>
            <a:r>
              <a:rPr sz="1800" b="0">
                <a:solidFill>
                  <a:srgbClr val="546966"/>
                </a:solidFill>
                <a:latin typeface="Arial"/>
              </a:rPr>
              <a:t>Implemented multi-head attention,</a:t>
            </a:r>
          </a:p>
          <a:p>
            <a:pPr algn="l">
              <a:lnSpc>
                <a:spcPts val="2196"/>
              </a:lnSpc>
              <a:spcBef>
                <a:spcPts val="0"/>
              </a:spcBef>
              <a:spcAft>
                <a:spcPts val="0"/>
              </a:spcAft>
            </a:pPr>
            <a:r>
              <a:rPr sz="1800" b="0">
                <a:solidFill>
                  <a:srgbClr val="546966"/>
                </a:solidFill>
                <a:latin typeface="Arial"/>
              </a:rPr>
              <a:t>refinement and attention pooling.</a:t>
            </a:r>
          </a:p>
        </p:txBody>
      </p:sp>
      <p:sp>
        <p:nvSpPr>
          <p:cNvPr id="32" name="Rectangle 31"/>
          <p:cNvSpPr/>
          <p:nvPr/>
        </p:nvSpPr>
        <p:spPr>
          <a:xfrm>
            <a:off x="558800" y="5588000"/>
            <a:ext cx="11074400" cy="571500"/>
          </a:xfrm>
          <a:prstGeom prst="rect">
            <a:avLst/>
          </a:prstGeom>
          <a:solidFill>
            <a:srgbClr val="DF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62000" y="5727700"/>
            <a:ext cx="10668000" cy="286004"/>
          </a:xfrm>
          <a:prstGeom prst="rect">
            <a:avLst/>
          </a:prstGeom>
          <a:noFill/>
        </p:spPr>
        <p:txBody>
          <a:bodyPr wrap="none" lIns="0" rIns="0" tIns="0" bIns="0" anchor="t">
            <a:spAutoFit/>
          </a:bodyPr>
          <a:lstStyle/>
          <a:p>
            <a:pPr algn="l">
              <a:lnSpc>
                <a:spcPts val="1952"/>
              </a:lnSpc>
              <a:spcBef>
                <a:spcPts val="0"/>
              </a:spcBef>
              <a:spcAft>
                <a:spcPts val="0"/>
              </a:spcAft>
            </a:pPr>
            <a:r>
              <a:rPr sz="1600" b="1">
                <a:solidFill>
                  <a:srgbClr val="00796B"/>
                </a:solidFill>
                <a:latin typeface="Arial"/>
              </a:rPr>
              <a:t>Visual modeling, not demonstrated caption checking or human-like reasoning.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600" cy="6858000"/>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58800" y="304800"/>
            <a:ext cx="10160000" cy="193040"/>
          </a:xfrm>
          <a:prstGeom prst="rect">
            <a:avLst/>
          </a:prstGeom>
          <a:noFill/>
        </p:spPr>
        <p:txBody>
          <a:bodyPr wrap="none" lIns="0" rIns="0" tIns="0" bIns="0" anchor="t">
            <a:spAutoFit/>
          </a:bodyPr>
          <a:lstStyle/>
          <a:p>
            <a:pPr algn="l">
              <a:lnSpc>
                <a:spcPts val="1220"/>
              </a:lnSpc>
              <a:spcBef>
                <a:spcPts val="0"/>
              </a:spcBef>
              <a:spcAft>
                <a:spcPts val="0"/>
              </a:spcAft>
            </a:pPr>
            <a:r>
              <a:rPr sz="1000" b="1">
                <a:solidFill>
                  <a:srgbClr val="00796B"/>
                </a:solidFill>
                <a:latin typeface="Arial"/>
              </a:rPr>
              <a:t>STAGE 3 / ORIGINAL COMBINED SYSTEM</a:t>
            </a:r>
          </a:p>
        </p:txBody>
      </p:sp>
      <p:sp>
        <p:nvSpPr>
          <p:cNvPr id="5" name="TextBox 4"/>
          <p:cNvSpPr txBox="1"/>
          <p:nvPr/>
        </p:nvSpPr>
        <p:spPr>
          <a:xfrm>
            <a:off x="10947400" y="304800"/>
            <a:ext cx="736600" cy="193040"/>
          </a:xfrm>
          <a:prstGeom prst="rect">
            <a:avLst/>
          </a:prstGeom>
          <a:noFill/>
        </p:spPr>
        <p:txBody>
          <a:bodyPr wrap="none" lIns="0" rIns="0" tIns="0" bIns="0" anchor="t">
            <a:spAutoFit/>
          </a:bodyPr>
          <a:lstStyle/>
          <a:p>
            <a:pPr algn="l">
              <a:lnSpc>
                <a:spcPts val="1220"/>
              </a:lnSpc>
              <a:spcBef>
                <a:spcPts val="0"/>
              </a:spcBef>
              <a:spcAft>
                <a:spcPts val="0"/>
              </a:spcAft>
            </a:pPr>
            <a:r>
              <a:rPr sz="1000" b="0">
                <a:solidFill>
                  <a:srgbClr val="546966"/>
                </a:solidFill>
                <a:latin typeface="Arial"/>
              </a:rPr>
              <a:t>07 / 15</a:t>
            </a:r>
          </a:p>
        </p:txBody>
      </p:sp>
      <p:sp>
        <p:nvSpPr>
          <p:cNvPr id="6" name="TextBox 5"/>
          <p:cNvSpPr txBox="1"/>
          <p:nvPr/>
        </p:nvSpPr>
        <p:spPr>
          <a:xfrm>
            <a:off x="558800" y="762000"/>
            <a:ext cx="11074400" cy="502920"/>
          </a:xfrm>
          <a:prstGeom prst="rect">
            <a:avLst/>
          </a:prstGeom>
          <a:noFill/>
        </p:spPr>
        <p:txBody>
          <a:bodyPr wrap="none" lIns="0" rIns="0" tIns="0" bIns="0" anchor="t">
            <a:spAutoFit/>
          </a:bodyPr>
          <a:lstStyle/>
          <a:p>
            <a:pPr algn="l">
              <a:lnSpc>
                <a:spcPts val="3660"/>
              </a:lnSpc>
              <a:spcBef>
                <a:spcPts val="0"/>
              </a:spcBef>
              <a:spcAft>
                <a:spcPts val="0"/>
              </a:spcAft>
            </a:pPr>
            <a:r>
              <a:rPr sz="3000" b="1">
                <a:solidFill>
                  <a:srgbClr val="172C2B"/>
                </a:solidFill>
                <a:latin typeface="Arial"/>
              </a:rPr>
              <a:t>Learned fusion improved the original benchmark</a:t>
            </a:r>
          </a:p>
        </p:txBody>
      </p:sp>
      <p:sp>
        <p:nvSpPr>
          <p:cNvPr id="7" name="TextBox 6"/>
          <p:cNvSpPr txBox="1"/>
          <p:nvPr/>
        </p:nvSpPr>
        <p:spPr>
          <a:xfrm>
            <a:off x="584200" y="1409700"/>
            <a:ext cx="11049000" cy="255015"/>
          </a:xfrm>
          <a:prstGeom prst="rect">
            <a:avLst/>
          </a:prstGeom>
          <a:noFill/>
        </p:spPr>
        <p:txBody>
          <a:bodyPr wrap="none" lIns="0" rIns="0" tIns="0" bIns="0" anchor="t">
            <a:spAutoFit/>
          </a:bodyPr>
          <a:lstStyle/>
          <a:p>
            <a:pPr algn="l">
              <a:lnSpc>
                <a:spcPts val="1707"/>
              </a:lnSpc>
              <a:spcBef>
                <a:spcPts val="0"/>
              </a:spcBef>
              <a:spcAft>
                <a:spcPts val="0"/>
              </a:spcAft>
            </a:pPr>
            <a:r>
              <a:rPr sz="1400" b="0">
                <a:solidFill>
                  <a:srgbClr val="546966"/>
                </a:solidFill>
                <a:latin typeface="Arial"/>
              </a:rPr>
              <a:t>Original Tiny-GenImage fusion test: 1,400 images. These are historical results.</a:t>
            </a:r>
          </a:p>
        </p:txBody>
      </p:sp>
      <p:cxnSp>
        <p:nvCxnSpPr>
          <p:cNvPr id="8" name="Connector 7"/>
          <p:cNvCxnSpPr/>
          <p:nvPr/>
        </p:nvCxnSpPr>
        <p:spPr>
          <a:xfrm>
            <a:off x="558800" y="6375400"/>
            <a:ext cx="11074400" cy="0"/>
          </a:xfrm>
          <a:prstGeom prst="line">
            <a:avLst/>
          </a:prstGeom>
          <a:ln w="12700">
            <a:solidFill>
              <a:srgbClr val="DCE5E2"/>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58800" y="6540500"/>
            <a:ext cx="5080000" cy="169799"/>
          </a:xfrm>
          <a:prstGeom prst="rect">
            <a:avLst/>
          </a:prstGeom>
          <a:noFill/>
        </p:spPr>
        <p:txBody>
          <a:bodyPr wrap="none" lIns="0" rIns="0" tIns="0" bIns="0" anchor="t">
            <a:spAutoFit/>
          </a:bodyPr>
          <a:lstStyle/>
          <a:p>
            <a:pPr algn="l">
              <a:lnSpc>
                <a:spcPts val="1037"/>
              </a:lnSpc>
              <a:spcBef>
                <a:spcPts val="0"/>
              </a:spcBef>
              <a:spcAft>
                <a:spcPts val="0"/>
              </a:spcAft>
            </a:pPr>
            <a:r>
              <a:rPr sz="850" b="0">
                <a:solidFill>
                  <a:srgbClr val="546966"/>
                </a:solidFill>
                <a:latin typeface="Arial"/>
              </a:rPr>
              <a:t>AI SHIELD / ABDELRAHMAN SOLIMAN</a:t>
            </a:r>
          </a:p>
        </p:txBody>
      </p:sp>
      <p:sp>
        <p:nvSpPr>
          <p:cNvPr id="10" name="TextBox 9"/>
          <p:cNvSpPr txBox="1"/>
          <p:nvPr/>
        </p:nvSpPr>
        <p:spPr>
          <a:xfrm>
            <a:off x="7175500" y="6540500"/>
            <a:ext cx="1460500" cy="169799"/>
          </a:xfrm>
          <a:prstGeom prst="rect">
            <a:avLst/>
          </a:prstGeom>
          <a:noFill/>
        </p:spPr>
        <p:txBody>
          <a:bodyPr wrap="none" lIns="0" rIns="0" tIns="0" bIns="0" anchor="t">
            <a:spAutoFit/>
          </a:bodyPr>
          <a:lstStyle/>
          <a:p>
            <a:pPr algn="l">
              <a:lnSpc>
                <a:spcPts val="1037"/>
              </a:lnSpc>
              <a:spcBef>
                <a:spcPts val="0"/>
              </a:spcBef>
              <a:spcAft>
                <a:spcPts val="0"/>
              </a:spcAft>
            </a:pPr>
            <a:r>
              <a:rPr sz="850" b="0">
                <a:solidFill>
                  <a:srgbClr val="546966"/>
                </a:solidFill>
                <a:latin typeface="Arial"/>
                <a:hlinkClick r:id="rId2"/>
              </a:rPr>
              <a:t>Build history</a:t>
            </a:r>
          </a:p>
        </p:txBody>
      </p:sp>
      <p:sp>
        <p:nvSpPr>
          <p:cNvPr id="11" name="TextBox 10"/>
          <p:cNvSpPr txBox="1"/>
          <p:nvPr/>
        </p:nvSpPr>
        <p:spPr>
          <a:xfrm>
            <a:off x="8648700" y="6540500"/>
            <a:ext cx="1460500" cy="169799"/>
          </a:xfrm>
          <a:prstGeom prst="rect">
            <a:avLst/>
          </a:prstGeom>
          <a:noFill/>
        </p:spPr>
        <p:txBody>
          <a:bodyPr wrap="none" lIns="0" rIns="0" tIns="0" bIns="0" anchor="t">
            <a:spAutoFit/>
          </a:bodyPr>
          <a:lstStyle/>
          <a:p>
            <a:pPr algn="l">
              <a:lnSpc>
                <a:spcPts val="1037"/>
              </a:lnSpc>
              <a:spcBef>
                <a:spcPts val="0"/>
              </a:spcBef>
              <a:spcAft>
                <a:spcPts val="0"/>
              </a:spcAft>
            </a:pPr>
            <a:r>
              <a:rPr sz="850" b="0">
                <a:solidFill>
                  <a:srgbClr val="546966"/>
                </a:solidFill>
                <a:latin typeface="Arial"/>
                <a:hlinkClick r:id="rId3"/>
              </a:rPr>
              <a:t>Results</a:t>
            </a:r>
          </a:p>
        </p:txBody>
      </p:sp>
      <p:sp>
        <p:nvSpPr>
          <p:cNvPr id="12" name="TextBox 11"/>
          <p:cNvSpPr txBox="1"/>
          <p:nvPr/>
        </p:nvSpPr>
        <p:spPr>
          <a:xfrm>
            <a:off x="558800" y="2159000"/>
            <a:ext cx="3175000" cy="270510"/>
          </a:xfrm>
          <a:prstGeom prst="rect">
            <a:avLst/>
          </a:prstGeom>
          <a:noFill/>
        </p:spPr>
        <p:txBody>
          <a:bodyPr wrap="none" lIns="0" rIns="0" tIns="0" bIns="0" anchor="t">
            <a:spAutoFit/>
          </a:bodyPr>
          <a:lstStyle/>
          <a:p>
            <a:pPr algn="l">
              <a:lnSpc>
                <a:spcPts val="1830"/>
              </a:lnSpc>
              <a:spcBef>
                <a:spcPts val="0"/>
              </a:spcBef>
              <a:spcAft>
                <a:spcPts val="0"/>
              </a:spcAft>
            </a:pPr>
            <a:r>
              <a:rPr sz="1500" b="0">
                <a:solidFill>
                  <a:srgbClr val="172C2B"/>
                </a:solidFill>
                <a:latin typeface="Arial"/>
              </a:rPr>
              <a:t>Calibrated EfficientNet</a:t>
            </a:r>
          </a:p>
        </p:txBody>
      </p:sp>
      <p:sp>
        <p:nvSpPr>
          <p:cNvPr id="13" name="Rectangle 12"/>
          <p:cNvSpPr/>
          <p:nvPr/>
        </p:nvSpPr>
        <p:spPr>
          <a:xfrm>
            <a:off x="3886200" y="2197100"/>
            <a:ext cx="3594100" cy="190500"/>
          </a:xfrm>
          <a:prstGeom prst="rect">
            <a:avLst/>
          </a:prstGeom>
          <a:solidFill>
            <a:srgbClr val="F2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86200" y="2197100"/>
            <a:ext cx="3435240" cy="190500"/>
          </a:xfrm>
          <a:prstGeom prst="rect">
            <a:avLst/>
          </a:prstGeom>
          <a:solidFill>
            <a:srgbClr val="B7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58100" y="2120900"/>
            <a:ext cx="1079500" cy="301498"/>
          </a:xfrm>
          <a:prstGeom prst="rect">
            <a:avLst/>
          </a:prstGeom>
          <a:noFill/>
        </p:spPr>
        <p:txBody>
          <a:bodyPr wrap="none" lIns="0" rIns="0" tIns="0" bIns="0" anchor="t">
            <a:spAutoFit/>
          </a:bodyPr>
          <a:lstStyle/>
          <a:p>
            <a:pPr algn="l">
              <a:lnSpc>
                <a:spcPts val="2074"/>
              </a:lnSpc>
              <a:spcBef>
                <a:spcPts val="0"/>
              </a:spcBef>
              <a:spcAft>
                <a:spcPts val="0"/>
              </a:spcAft>
            </a:pPr>
            <a:r>
              <a:rPr sz="1700" b="1">
                <a:solidFill>
                  <a:srgbClr val="B77B00"/>
                </a:solidFill>
                <a:latin typeface="Arial"/>
              </a:rPr>
              <a:t>0.9558</a:t>
            </a:r>
          </a:p>
        </p:txBody>
      </p:sp>
      <p:sp>
        <p:nvSpPr>
          <p:cNvPr id="16" name="TextBox 15"/>
          <p:cNvSpPr txBox="1"/>
          <p:nvPr/>
        </p:nvSpPr>
        <p:spPr>
          <a:xfrm>
            <a:off x="558800" y="2882900"/>
            <a:ext cx="3175000" cy="270510"/>
          </a:xfrm>
          <a:prstGeom prst="rect">
            <a:avLst/>
          </a:prstGeom>
          <a:noFill/>
        </p:spPr>
        <p:txBody>
          <a:bodyPr wrap="none" lIns="0" rIns="0" tIns="0" bIns="0" anchor="t">
            <a:spAutoFit/>
          </a:bodyPr>
          <a:lstStyle/>
          <a:p>
            <a:pPr algn="l">
              <a:lnSpc>
                <a:spcPts val="1830"/>
              </a:lnSpc>
              <a:spcBef>
                <a:spcPts val="0"/>
              </a:spcBef>
              <a:spcAft>
                <a:spcPts val="0"/>
              </a:spcAft>
            </a:pPr>
            <a:r>
              <a:rPr sz="1500" b="0">
                <a:solidFill>
                  <a:srgbClr val="172C2B"/>
                </a:solidFill>
                <a:latin typeface="Arial"/>
              </a:rPr>
              <a:t>Semantic ViT</a:t>
            </a:r>
          </a:p>
        </p:txBody>
      </p:sp>
      <p:sp>
        <p:nvSpPr>
          <p:cNvPr id="17" name="Rectangle 16"/>
          <p:cNvSpPr/>
          <p:nvPr/>
        </p:nvSpPr>
        <p:spPr>
          <a:xfrm>
            <a:off x="3886200" y="2921000"/>
            <a:ext cx="3594100" cy="190500"/>
          </a:xfrm>
          <a:prstGeom prst="rect">
            <a:avLst/>
          </a:prstGeom>
          <a:solidFill>
            <a:srgbClr val="F2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886200" y="2921000"/>
            <a:ext cx="3343591" cy="190500"/>
          </a:xfrm>
          <a:prstGeom prst="rect">
            <a:avLst/>
          </a:prstGeom>
          <a:solidFill>
            <a:srgbClr val="C847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58100" y="2844800"/>
            <a:ext cx="1079500" cy="301498"/>
          </a:xfrm>
          <a:prstGeom prst="rect">
            <a:avLst/>
          </a:prstGeom>
          <a:noFill/>
        </p:spPr>
        <p:txBody>
          <a:bodyPr wrap="none" lIns="0" rIns="0" tIns="0" bIns="0" anchor="t">
            <a:spAutoFit/>
          </a:bodyPr>
          <a:lstStyle/>
          <a:p>
            <a:pPr algn="l">
              <a:lnSpc>
                <a:spcPts val="2074"/>
              </a:lnSpc>
              <a:spcBef>
                <a:spcPts val="0"/>
              </a:spcBef>
              <a:spcAft>
                <a:spcPts val="0"/>
              </a:spcAft>
            </a:pPr>
            <a:r>
              <a:rPr sz="1700" b="1">
                <a:solidFill>
                  <a:srgbClr val="C84760"/>
                </a:solidFill>
                <a:latin typeface="Arial"/>
              </a:rPr>
              <a:t>0.9303</a:t>
            </a:r>
          </a:p>
        </p:txBody>
      </p:sp>
      <p:sp>
        <p:nvSpPr>
          <p:cNvPr id="20" name="TextBox 19"/>
          <p:cNvSpPr txBox="1"/>
          <p:nvPr/>
        </p:nvSpPr>
        <p:spPr>
          <a:xfrm>
            <a:off x="558800" y="3606800"/>
            <a:ext cx="3175000" cy="270510"/>
          </a:xfrm>
          <a:prstGeom prst="rect">
            <a:avLst/>
          </a:prstGeom>
          <a:noFill/>
        </p:spPr>
        <p:txBody>
          <a:bodyPr wrap="none" lIns="0" rIns="0" tIns="0" bIns="0" anchor="t">
            <a:spAutoFit/>
          </a:bodyPr>
          <a:lstStyle/>
          <a:p>
            <a:pPr algn="l">
              <a:lnSpc>
                <a:spcPts val="1830"/>
              </a:lnSpc>
              <a:spcBef>
                <a:spcPts val="0"/>
              </a:spcBef>
              <a:spcAft>
                <a:spcPts val="0"/>
              </a:spcAft>
            </a:pPr>
            <a:r>
              <a:rPr sz="1500" b="0">
                <a:solidFill>
                  <a:srgbClr val="172C2B"/>
                </a:solidFill>
                <a:latin typeface="Arial"/>
              </a:rPr>
              <a:t>Forensic-only GLM</a:t>
            </a:r>
          </a:p>
        </p:txBody>
      </p:sp>
      <p:sp>
        <p:nvSpPr>
          <p:cNvPr id="21" name="Rectangle 20"/>
          <p:cNvSpPr/>
          <p:nvPr/>
        </p:nvSpPr>
        <p:spPr>
          <a:xfrm>
            <a:off x="3886200" y="3644900"/>
            <a:ext cx="3594100" cy="190500"/>
          </a:xfrm>
          <a:prstGeom prst="rect">
            <a:avLst/>
          </a:prstGeom>
          <a:solidFill>
            <a:srgbClr val="F2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886200" y="3644900"/>
            <a:ext cx="3442428" cy="190500"/>
          </a:xfrm>
          <a:prstGeom prst="rect">
            <a:avLst/>
          </a:prstGeom>
          <a:solidFill>
            <a:srgbClr val="5469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58100" y="3568700"/>
            <a:ext cx="1079500" cy="301498"/>
          </a:xfrm>
          <a:prstGeom prst="rect">
            <a:avLst/>
          </a:prstGeom>
          <a:noFill/>
        </p:spPr>
        <p:txBody>
          <a:bodyPr wrap="none" lIns="0" rIns="0" tIns="0" bIns="0" anchor="t">
            <a:spAutoFit/>
          </a:bodyPr>
          <a:lstStyle/>
          <a:p>
            <a:pPr algn="l">
              <a:lnSpc>
                <a:spcPts val="2074"/>
              </a:lnSpc>
              <a:spcBef>
                <a:spcPts val="0"/>
              </a:spcBef>
              <a:spcAft>
                <a:spcPts val="0"/>
              </a:spcAft>
            </a:pPr>
            <a:r>
              <a:rPr sz="1700" b="1">
                <a:solidFill>
                  <a:srgbClr val="546966"/>
                </a:solidFill>
                <a:latin typeface="Arial"/>
              </a:rPr>
              <a:t>0.9578</a:t>
            </a:r>
          </a:p>
        </p:txBody>
      </p:sp>
      <p:sp>
        <p:nvSpPr>
          <p:cNvPr id="24" name="TextBox 23"/>
          <p:cNvSpPr txBox="1"/>
          <p:nvPr/>
        </p:nvSpPr>
        <p:spPr>
          <a:xfrm>
            <a:off x="558800" y="4330700"/>
            <a:ext cx="3175000" cy="270510"/>
          </a:xfrm>
          <a:prstGeom prst="rect">
            <a:avLst/>
          </a:prstGeom>
          <a:noFill/>
        </p:spPr>
        <p:txBody>
          <a:bodyPr wrap="none" lIns="0" rIns="0" tIns="0" bIns="0" anchor="t">
            <a:spAutoFit/>
          </a:bodyPr>
          <a:lstStyle/>
          <a:p>
            <a:pPr algn="l">
              <a:lnSpc>
                <a:spcPts val="1830"/>
              </a:lnSpc>
              <a:spcBef>
                <a:spcPts val="0"/>
              </a:spcBef>
              <a:spcAft>
                <a:spcPts val="0"/>
              </a:spcAft>
            </a:pPr>
            <a:r>
              <a:rPr sz="1500" b="1">
                <a:solidFill>
                  <a:srgbClr val="172C2B"/>
                </a:solidFill>
                <a:latin typeface="Arial"/>
              </a:rPr>
              <a:t>Full GLM fusion</a:t>
            </a:r>
          </a:p>
        </p:txBody>
      </p:sp>
      <p:sp>
        <p:nvSpPr>
          <p:cNvPr id="25" name="Rectangle 24"/>
          <p:cNvSpPr/>
          <p:nvPr/>
        </p:nvSpPr>
        <p:spPr>
          <a:xfrm>
            <a:off x="3886200" y="4368800"/>
            <a:ext cx="3594100" cy="190500"/>
          </a:xfrm>
          <a:prstGeom prst="rect">
            <a:avLst/>
          </a:prstGeom>
          <a:solidFill>
            <a:srgbClr val="F2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886200" y="4368800"/>
            <a:ext cx="3529046" cy="190500"/>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58100" y="4292600"/>
            <a:ext cx="1079500" cy="301498"/>
          </a:xfrm>
          <a:prstGeom prst="rect">
            <a:avLst/>
          </a:prstGeom>
          <a:noFill/>
        </p:spPr>
        <p:txBody>
          <a:bodyPr wrap="none" lIns="0" rIns="0" tIns="0" bIns="0" anchor="t">
            <a:spAutoFit/>
          </a:bodyPr>
          <a:lstStyle/>
          <a:p>
            <a:pPr algn="l">
              <a:lnSpc>
                <a:spcPts val="2074"/>
              </a:lnSpc>
              <a:spcBef>
                <a:spcPts val="0"/>
              </a:spcBef>
              <a:spcAft>
                <a:spcPts val="0"/>
              </a:spcAft>
            </a:pPr>
            <a:r>
              <a:rPr sz="1700" b="1">
                <a:solidFill>
                  <a:srgbClr val="00796B"/>
                </a:solidFill>
                <a:latin typeface="Arial"/>
              </a:rPr>
              <a:t>0.9819</a:t>
            </a:r>
          </a:p>
        </p:txBody>
      </p:sp>
      <p:sp>
        <p:nvSpPr>
          <p:cNvPr id="28" name="TextBox 27"/>
          <p:cNvSpPr txBox="1"/>
          <p:nvPr/>
        </p:nvSpPr>
        <p:spPr>
          <a:xfrm>
            <a:off x="9220200" y="2209800"/>
            <a:ext cx="2349500" cy="471931"/>
          </a:xfrm>
          <a:prstGeom prst="rect">
            <a:avLst/>
          </a:prstGeom>
          <a:noFill/>
        </p:spPr>
        <p:txBody>
          <a:bodyPr wrap="none" lIns="0" rIns="0" tIns="0" bIns="0" anchor="t">
            <a:spAutoFit/>
          </a:bodyPr>
          <a:lstStyle/>
          <a:p>
            <a:pPr algn="l">
              <a:lnSpc>
                <a:spcPts val="3415"/>
              </a:lnSpc>
              <a:spcBef>
                <a:spcPts val="0"/>
              </a:spcBef>
              <a:spcAft>
                <a:spcPts val="0"/>
              </a:spcAft>
            </a:pPr>
            <a:r>
              <a:rPr sz="2800" b="1">
                <a:solidFill>
                  <a:srgbClr val="00796B"/>
                </a:solidFill>
                <a:latin typeface="Arial"/>
              </a:rPr>
              <a:t>17 features</a:t>
            </a:r>
          </a:p>
        </p:txBody>
      </p:sp>
      <p:sp>
        <p:nvSpPr>
          <p:cNvPr id="29" name="TextBox 28"/>
          <p:cNvSpPr txBox="1"/>
          <p:nvPr/>
        </p:nvSpPr>
        <p:spPr>
          <a:xfrm>
            <a:off x="9232900" y="2768600"/>
            <a:ext cx="2349500" cy="286004"/>
          </a:xfrm>
          <a:prstGeom prst="rect">
            <a:avLst/>
          </a:prstGeom>
          <a:noFill/>
        </p:spPr>
        <p:txBody>
          <a:bodyPr wrap="none" lIns="0" rIns="0" tIns="0" bIns="0" anchor="t">
            <a:spAutoFit/>
          </a:bodyPr>
          <a:lstStyle/>
          <a:p>
            <a:pPr algn="l">
              <a:lnSpc>
                <a:spcPts val="1952"/>
              </a:lnSpc>
              <a:spcBef>
                <a:spcPts val="0"/>
              </a:spcBef>
              <a:spcAft>
                <a:spcPts val="0"/>
              </a:spcAft>
            </a:pPr>
            <a:r>
              <a:rPr sz="1600" b="0">
                <a:solidFill>
                  <a:srgbClr val="546966"/>
                </a:solidFill>
                <a:latin typeface="Arial"/>
              </a:rPr>
              <a:t>11 forensic + 6 semantic</a:t>
            </a:r>
          </a:p>
        </p:txBody>
      </p:sp>
      <p:sp>
        <p:nvSpPr>
          <p:cNvPr id="30" name="TextBox 29"/>
          <p:cNvSpPr txBox="1"/>
          <p:nvPr/>
        </p:nvSpPr>
        <p:spPr>
          <a:xfrm>
            <a:off x="9220200" y="3505200"/>
            <a:ext cx="2349500" cy="487426"/>
          </a:xfrm>
          <a:prstGeom prst="rect">
            <a:avLst/>
          </a:prstGeom>
          <a:noFill/>
        </p:spPr>
        <p:txBody>
          <a:bodyPr wrap="none" lIns="0" rIns="0" tIns="0" bIns="0" anchor="t">
            <a:spAutoFit/>
          </a:bodyPr>
          <a:lstStyle/>
          <a:p>
            <a:pPr algn="l">
              <a:lnSpc>
                <a:spcPts val="3538"/>
              </a:lnSpc>
              <a:spcBef>
                <a:spcPts val="0"/>
              </a:spcBef>
              <a:spcAft>
                <a:spcPts val="0"/>
              </a:spcAft>
            </a:pPr>
            <a:r>
              <a:rPr sz="2900" b="1">
                <a:solidFill>
                  <a:srgbClr val="172C2B"/>
                </a:solidFill>
                <a:latin typeface="Arial"/>
              </a:rPr>
              <a:t>94.07%</a:t>
            </a:r>
          </a:p>
        </p:txBody>
      </p:sp>
      <p:sp>
        <p:nvSpPr>
          <p:cNvPr id="31" name="TextBox 30"/>
          <p:cNvSpPr txBox="1"/>
          <p:nvPr/>
        </p:nvSpPr>
        <p:spPr>
          <a:xfrm>
            <a:off x="9232900" y="4038600"/>
            <a:ext cx="2349500" cy="270510"/>
          </a:xfrm>
          <a:prstGeom prst="rect">
            <a:avLst/>
          </a:prstGeom>
          <a:noFill/>
        </p:spPr>
        <p:txBody>
          <a:bodyPr wrap="none" lIns="0" rIns="0" tIns="0" bIns="0" anchor="t">
            <a:spAutoFit/>
          </a:bodyPr>
          <a:lstStyle/>
          <a:p>
            <a:pPr algn="l">
              <a:lnSpc>
                <a:spcPts val="1830"/>
              </a:lnSpc>
              <a:spcBef>
                <a:spcPts val="0"/>
              </a:spcBef>
              <a:spcAft>
                <a:spcPts val="0"/>
              </a:spcAft>
            </a:pPr>
            <a:r>
              <a:rPr sz="1500" b="0">
                <a:solidFill>
                  <a:srgbClr val="546966"/>
                </a:solidFill>
                <a:latin typeface="Arial"/>
              </a:rPr>
              <a:t>accuracy on this test</a:t>
            </a:r>
          </a:p>
        </p:txBody>
      </p:sp>
      <p:sp>
        <p:nvSpPr>
          <p:cNvPr id="32" name="TextBox 31"/>
          <p:cNvSpPr txBox="1"/>
          <p:nvPr/>
        </p:nvSpPr>
        <p:spPr>
          <a:xfrm>
            <a:off x="584200" y="5168900"/>
            <a:ext cx="10972800" cy="471931"/>
          </a:xfrm>
          <a:prstGeom prst="rect">
            <a:avLst/>
          </a:prstGeom>
          <a:noFill/>
        </p:spPr>
        <p:txBody>
          <a:bodyPr wrap="none" lIns="0" rIns="0" tIns="0" bIns="0" anchor="t">
            <a:spAutoFit/>
          </a:bodyPr>
          <a:lstStyle/>
          <a:p>
            <a:pPr algn="l">
              <a:lnSpc>
                <a:spcPts val="1707"/>
              </a:lnSpc>
              <a:spcBef>
                <a:spcPts val="0"/>
              </a:spcBef>
              <a:spcAft>
                <a:spcPts val="0"/>
              </a:spcAft>
            </a:pPr>
            <a:r>
              <a:rPr sz="1400" b="0">
                <a:solidFill>
                  <a:srgbClr val="546966"/>
                </a:solidFill>
                <a:latin typeface="Arial"/>
              </a:rPr>
              <a:t>GLM = logistic regression: a learned score combiner.</a:t>
            </a:r>
          </a:p>
          <a:p>
            <a:pPr algn="l">
              <a:lnSpc>
                <a:spcPts val="1707"/>
              </a:lnSpc>
              <a:spcBef>
                <a:spcPts val="0"/>
              </a:spcBef>
              <a:spcAft>
                <a:spcPts val="0"/>
              </a:spcAft>
            </a:pPr>
            <a:r>
              <a:rPr sz="1400" b="0">
                <a:solidFill>
                  <a:srgbClr val="546966"/>
                </a:solidFill>
                <a:latin typeface="Arial"/>
              </a:rPr>
              <a:t>AUROC measures ranking: 0.5 is chance; 1.0 is perfect. It is not accuracy.</a:t>
            </a:r>
          </a:p>
        </p:txBody>
      </p:sp>
      <p:sp>
        <p:nvSpPr>
          <p:cNvPr id="33" name="Rectangle 32"/>
          <p:cNvSpPr/>
          <p:nvPr/>
        </p:nvSpPr>
        <p:spPr>
          <a:xfrm>
            <a:off x="558800" y="5791200"/>
            <a:ext cx="11074400" cy="571500"/>
          </a:xfrm>
          <a:prstGeom prst="rect">
            <a:avLst/>
          </a:prstGeom>
          <a:solidFill>
            <a:srgbClr val="DF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2000" y="5930900"/>
            <a:ext cx="10668000" cy="286004"/>
          </a:xfrm>
          <a:prstGeom prst="rect">
            <a:avLst/>
          </a:prstGeom>
          <a:noFill/>
        </p:spPr>
        <p:txBody>
          <a:bodyPr wrap="none" lIns="0" rIns="0" tIns="0" bIns="0" anchor="t">
            <a:spAutoFit/>
          </a:bodyPr>
          <a:lstStyle/>
          <a:p>
            <a:pPr algn="l">
              <a:lnSpc>
                <a:spcPts val="1952"/>
              </a:lnSpc>
              <a:spcBef>
                <a:spcPts val="0"/>
              </a:spcBef>
              <a:spcAft>
                <a:spcPts val="0"/>
              </a:spcAft>
            </a:pPr>
            <a:r>
              <a:rPr sz="1600" b="1">
                <a:solidFill>
                  <a:srgbClr val="00796B"/>
                </a:solidFill>
                <a:latin typeface="Arial"/>
              </a:rPr>
              <a:t>Caught 54 additional generated images with only 1 additional false positive.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600" cy="6858000"/>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58800" y="304800"/>
            <a:ext cx="10160000" cy="193040"/>
          </a:xfrm>
          <a:prstGeom prst="rect">
            <a:avLst/>
          </a:prstGeom>
          <a:noFill/>
        </p:spPr>
        <p:txBody>
          <a:bodyPr wrap="none" lIns="0" rIns="0" tIns="0" bIns="0" anchor="t">
            <a:spAutoFit/>
          </a:bodyPr>
          <a:lstStyle/>
          <a:p>
            <a:pPr algn="l">
              <a:lnSpc>
                <a:spcPts val="1220"/>
              </a:lnSpc>
              <a:spcBef>
                <a:spcPts val="0"/>
              </a:spcBef>
              <a:spcAft>
                <a:spcPts val="0"/>
              </a:spcAft>
            </a:pPr>
            <a:r>
              <a:rPr sz="1000" b="1">
                <a:solidFill>
                  <a:srgbClr val="00796B"/>
                </a:solidFill>
                <a:latin typeface="Arial"/>
              </a:rPr>
              <a:t>STAGE 4 / TURNING POINT</a:t>
            </a:r>
          </a:p>
        </p:txBody>
      </p:sp>
      <p:sp>
        <p:nvSpPr>
          <p:cNvPr id="5" name="TextBox 4"/>
          <p:cNvSpPr txBox="1"/>
          <p:nvPr/>
        </p:nvSpPr>
        <p:spPr>
          <a:xfrm>
            <a:off x="10947400" y="304800"/>
            <a:ext cx="736600" cy="193040"/>
          </a:xfrm>
          <a:prstGeom prst="rect">
            <a:avLst/>
          </a:prstGeom>
          <a:noFill/>
        </p:spPr>
        <p:txBody>
          <a:bodyPr wrap="none" lIns="0" rIns="0" tIns="0" bIns="0" anchor="t">
            <a:spAutoFit/>
          </a:bodyPr>
          <a:lstStyle/>
          <a:p>
            <a:pPr algn="l">
              <a:lnSpc>
                <a:spcPts val="1220"/>
              </a:lnSpc>
              <a:spcBef>
                <a:spcPts val="0"/>
              </a:spcBef>
              <a:spcAft>
                <a:spcPts val="0"/>
              </a:spcAft>
            </a:pPr>
            <a:r>
              <a:rPr sz="1000" b="0">
                <a:solidFill>
                  <a:srgbClr val="546966"/>
                </a:solidFill>
                <a:latin typeface="Arial"/>
              </a:rPr>
              <a:t>08 / 15</a:t>
            </a:r>
          </a:p>
        </p:txBody>
      </p:sp>
      <p:sp>
        <p:nvSpPr>
          <p:cNvPr id="6" name="TextBox 5"/>
          <p:cNvSpPr txBox="1"/>
          <p:nvPr/>
        </p:nvSpPr>
        <p:spPr>
          <a:xfrm>
            <a:off x="558800" y="762000"/>
            <a:ext cx="11074400" cy="502920"/>
          </a:xfrm>
          <a:prstGeom prst="rect">
            <a:avLst/>
          </a:prstGeom>
          <a:noFill/>
        </p:spPr>
        <p:txBody>
          <a:bodyPr wrap="none" lIns="0" rIns="0" tIns="0" bIns="0" anchor="t">
            <a:spAutoFit/>
          </a:bodyPr>
          <a:lstStyle/>
          <a:p>
            <a:pPr algn="l">
              <a:lnSpc>
                <a:spcPts val="3660"/>
              </a:lnSpc>
              <a:spcBef>
                <a:spcPts val="0"/>
              </a:spcBef>
              <a:spcAft>
                <a:spcPts val="0"/>
              </a:spcAft>
            </a:pPr>
            <a:r>
              <a:rPr sz="3000" b="1">
                <a:solidFill>
                  <a:srgbClr val="172C2B"/>
                </a:solidFill>
                <a:latin typeface="Arial"/>
              </a:rPr>
              <a:t>Newer images exposed a generalization problem</a:t>
            </a:r>
          </a:p>
        </p:txBody>
      </p:sp>
      <p:sp>
        <p:nvSpPr>
          <p:cNvPr id="7" name="TextBox 6"/>
          <p:cNvSpPr txBox="1"/>
          <p:nvPr/>
        </p:nvSpPr>
        <p:spPr>
          <a:xfrm>
            <a:off x="584200" y="1409700"/>
            <a:ext cx="11049000" cy="255015"/>
          </a:xfrm>
          <a:prstGeom prst="rect">
            <a:avLst/>
          </a:prstGeom>
          <a:noFill/>
        </p:spPr>
        <p:txBody>
          <a:bodyPr wrap="none" lIns="0" rIns="0" tIns="0" bIns="0" anchor="t">
            <a:spAutoFit/>
          </a:bodyPr>
          <a:lstStyle/>
          <a:p>
            <a:pPr algn="l">
              <a:lnSpc>
                <a:spcPts val="1707"/>
              </a:lnSpc>
              <a:spcBef>
                <a:spcPts val="0"/>
              </a:spcBef>
              <a:spcAft>
                <a:spcPts val="0"/>
              </a:spcAft>
            </a:pPr>
            <a:r>
              <a:rPr sz="1400" b="0">
                <a:solidFill>
                  <a:srgbClr val="546966"/>
                </a:solidFill>
                <a:latin typeface="Arial"/>
              </a:rPr>
              <a:t>Re-ran the saved original AI Shield pipeline, without retraining it.</a:t>
            </a:r>
          </a:p>
        </p:txBody>
      </p:sp>
      <p:cxnSp>
        <p:nvCxnSpPr>
          <p:cNvPr id="8" name="Connector 7"/>
          <p:cNvCxnSpPr/>
          <p:nvPr/>
        </p:nvCxnSpPr>
        <p:spPr>
          <a:xfrm>
            <a:off x="558800" y="6375400"/>
            <a:ext cx="11074400" cy="0"/>
          </a:xfrm>
          <a:prstGeom prst="line">
            <a:avLst/>
          </a:prstGeom>
          <a:ln w="12700">
            <a:solidFill>
              <a:srgbClr val="DCE5E2"/>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58800" y="6540500"/>
            <a:ext cx="5080000" cy="169799"/>
          </a:xfrm>
          <a:prstGeom prst="rect">
            <a:avLst/>
          </a:prstGeom>
          <a:noFill/>
        </p:spPr>
        <p:txBody>
          <a:bodyPr wrap="none" lIns="0" rIns="0" tIns="0" bIns="0" anchor="t">
            <a:spAutoFit/>
          </a:bodyPr>
          <a:lstStyle/>
          <a:p>
            <a:pPr algn="l">
              <a:lnSpc>
                <a:spcPts val="1037"/>
              </a:lnSpc>
              <a:spcBef>
                <a:spcPts val="0"/>
              </a:spcBef>
              <a:spcAft>
                <a:spcPts val="0"/>
              </a:spcAft>
            </a:pPr>
            <a:r>
              <a:rPr sz="850" b="0">
                <a:solidFill>
                  <a:srgbClr val="546966"/>
                </a:solidFill>
                <a:latin typeface="Arial"/>
              </a:rPr>
              <a:t>AI SHIELD / ABDELRAHMAN SOLIMAN</a:t>
            </a:r>
          </a:p>
        </p:txBody>
      </p:sp>
      <p:sp>
        <p:nvSpPr>
          <p:cNvPr id="10" name="TextBox 9"/>
          <p:cNvSpPr txBox="1"/>
          <p:nvPr/>
        </p:nvSpPr>
        <p:spPr>
          <a:xfrm>
            <a:off x="7175500" y="6540500"/>
            <a:ext cx="1460500" cy="169799"/>
          </a:xfrm>
          <a:prstGeom prst="rect">
            <a:avLst/>
          </a:prstGeom>
          <a:noFill/>
        </p:spPr>
        <p:txBody>
          <a:bodyPr wrap="none" lIns="0" rIns="0" tIns="0" bIns="0" anchor="t">
            <a:spAutoFit/>
          </a:bodyPr>
          <a:lstStyle/>
          <a:p>
            <a:pPr algn="l">
              <a:lnSpc>
                <a:spcPts val="1037"/>
              </a:lnSpc>
              <a:spcBef>
                <a:spcPts val="0"/>
              </a:spcBef>
              <a:spcAft>
                <a:spcPts val="0"/>
              </a:spcAft>
            </a:pPr>
            <a:r>
              <a:rPr sz="850" b="0">
                <a:solidFill>
                  <a:srgbClr val="546966"/>
                </a:solidFill>
                <a:latin typeface="Arial"/>
                <a:hlinkClick r:id="rId2"/>
              </a:rPr>
              <a:t>Results</a:t>
            </a:r>
          </a:p>
        </p:txBody>
      </p:sp>
      <p:sp>
        <p:nvSpPr>
          <p:cNvPr id="11" name="TextBox 10"/>
          <p:cNvSpPr txBox="1"/>
          <p:nvPr/>
        </p:nvSpPr>
        <p:spPr>
          <a:xfrm>
            <a:off x="8648700" y="6540500"/>
            <a:ext cx="1460500" cy="169799"/>
          </a:xfrm>
          <a:prstGeom prst="rect">
            <a:avLst/>
          </a:prstGeom>
          <a:noFill/>
        </p:spPr>
        <p:txBody>
          <a:bodyPr wrap="none" lIns="0" rIns="0" tIns="0" bIns="0" anchor="t">
            <a:spAutoFit/>
          </a:bodyPr>
          <a:lstStyle/>
          <a:p>
            <a:pPr algn="l">
              <a:lnSpc>
                <a:spcPts val="1037"/>
              </a:lnSpc>
              <a:spcBef>
                <a:spcPts val="0"/>
              </a:spcBef>
              <a:spcAft>
                <a:spcPts val="0"/>
              </a:spcAft>
            </a:pPr>
            <a:r>
              <a:rPr sz="850" b="0">
                <a:solidFill>
                  <a:srgbClr val="546966"/>
                </a:solidFill>
                <a:latin typeface="Arial"/>
                <a:hlinkClick r:id="rId3"/>
              </a:rPr>
              <a:t>Comparison</a:t>
            </a:r>
          </a:p>
        </p:txBody>
      </p:sp>
      <p:sp>
        <p:nvSpPr>
          <p:cNvPr id="12" name="Rectangle 11"/>
          <p:cNvSpPr/>
          <p:nvPr/>
        </p:nvSpPr>
        <p:spPr>
          <a:xfrm>
            <a:off x="558800" y="2120900"/>
            <a:ext cx="5232400" cy="2768600"/>
          </a:xfrm>
          <a:prstGeom prst="rect">
            <a:avLst/>
          </a:prstGeom>
          <a:solidFill>
            <a:srgbClr val="F2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0" y="2120900"/>
            <a:ext cx="5232400" cy="2768600"/>
          </a:xfrm>
          <a:prstGeom prst="rect">
            <a:avLst/>
          </a:prstGeom>
          <a:solidFill>
            <a:srgbClr val="FB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8200" y="2387600"/>
            <a:ext cx="4635500" cy="224028"/>
          </a:xfrm>
          <a:prstGeom prst="rect">
            <a:avLst/>
          </a:prstGeom>
          <a:noFill/>
        </p:spPr>
        <p:txBody>
          <a:bodyPr wrap="none" lIns="0" rIns="0" tIns="0" bIns="0" anchor="t">
            <a:spAutoFit/>
          </a:bodyPr>
          <a:lstStyle/>
          <a:p>
            <a:pPr algn="l">
              <a:lnSpc>
                <a:spcPts val="1464"/>
              </a:lnSpc>
              <a:spcBef>
                <a:spcPts val="0"/>
              </a:spcBef>
              <a:spcAft>
                <a:spcPts val="0"/>
              </a:spcAft>
            </a:pPr>
            <a:r>
              <a:rPr sz="1200" b="1">
                <a:solidFill>
                  <a:srgbClr val="546966"/>
                </a:solidFill>
                <a:latin typeface="Arial"/>
              </a:rPr>
              <a:t>ORIGINAL BENCHMARK</a:t>
            </a:r>
          </a:p>
        </p:txBody>
      </p:sp>
      <p:sp>
        <p:nvSpPr>
          <p:cNvPr id="15" name="TextBox 14"/>
          <p:cNvSpPr txBox="1"/>
          <p:nvPr/>
        </p:nvSpPr>
        <p:spPr>
          <a:xfrm>
            <a:off x="838200" y="2882900"/>
            <a:ext cx="4635500" cy="874776"/>
          </a:xfrm>
          <a:prstGeom prst="rect">
            <a:avLst/>
          </a:prstGeom>
          <a:noFill/>
        </p:spPr>
        <p:txBody>
          <a:bodyPr wrap="none" lIns="0" rIns="0" tIns="0" bIns="0" anchor="t">
            <a:spAutoFit/>
          </a:bodyPr>
          <a:lstStyle/>
          <a:p>
            <a:pPr algn="l">
              <a:lnSpc>
                <a:spcPts val="6588"/>
              </a:lnSpc>
              <a:spcBef>
                <a:spcPts val="0"/>
              </a:spcBef>
              <a:spcAft>
                <a:spcPts val="0"/>
              </a:spcAft>
            </a:pPr>
            <a:r>
              <a:rPr sz="5400" b="1">
                <a:solidFill>
                  <a:srgbClr val="00796B"/>
                </a:solidFill>
                <a:latin typeface="Arial"/>
              </a:rPr>
              <a:t>0.9819</a:t>
            </a:r>
          </a:p>
        </p:txBody>
      </p:sp>
      <p:sp>
        <p:nvSpPr>
          <p:cNvPr id="16" name="TextBox 15"/>
          <p:cNvSpPr txBox="1"/>
          <p:nvPr/>
        </p:nvSpPr>
        <p:spPr>
          <a:xfrm>
            <a:off x="863600" y="3962400"/>
            <a:ext cx="4584700" cy="595884"/>
          </a:xfrm>
          <a:prstGeom prst="rect">
            <a:avLst/>
          </a:prstGeom>
          <a:noFill/>
        </p:spPr>
        <p:txBody>
          <a:bodyPr wrap="none" lIns="0" rIns="0" tIns="0" bIns="0" anchor="t">
            <a:spAutoFit/>
          </a:bodyPr>
          <a:lstStyle/>
          <a:p>
            <a:pPr algn="l">
              <a:lnSpc>
                <a:spcPts val="2196"/>
              </a:lnSpc>
              <a:spcBef>
                <a:spcPts val="0"/>
              </a:spcBef>
              <a:spcAft>
                <a:spcPts val="0"/>
              </a:spcAft>
            </a:pPr>
            <a:r>
              <a:rPr sz="1800" b="0">
                <a:solidFill>
                  <a:srgbClr val="546966"/>
                </a:solidFill>
                <a:latin typeface="Arial"/>
              </a:rPr>
              <a:t>AUROC on the original</a:t>
            </a:r>
          </a:p>
          <a:p>
            <a:pPr algn="l">
              <a:lnSpc>
                <a:spcPts val="2196"/>
              </a:lnSpc>
              <a:spcBef>
                <a:spcPts val="0"/>
              </a:spcBef>
              <a:spcAft>
                <a:spcPts val="0"/>
              </a:spcAft>
            </a:pPr>
            <a:r>
              <a:rPr sz="1800" b="0">
                <a:solidFill>
                  <a:srgbClr val="546966"/>
                </a:solidFill>
                <a:latin typeface="Arial"/>
              </a:rPr>
              <a:t>Tiny-GenImage fusion test</a:t>
            </a:r>
          </a:p>
        </p:txBody>
      </p:sp>
      <p:sp>
        <p:nvSpPr>
          <p:cNvPr id="17" name="TextBox 16"/>
          <p:cNvSpPr txBox="1"/>
          <p:nvPr/>
        </p:nvSpPr>
        <p:spPr>
          <a:xfrm>
            <a:off x="6680200" y="2387600"/>
            <a:ext cx="4635500" cy="224028"/>
          </a:xfrm>
          <a:prstGeom prst="rect">
            <a:avLst/>
          </a:prstGeom>
          <a:noFill/>
        </p:spPr>
        <p:txBody>
          <a:bodyPr wrap="none" lIns="0" rIns="0" tIns="0" bIns="0" anchor="t">
            <a:spAutoFit/>
          </a:bodyPr>
          <a:lstStyle/>
          <a:p>
            <a:pPr algn="l">
              <a:lnSpc>
                <a:spcPts val="1464"/>
              </a:lnSpc>
              <a:spcBef>
                <a:spcPts val="0"/>
              </a:spcBef>
              <a:spcAft>
                <a:spcPts val="0"/>
              </a:spcAft>
            </a:pPr>
            <a:r>
              <a:rPr sz="1200" b="1">
                <a:solidFill>
                  <a:srgbClr val="C84760"/>
                </a:solidFill>
                <a:latin typeface="Arial"/>
              </a:rPr>
              <a:t>NEW DATASET v1</a:t>
            </a:r>
          </a:p>
        </p:txBody>
      </p:sp>
      <p:sp>
        <p:nvSpPr>
          <p:cNvPr id="18" name="TextBox 17"/>
          <p:cNvSpPr txBox="1"/>
          <p:nvPr/>
        </p:nvSpPr>
        <p:spPr>
          <a:xfrm>
            <a:off x="6680200" y="2882900"/>
            <a:ext cx="4635500" cy="874776"/>
          </a:xfrm>
          <a:prstGeom prst="rect">
            <a:avLst/>
          </a:prstGeom>
          <a:noFill/>
        </p:spPr>
        <p:txBody>
          <a:bodyPr wrap="none" lIns="0" rIns="0" tIns="0" bIns="0" anchor="t">
            <a:spAutoFit/>
          </a:bodyPr>
          <a:lstStyle/>
          <a:p>
            <a:pPr algn="l">
              <a:lnSpc>
                <a:spcPts val="6588"/>
              </a:lnSpc>
              <a:spcBef>
                <a:spcPts val="0"/>
              </a:spcBef>
              <a:spcAft>
                <a:spcPts val="0"/>
              </a:spcAft>
            </a:pPr>
            <a:r>
              <a:rPr sz="5400" b="1">
                <a:solidFill>
                  <a:srgbClr val="C84760"/>
                </a:solidFill>
                <a:latin typeface="Arial"/>
              </a:rPr>
              <a:t>~0.606</a:t>
            </a:r>
          </a:p>
        </p:txBody>
      </p:sp>
      <p:sp>
        <p:nvSpPr>
          <p:cNvPr id="19" name="TextBox 18"/>
          <p:cNvSpPr txBox="1"/>
          <p:nvPr/>
        </p:nvSpPr>
        <p:spPr>
          <a:xfrm>
            <a:off x="6705600" y="3962400"/>
            <a:ext cx="4584700" cy="595884"/>
          </a:xfrm>
          <a:prstGeom prst="rect">
            <a:avLst/>
          </a:prstGeom>
          <a:noFill/>
        </p:spPr>
        <p:txBody>
          <a:bodyPr wrap="none" lIns="0" rIns="0" tIns="0" bIns="0" anchor="t">
            <a:spAutoFit/>
          </a:bodyPr>
          <a:lstStyle/>
          <a:p>
            <a:pPr algn="l">
              <a:lnSpc>
                <a:spcPts val="2196"/>
              </a:lnSpc>
              <a:spcBef>
                <a:spcPts val="0"/>
              </a:spcBef>
              <a:spcAft>
                <a:spcPts val="0"/>
              </a:spcAft>
            </a:pPr>
            <a:r>
              <a:rPr sz="1800" b="0">
                <a:solidFill>
                  <a:srgbClr val="546966"/>
                </a:solidFill>
                <a:latin typeface="Arial"/>
              </a:rPr>
              <a:t>AUROC on the new ordinary test</a:t>
            </a:r>
          </a:p>
          <a:p>
            <a:pPr algn="l">
              <a:lnSpc>
                <a:spcPts val="2196"/>
              </a:lnSpc>
              <a:spcBef>
                <a:spcPts val="0"/>
              </a:spcBef>
              <a:spcAft>
                <a:spcPts val="0"/>
              </a:spcAft>
            </a:pPr>
            <a:r>
              <a:rPr sz="1800" b="0">
                <a:solidFill>
                  <a:srgbClr val="546966"/>
                </a:solidFill>
                <a:latin typeface="Arial"/>
              </a:rPr>
              <a:t>~0.599 on held-out GPT Image 2</a:t>
            </a:r>
          </a:p>
        </p:txBody>
      </p:sp>
      <p:sp>
        <p:nvSpPr>
          <p:cNvPr id="20" name="TextBox 19"/>
          <p:cNvSpPr txBox="1"/>
          <p:nvPr/>
        </p:nvSpPr>
        <p:spPr>
          <a:xfrm>
            <a:off x="596900" y="5118100"/>
            <a:ext cx="10972800" cy="255015"/>
          </a:xfrm>
          <a:prstGeom prst="rect">
            <a:avLst/>
          </a:prstGeom>
          <a:noFill/>
        </p:spPr>
        <p:txBody>
          <a:bodyPr wrap="none" lIns="0" rIns="0" tIns="0" bIns="0" anchor="t">
            <a:spAutoFit/>
          </a:bodyPr>
          <a:lstStyle/>
          <a:p>
            <a:pPr algn="l">
              <a:lnSpc>
                <a:spcPts val="1707"/>
              </a:lnSpc>
              <a:spcBef>
                <a:spcPts val="0"/>
              </a:spcBef>
              <a:spcAft>
                <a:spcPts val="0"/>
              </a:spcAft>
            </a:pPr>
            <a:r>
              <a:rPr sz="1400" b="0">
                <a:solidFill>
                  <a:srgbClr val="546966"/>
                </a:solidFill>
                <a:latin typeface="Arial"/>
              </a:rPr>
              <a:t>Different test sets: this contrast shows the transfer problem, not a training curve.</a:t>
            </a:r>
          </a:p>
        </p:txBody>
      </p:sp>
      <p:sp>
        <p:nvSpPr>
          <p:cNvPr id="21" name="Rectangle 20"/>
          <p:cNvSpPr/>
          <p:nvPr/>
        </p:nvSpPr>
        <p:spPr>
          <a:xfrm>
            <a:off x="558800" y="5715000"/>
            <a:ext cx="11074400" cy="571500"/>
          </a:xfrm>
          <a:prstGeom prst="rect">
            <a:avLst/>
          </a:prstGeom>
          <a:solidFill>
            <a:srgbClr val="DF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2000" y="5854700"/>
            <a:ext cx="10668000" cy="286004"/>
          </a:xfrm>
          <a:prstGeom prst="rect">
            <a:avLst/>
          </a:prstGeom>
          <a:noFill/>
        </p:spPr>
        <p:txBody>
          <a:bodyPr wrap="none" lIns="0" rIns="0" tIns="0" bIns="0" anchor="t">
            <a:spAutoFit/>
          </a:bodyPr>
          <a:lstStyle/>
          <a:p>
            <a:pPr algn="l">
              <a:lnSpc>
                <a:spcPts val="1952"/>
              </a:lnSpc>
              <a:spcBef>
                <a:spcPts val="0"/>
              </a:spcBef>
              <a:spcAft>
                <a:spcPts val="0"/>
              </a:spcAft>
            </a:pPr>
            <a:r>
              <a:rPr sz="1600" b="1">
                <a:solidFill>
                  <a:srgbClr val="00796B"/>
                </a:solidFill>
                <a:latin typeface="Arial"/>
              </a:rPr>
              <a:t>Next: compare old AI Shield with Community Forensics (CF) on the same images.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600" cy="6858000"/>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58800" y="304800"/>
            <a:ext cx="10160000" cy="193040"/>
          </a:xfrm>
          <a:prstGeom prst="rect">
            <a:avLst/>
          </a:prstGeom>
          <a:noFill/>
        </p:spPr>
        <p:txBody>
          <a:bodyPr wrap="none" lIns="0" rIns="0" tIns="0" bIns="0" anchor="t">
            <a:spAutoFit/>
          </a:bodyPr>
          <a:lstStyle/>
          <a:p>
            <a:pPr algn="l">
              <a:lnSpc>
                <a:spcPts val="1220"/>
              </a:lnSpc>
              <a:spcBef>
                <a:spcPts val="0"/>
              </a:spcBef>
              <a:spcAft>
                <a:spcPts val="0"/>
              </a:spcAft>
            </a:pPr>
            <a:r>
              <a:rPr sz="1000" b="1">
                <a:solidFill>
                  <a:srgbClr val="00796B"/>
                </a:solidFill>
                <a:latin typeface="Arial"/>
              </a:rPr>
              <a:t>STAGE 4 / CONTROLLED BENCHMARK</a:t>
            </a:r>
          </a:p>
        </p:txBody>
      </p:sp>
      <p:sp>
        <p:nvSpPr>
          <p:cNvPr id="5" name="TextBox 4"/>
          <p:cNvSpPr txBox="1"/>
          <p:nvPr/>
        </p:nvSpPr>
        <p:spPr>
          <a:xfrm>
            <a:off x="10947400" y="304800"/>
            <a:ext cx="736600" cy="193040"/>
          </a:xfrm>
          <a:prstGeom prst="rect">
            <a:avLst/>
          </a:prstGeom>
          <a:noFill/>
        </p:spPr>
        <p:txBody>
          <a:bodyPr wrap="none" lIns="0" rIns="0" tIns="0" bIns="0" anchor="t">
            <a:spAutoFit/>
          </a:bodyPr>
          <a:lstStyle/>
          <a:p>
            <a:pPr algn="l">
              <a:lnSpc>
                <a:spcPts val="1220"/>
              </a:lnSpc>
              <a:spcBef>
                <a:spcPts val="0"/>
              </a:spcBef>
              <a:spcAft>
                <a:spcPts val="0"/>
              </a:spcAft>
            </a:pPr>
            <a:r>
              <a:rPr sz="1000" b="0">
                <a:solidFill>
                  <a:srgbClr val="546966"/>
                </a:solidFill>
                <a:latin typeface="Arial"/>
              </a:rPr>
              <a:t>09 / 15</a:t>
            </a:r>
          </a:p>
        </p:txBody>
      </p:sp>
      <p:sp>
        <p:nvSpPr>
          <p:cNvPr id="6" name="TextBox 5"/>
          <p:cNvSpPr txBox="1"/>
          <p:nvPr/>
        </p:nvSpPr>
        <p:spPr>
          <a:xfrm>
            <a:off x="558800" y="762000"/>
            <a:ext cx="11074400" cy="502920"/>
          </a:xfrm>
          <a:prstGeom prst="rect">
            <a:avLst/>
          </a:prstGeom>
          <a:noFill/>
        </p:spPr>
        <p:txBody>
          <a:bodyPr wrap="none" lIns="0" rIns="0" tIns="0" bIns="0" anchor="t">
            <a:spAutoFit/>
          </a:bodyPr>
          <a:lstStyle/>
          <a:p>
            <a:pPr algn="l">
              <a:lnSpc>
                <a:spcPts val="3660"/>
              </a:lnSpc>
              <a:spcBef>
                <a:spcPts val="0"/>
              </a:spcBef>
              <a:spcAft>
                <a:spcPts val="0"/>
              </a:spcAft>
            </a:pPr>
            <a:r>
              <a:rPr sz="3000" b="1">
                <a:solidFill>
                  <a:srgbClr val="172C2B"/>
                </a:solidFill>
                <a:latin typeface="Arial"/>
              </a:rPr>
              <a:t>Built Dataset v1 to test a harder question</a:t>
            </a:r>
          </a:p>
        </p:txBody>
      </p:sp>
      <p:sp>
        <p:nvSpPr>
          <p:cNvPr id="7" name="TextBox 6"/>
          <p:cNvSpPr txBox="1"/>
          <p:nvPr/>
        </p:nvSpPr>
        <p:spPr>
          <a:xfrm>
            <a:off x="584200" y="1409700"/>
            <a:ext cx="11049000" cy="255015"/>
          </a:xfrm>
          <a:prstGeom prst="rect">
            <a:avLst/>
          </a:prstGeom>
          <a:noFill/>
        </p:spPr>
        <p:txBody>
          <a:bodyPr wrap="none" lIns="0" rIns="0" tIns="0" bIns="0" anchor="t">
            <a:spAutoFit/>
          </a:bodyPr>
          <a:lstStyle/>
          <a:p>
            <a:pPr algn="l">
              <a:lnSpc>
                <a:spcPts val="1707"/>
              </a:lnSpc>
              <a:spcBef>
                <a:spcPts val="0"/>
              </a:spcBef>
              <a:spcAft>
                <a:spcPts val="0"/>
              </a:spcAft>
            </a:pPr>
            <a:r>
              <a:rPr sz="1400" b="0">
                <a:solidFill>
                  <a:srgbClr val="546966"/>
                </a:solidFill>
                <a:latin typeface="Arial"/>
              </a:rPr>
              <a:t>Fixed image identities and splits; evaluated a generator excluded from our fine-tuning.</a:t>
            </a:r>
          </a:p>
        </p:txBody>
      </p:sp>
      <p:cxnSp>
        <p:nvCxnSpPr>
          <p:cNvPr id="8" name="Connector 7"/>
          <p:cNvCxnSpPr/>
          <p:nvPr/>
        </p:nvCxnSpPr>
        <p:spPr>
          <a:xfrm>
            <a:off x="558800" y="6375400"/>
            <a:ext cx="11074400" cy="0"/>
          </a:xfrm>
          <a:prstGeom prst="line">
            <a:avLst/>
          </a:prstGeom>
          <a:ln w="12700">
            <a:solidFill>
              <a:srgbClr val="DCE5E2"/>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58800" y="6540500"/>
            <a:ext cx="5080000" cy="169799"/>
          </a:xfrm>
          <a:prstGeom prst="rect">
            <a:avLst/>
          </a:prstGeom>
          <a:noFill/>
        </p:spPr>
        <p:txBody>
          <a:bodyPr wrap="none" lIns="0" rIns="0" tIns="0" bIns="0" anchor="t">
            <a:spAutoFit/>
          </a:bodyPr>
          <a:lstStyle/>
          <a:p>
            <a:pPr algn="l">
              <a:lnSpc>
                <a:spcPts val="1037"/>
              </a:lnSpc>
              <a:spcBef>
                <a:spcPts val="0"/>
              </a:spcBef>
              <a:spcAft>
                <a:spcPts val="0"/>
              </a:spcAft>
            </a:pPr>
            <a:r>
              <a:rPr sz="850" b="0">
                <a:solidFill>
                  <a:srgbClr val="546966"/>
                </a:solidFill>
                <a:latin typeface="Arial"/>
              </a:rPr>
              <a:t>AI SHIELD / ABDELRAHMAN SOLIMAN</a:t>
            </a:r>
          </a:p>
        </p:txBody>
      </p:sp>
      <p:sp>
        <p:nvSpPr>
          <p:cNvPr id="10" name="TextBox 9"/>
          <p:cNvSpPr txBox="1"/>
          <p:nvPr/>
        </p:nvSpPr>
        <p:spPr>
          <a:xfrm>
            <a:off x="7175500" y="6540500"/>
            <a:ext cx="1460500" cy="169799"/>
          </a:xfrm>
          <a:prstGeom prst="rect">
            <a:avLst/>
          </a:prstGeom>
          <a:noFill/>
        </p:spPr>
        <p:txBody>
          <a:bodyPr wrap="none" lIns="0" rIns="0" tIns="0" bIns="0" anchor="t">
            <a:spAutoFit/>
          </a:bodyPr>
          <a:lstStyle/>
          <a:p>
            <a:pPr algn="l">
              <a:lnSpc>
                <a:spcPts val="1037"/>
              </a:lnSpc>
              <a:spcBef>
                <a:spcPts val="0"/>
              </a:spcBef>
              <a:spcAft>
                <a:spcPts val="0"/>
              </a:spcAft>
            </a:pPr>
            <a:r>
              <a:rPr sz="850" b="0">
                <a:solidFill>
                  <a:srgbClr val="546966"/>
                </a:solidFill>
                <a:latin typeface="Arial"/>
                <a:hlinkClick r:id="rId2"/>
              </a:rPr>
              <a:t>Dataset notebook</a:t>
            </a:r>
          </a:p>
        </p:txBody>
      </p:sp>
      <p:sp>
        <p:nvSpPr>
          <p:cNvPr id="11" name="TextBox 10"/>
          <p:cNvSpPr txBox="1"/>
          <p:nvPr/>
        </p:nvSpPr>
        <p:spPr>
          <a:xfrm>
            <a:off x="8648700" y="6540500"/>
            <a:ext cx="1460500" cy="169799"/>
          </a:xfrm>
          <a:prstGeom prst="rect">
            <a:avLst/>
          </a:prstGeom>
          <a:noFill/>
        </p:spPr>
        <p:txBody>
          <a:bodyPr wrap="none" lIns="0" rIns="0" tIns="0" bIns="0" anchor="t">
            <a:spAutoFit/>
          </a:bodyPr>
          <a:lstStyle/>
          <a:p>
            <a:pPr algn="l">
              <a:lnSpc>
                <a:spcPts val="1037"/>
              </a:lnSpc>
              <a:spcBef>
                <a:spcPts val="0"/>
              </a:spcBef>
              <a:spcAft>
                <a:spcPts val="0"/>
              </a:spcAft>
            </a:pPr>
            <a:r>
              <a:rPr sz="850" b="0">
                <a:solidFill>
                  <a:srgbClr val="546966"/>
                </a:solidFill>
                <a:latin typeface="Arial"/>
                <a:hlinkClick r:id="rId3"/>
              </a:rPr>
              <a:t>Results</a:t>
            </a:r>
          </a:p>
        </p:txBody>
      </p:sp>
      <p:sp>
        <p:nvSpPr>
          <p:cNvPr id="12" name="TextBox 11"/>
          <p:cNvSpPr txBox="1"/>
          <p:nvPr/>
        </p:nvSpPr>
        <p:spPr>
          <a:xfrm>
            <a:off x="558800" y="2133600"/>
            <a:ext cx="3810000" cy="998728"/>
          </a:xfrm>
          <a:prstGeom prst="rect">
            <a:avLst/>
          </a:prstGeom>
          <a:noFill/>
        </p:spPr>
        <p:txBody>
          <a:bodyPr wrap="none" lIns="0" rIns="0" tIns="0" bIns="0" anchor="t">
            <a:spAutoFit/>
          </a:bodyPr>
          <a:lstStyle/>
          <a:p>
            <a:pPr algn="l">
              <a:lnSpc>
                <a:spcPts val="7564"/>
              </a:lnSpc>
              <a:spcBef>
                <a:spcPts val="0"/>
              </a:spcBef>
              <a:spcAft>
                <a:spcPts val="0"/>
              </a:spcAft>
            </a:pPr>
            <a:r>
              <a:rPr sz="6200" b="1">
                <a:solidFill>
                  <a:srgbClr val="00796B"/>
                </a:solidFill>
                <a:latin typeface="Arial"/>
              </a:rPr>
              <a:t>5,124</a:t>
            </a:r>
          </a:p>
        </p:txBody>
      </p:sp>
      <p:sp>
        <p:nvSpPr>
          <p:cNvPr id="13" name="TextBox 12"/>
          <p:cNvSpPr txBox="1"/>
          <p:nvPr/>
        </p:nvSpPr>
        <p:spPr>
          <a:xfrm>
            <a:off x="609600" y="3187700"/>
            <a:ext cx="3429000" cy="363474"/>
          </a:xfrm>
          <a:prstGeom prst="rect">
            <a:avLst/>
          </a:prstGeom>
          <a:noFill/>
        </p:spPr>
        <p:txBody>
          <a:bodyPr wrap="none" lIns="0" rIns="0" tIns="0" bIns="0" anchor="t">
            <a:spAutoFit/>
          </a:bodyPr>
          <a:lstStyle/>
          <a:p>
            <a:pPr algn="l">
              <a:lnSpc>
                <a:spcPts val="2562"/>
              </a:lnSpc>
              <a:spcBef>
                <a:spcPts val="0"/>
              </a:spcBef>
              <a:spcAft>
                <a:spcPts val="0"/>
              </a:spcAft>
            </a:pPr>
            <a:r>
              <a:rPr sz="2100" b="1">
                <a:solidFill>
                  <a:srgbClr val="172C2B"/>
                </a:solidFill>
                <a:latin typeface="Arial"/>
              </a:rPr>
              <a:t>balanced images</a:t>
            </a:r>
          </a:p>
        </p:txBody>
      </p:sp>
      <p:sp>
        <p:nvSpPr>
          <p:cNvPr id="14" name="TextBox 13"/>
          <p:cNvSpPr txBox="1"/>
          <p:nvPr/>
        </p:nvSpPr>
        <p:spPr>
          <a:xfrm>
            <a:off x="609600" y="3771900"/>
            <a:ext cx="3429000" cy="657860"/>
          </a:xfrm>
          <a:prstGeom prst="rect">
            <a:avLst/>
          </a:prstGeom>
          <a:noFill/>
        </p:spPr>
        <p:txBody>
          <a:bodyPr wrap="none" lIns="0" rIns="0" tIns="0" bIns="0" anchor="t">
            <a:spAutoFit/>
          </a:bodyPr>
          <a:lstStyle/>
          <a:p>
            <a:pPr algn="l">
              <a:lnSpc>
                <a:spcPts val="2440"/>
              </a:lnSpc>
              <a:spcBef>
                <a:spcPts val="0"/>
              </a:spcBef>
              <a:spcAft>
                <a:spcPts val="0"/>
              </a:spcAft>
            </a:pPr>
            <a:r>
              <a:rPr sz="2000" b="0">
                <a:solidFill>
                  <a:srgbClr val="546966"/>
                </a:solidFill>
                <a:latin typeface="Arial"/>
              </a:rPr>
              <a:t>2,562 real</a:t>
            </a:r>
          </a:p>
          <a:p>
            <a:pPr algn="l">
              <a:lnSpc>
                <a:spcPts val="2440"/>
              </a:lnSpc>
              <a:spcBef>
                <a:spcPts val="0"/>
              </a:spcBef>
              <a:spcAft>
                <a:spcPts val="0"/>
              </a:spcAft>
            </a:pPr>
            <a:r>
              <a:rPr sz="2000" b="0">
                <a:solidFill>
                  <a:srgbClr val="546966"/>
                </a:solidFill>
                <a:latin typeface="Arial"/>
              </a:rPr>
              <a:t>2,562 generated</a:t>
            </a:r>
          </a:p>
        </p:txBody>
      </p:sp>
      <p:sp>
        <p:nvSpPr>
          <p:cNvPr id="15" name="Rectangle 14"/>
          <p:cNvSpPr/>
          <p:nvPr/>
        </p:nvSpPr>
        <p:spPr>
          <a:xfrm>
            <a:off x="4546600" y="2260600"/>
            <a:ext cx="4109833" cy="673100"/>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681833" y="2260600"/>
            <a:ext cx="859733" cy="673100"/>
          </a:xfrm>
          <a:prstGeom prst="rect">
            <a:avLst/>
          </a:prstGeom>
          <a:solidFill>
            <a:srgbClr val="5469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566966" y="2260600"/>
            <a:ext cx="859733" cy="673100"/>
          </a:xfrm>
          <a:prstGeom prst="rect">
            <a:avLst/>
          </a:prstGeom>
          <a:solidFill>
            <a:srgbClr val="C847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452100" y="2260600"/>
            <a:ext cx="1155700" cy="673100"/>
          </a:xfrm>
          <a:prstGeom prst="rect">
            <a:avLst/>
          </a:prstGeom>
          <a:solidFill>
            <a:srgbClr val="B7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46600" y="3327400"/>
            <a:ext cx="127000" cy="127000"/>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00600" y="3276600"/>
            <a:ext cx="3175000" cy="286004"/>
          </a:xfrm>
          <a:prstGeom prst="rect">
            <a:avLst/>
          </a:prstGeom>
          <a:noFill/>
        </p:spPr>
        <p:txBody>
          <a:bodyPr wrap="none" lIns="0" rIns="0" tIns="0" bIns="0" anchor="t">
            <a:spAutoFit/>
          </a:bodyPr>
          <a:lstStyle/>
          <a:p>
            <a:pPr algn="l">
              <a:lnSpc>
                <a:spcPts val="1952"/>
              </a:lnSpc>
              <a:spcBef>
                <a:spcPts val="0"/>
              </a:spcBef>
              <a:spcAft>
                <a:spcPts val="0"/>
              </a:spcAft>
            </a:pPr>
            <a:r>
              <a:rPr sz="1600" b="1">
                <a:solidFill>
                  <a:srgbClr val="172C2B"/>
                </a:solidFill>
                <a:latin typeface="Arial"/>
              </a:rPr>
              <a:t>Training: 2,990</a:t>
            </a:r>
          </a:p>
        </p:txBody>
      </p:sp>
      <p:sp>
        <p:nvSpPr>
          <p:cNvPr id="21" name="Rectangle 20"/>
          <p:cNvSpPr/>
          <p:nvPr/>
        </p:nvSpPr>
        <p:spPr>
          <a:xfrm>
            <a:off x="8191500" y="3327400"/>
            <a:ext cx="127000" cy="127000"/>
          </a:xfrm>
          <a:prstGeom prst="rect">
            <a:avLst/>
          </a:prstGeom>
          <a:solidFill>
            <a:srgbClr val="5469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45500" y="3276600"/>
            <a:ext cx="3175000" cy="286004"/>
          </a:xfrm>
          <a:prstGeom prst="rect">
            <a:avLst/>
          </a:prstGeom>
          <a:noFill/>
        </p:spPr>
        <p:txBody>
          <a:bodyPr wrap="none" lIns="0" rIns="0" tIns="0" bIns="0" anchor="t">
            <a:spAutoFit/>
          </a:bodyPr>
          <a:lstStyle/>
          <a:p>
            <a:pPr algn="l">
              <a:lnSpc>
                <a:spcPts val="1952"/>
              </a:lnSpc>
              <a:spcBef>
                <a:spcPts val="0"/>
              </a:spcBef>
              <a:spcAft>
                <a:spcPts val="0"/>
              </a:spcAft>
            </a:pPr>
            <a:r>
              <a:rPr sz="1600" b="1">
                <a:solidFill>
                  <a:srgbClr val="172C2B"/>
                </a:solidFill>
                <a:latin typeface="Arial"/>
              </a:rPr>
              <a:t>Validation: 640</a:t>
            </a:r>
          </a:p>
        </p:txBody>
      </p:sp>
      <p:sp>
        <p:nvSpPr>
          <p:cNvPr id="23" name="Rectangle 22"/>
          <p:cNvSpPr/>
          <p:nvPr/>
        </p:nvSpPr>
        <p:spPr>
          <a:xfrm>
            <a:off x="4546600" y="4241800"/>
            <a:ext cx="127000" cy="127000"/>
          </a:xfrm>
          <a:prstGeom prst="rect">
            <a:avLst/>
          </a:prstGeom>
          <a:solidFill>
            <a:srgbClr val="C847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00600" y="4191000"/>
            <a:ext cx="3175000" cy="286004"/>
          </a:xfrm>
          <a:prstGeom prst="rect">
            <a:avLst/>
          </a:prstGeom>
          <a:noFill/>
        </p:spPr>
        <p:txBody>
          <a:bodyPr wrap="none" lIns="0" rIns="0" tIns="0" bIns="0" anchor="t">
            <a:spAutoFit/>
          </a:bodyPr>
          <a:lstStyle/>
          <a:p>
            <a:pPr algn="l">
              <a:lnSpc>
                <a:spcPts val="1952"/>
              </a:lnSpc>
              <a:spcBef>
                <a:spcPts val="0"/>
              </a:spcBef>
              <a:spcAft>
                <a:spcPts val="0"/>
              </a:spcAft>
            </a:pPr>
            <a:r>
              <a:rPr sz="1600" b="1">
                <a:solidFill>
                  <a:srgbClr val="172C2B"/>
                </a:solidFill>
                <a:latin typeface="Arial"/>
              </a:rPr>
              <a:t>Ordinary test: 640</a:t>
            </a:r>
          </a:p>
        </p:txBody>
      </p:sp>
      <p:sp>
        <p:nvSpPr>
          <p:cNvPr id="25" name="Rectangle 24"/>
          <p:cNvSpPr/>
          <p:nvPr/>
        </p:nvSpPr>
        <p:spPr>
          <a:xfrm>
            <a:off x="8191500" y="4241800"/>
            <a:ext cx="127000" cy="127000"/>
          </a:xfrm>
          <a:prstGeom prst="rect">
            <a:avLst/>
          </a:prstGeom>
          <a:solidFill>
            <a:srgbClr val="B7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45500" y="4191000"/>
            <a:ext cx="3175000" cy="286004"/>
          </a:xfrm>
          <a:prstGeom prst="rect">
            <a:avLst/>
          </a:prstGeom>
          <a:noFill/>
        </p:spPr>
        <p:txBody>
          <a:bodyPr wrap="none" lIns="0" rIns="0" tIns="0" bIns="0" anchor="t">
            <a:spAutoFit/>
          </a:bodyPr>
          <a:lstStyle/>
          <a:p>
            <a:pPr algn="l">
              <a:lnSpc>
                <a:spcPts val="1952"/>
              </a:lnSpc>
              <a:spcBef>
                <a:spcPts val="0"/>
              </a:spcBef>
              <a:spcAft>
                <a:spcPts val="0"/>
              </a:spcAft>
            </a:pPr>
            <a:r>
              <a:rPr sz="1600" b="1">
                <a:solidFill>
                  <a:srgbClr val="172C2B"/>
                </a:solidFill>
                <a:latin typeface="Arial"/>
              </a:rPr>
              <a:t>Unseen generator: 854</a:t>
            </a:r>
          </a:p>
        </p:txBody>
      </p:sp>
      <p:sp>
        <p:nvSpPr>
          <p:cNvPr id="27" name="TextBox 26"/>
          <p:cNvSpPr txBox="1"/>
          <p:nvPr/>
        </p:nvSpPr>
        <p:spPr>
          <a:xfrm>
            <a:off x="4559300" y="5257800"/>
            <a:ext cx="7048500" cy="564896"/>
          </a:xfrm>
          <a:prstGeom prst="rect">
            <a:avLst/>
          </a:prstGeom>
          <a:noFill/>
        </p:spPr>
        <p:txBody>
          <a:bodyPr wrap="none" lIns="0" rIns="0" tIns="0" bIns="0" anchor="t">
            <a:spAutoFit/>
          </a:bodyPr>
          <a:lstStyle/>
          <a:p>
            <a:pPr algn="l">
              <a:lnSpc>
                <a:spcPts val="2074"/>
              </a:lnSpc>
              <a:spcBef>
                <a:spcPts val="0"/>
              </a:spcBef>
              <a:spcAft>
                <a:spcPts val="0"/>
              </a:spcAft>
            </a:pPr>
            <a:r>
              <a:rPr sz="1700" b="0">
                <a:solidFill>
                  <a:srgbClr val="546966"/>
                </a:solidFill>
                <a:latin typeface="Arial"/>
              </a:rPr>
              <a:t>Five generator families in development.</a:t>
            </a:r>
          </a:p>
          <a:p>
            <a:pPr algn="l">
              <a:lnSpc>
                <a:spcPts val="2074"/>
              </a:lnSpc>
              <a:spcBef>
                <a:spcPts val="0"/>
              </a:spcBef>
              <a:spcAft>
                <a:spcPts val="0"/>
              </a:spcAft>
            </a:pPr>
            <a:r>
              <a:rPr sz="1700" b="0">
                <a:solidFill>
                  <a:srgbClr val="546966"/>
                </a:solidFill>
                <a:latin typeface="Arial"/>
              </a:rPr>
              <a:t>GPT Image 2 reserved for a separate test.</a:t>
            </a:r>
          </a:p>
        </p:txBody>
      </p:sp>
      <p:sp>
        <p:nvSpPr>
          <p:cNvPr id="28" name="TextBox 27"/>
          <p:cNvSpPr txBox="1"/>
          <p:nvPr/>
        </p:nvSpPr>
        <p:spPr>
          <a:xfrm>
            <a:off x="584200" y="6019800"/>
            <a:ext cx="10998200" cy="208534"/>
          </a:xfrm>
          <a:prstGeom prst="rect">
            <a:avLst/>
          </a:prstGeom>
          <a:noFill/>
        </p:spPr>
        <p:txBody>
          <a:bodyPr wrap="none" lIns="0" rIns="0" tIns="0" bIns="0" anchor="t">
            <a:spAutoFit/>
          </a:bodyPr>
          <a:lstStyle/>
          <a:p>
            <a:pPr algn="l">
              <a:lnSpc>
                <a:spcPts val="1342"/>
              </a:lnSpc>
              <a:spcBef>
                <a:spcPts val="0"/>
              </a:spcBef>
              <a:spcAft>
                <a:spcPts val="0"/>
              </a:spcAft>
            </a:pPr>
            <a:r>
              <a:rPr sz="1100" b="0">
                <a:solidFill>
                  <a:srgbClr val="546966"/>
                </a:solidFill>
                <a:latin typeface="Arial"/>
              </a:rPr>
              <a:t>Held out from this project's training/validation; no claim about the pretrained model's full history.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600" cy="6858000"/>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58800" y="304800"/>
            <a:ext cx="10160000" cy="193040"/>
          </a:xfrm>
          <a:prstGeom prst="rect">
            <a:avLst/>
          </a:prstGeom>
          <a:noFill/>
        </p:spPr>
        <p:txBody>
          <a:bodyPr wrap="none" lIns="0" rIns="0" tIns="0" bIns="0" anchor="t">
            <a:spAutoFit/>
          </a:bodyPr>
          <a:lstStyle/>
          <a:p>
            <a:pPr algn="l">
              <a:lnSpc>
                <a:spcPts val="1220"/>
              </a:lnSpc>
              <a:spcBef>
                <a:spcPts val="0"/>
              </a:spcBef>
              <a:spcAft>
                <a:spcPts val="0"/>
              </a:spcAft>
            </a:pPr>
            <a:r>
              <a:rPr sz="1000" b="1">
                <a:solidFill>
                  <a:srgbClr val="00796B"/>
                </a:solidFill>
                <a:latin typeface="Arial"/>
              </a:rPr>
              <a:t>STAGE 5 / ADAPTING COMMUNITY FORENSICS</a:t>
            </a:r>
          </a:p>
        </p:txBody>
      </p:sp>
      <p:sp>
        <p:nvSpPr>
          <p:cNvPr id="5" name="TextBox 4"/>
          <p:cNvSpPr txBox="1"/>
          <p:nvPr/>
        </p:nvSpPr>
        <p:spPr>
          <a:xfrm>
            <a:off x="10947400" y="304800"/>
            <a:ext cx="736600" cy="193040"/>
          </a:xfrm>
          <a:prstGeom prst="rect">
            <a:avLst/>
          </a:prstGeom>
          <a:noFill/>
        </p:spPr>
        <p:txBody>
          <a:bodyPr wrap="none" lIns="0" rIns="0" tIns="0" bIns="0" anchor="t">
            <a:spAutoFit/>
          </a:bodyPr>
          <a:lstStyle/>
          <a:p>
            <a:pPr algn="l">
              <a:lnSpc>
                <a:spcPts val="1220"/>
              </a:lnSpc>
              <a:spcBef>
                <a:spcPts val="0"/>
              </a:spcBef>
              <a:spcAft>
                <a:spcPts val="0"/>
              </a:spcAft>
            </a:pPr>
            <a:r>
              <a:rPr sz="1000" b="0">
                <a:solidFill>
                  <a:srgbClr val="546966"/>
                </a:solidFill>
                <a:latin typeface="Arial"/>
              </a:rPr>
              <a:t>10 / 15</a:t>
            </a:r>
          </a:p>
        </p:txBody>
      </p:sp>
      <p:sp>
        <p:nvSpPr>
          <p:cNvPr id="6" name="TextBox 5"/>
          <p:cNvSpPr txBox="1"/>
          <p:nvPr/>
        </p:nvSpPr>
        <p:spPr>
          <a:xfrm>
            <a:off x="558800" y="762000"/>
            <a:ext cx="11074400" cy="502920"/>
          </a:xfrm>
          <a:prstGeom prst="rect">
            <a:avLst/>
          </a:prstGeom>
          <a:noFill/>
        </p:spPr>
        <p:txBody>
          <a:bodyPr wrap="none" lIns="0" rIns="0" tIns="0" bIns="0" anchor="t">
            <a:spAutoFit/>
          </a:bodyPr>
          <a:lstStyle/>
          <a:p>
            <a:pPr algn="l">
              <a:lnSpc>
                <a:spcPts val="3660"/>
              </a:lnSpc>
              <a:spcBef>
                <a:spcPts val="0"/>
              </a:spcBef>
              <a:spcAft>
                <a:spcPts val="0"/>
              </a:spcAft>
            </a:pPr>
            <a:r>
              <a:rPr sz="3000" b="1">
                <a:solidFill>
                  <a:srgbClr val="172C2B"/>
                </a:solidFill>
                <a:latin typeface="Arial"/>
              </a:rPr>
              <a:t>Fine-tuned the detector in two controlled stages</a:t>
            </a:r>
          </a:p>
        </p:txBody>
      </p:sp>
      <p:sp>
        <p:nvSpPr>
          <p:cNvPr id="7" name="TextBox 6"/>
          <p:cNvSpPr txBox="1"/>
          <p:nvPr/>
        </p:nvSpPr>
        <p:spPr>
          <a:xfrm>
            <a:off x="584200" y="1409700"/>
            <a:ext cx="11049000" cy="255015"/>
          </a:xfrm>
          <a:prstGeom prst="rect">
            <a:avLst/>
          </a:prstGeom>
          <a:noFill/>
        </p:spPr>
        <p:txBody>
          <a:bodyPr wrap="none" lIns="0" rIns="0" tIns="0" bIns="0" anchor="t">
            <a:spAutoFit/>
          </a:bodyPr>
          <a:lstStyle/>
          <a:p>
            <a:pPr algn="l">
              <a:lnSpc>
                <a:spcPts val="1707"/>
              </a:lnSpc>
              <a:spcBef>
                <a:spcPts val="0"/>
              </a:spcBef>
              <a:spcAft>
                <a:spcPts val="0"/>
              </a:spcAft>
            </a:pPr>
            <a:r>
              <a:rPr sz="1400" b="0">
                <a:solidFill>
                  <a:srgbClr val="546966"/>
                </a:solidFill>
                <a:latin typeface="Arial"/>
              </a:rPr>
              <a:t>The checkpoint and decision threshold were selected on validation data.</a:t>
            </a:r>
          </a:p>
        </p:txBody>
      </p:sp>
      <p:cxnSp>
        <p:nvCxnSpPr>
          <p:cNvPr id="8" name="Connector 7"/>
          <p:cNvCxnSpPr/>
          <p:nvPr/>
        </p:nvCxnSpPr>
        <p:spPr>
          <a:xfrm>
            <a:off x="558800" y="6375400"/>
            <a:ext cx="11074400" cy="0"/>
          </a:xfrm>
          <a:prstGeom prst="line">
            <a:avLst/>
          </a:prstGeom>
          <a:ln w="12700">
            <a:solidFill>
              <a:srgbClr val="DCE5E2"/>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58800" y="6540500"/>
            <a:ext cx="5080000" cy="169799"/>
          </a:xfrm>
          <a:prstGeom prst="rect">
            <a:avLst/>
          </a:prstGeom>
          <a:noFill/>
        </p:spPr>
        <p:txBody>
          <a:bodyPr wrap="none" lIns="0" rIns="0" tIns="0" bIns="0" anchor="t">
            <a:spAutoFit/>
          </a:bodyPr>
          <a:lstStyle/>
          <a:p>
            <a:pPr algn="l">
              <a:lnSpc>
                <a:spcPts val="1037"/>
              </a:lnSpc>
              <a:spcBef>
                <a:spcPts val="0"/>
              </a:spcBef>
              <a:spcAft>
                <a:spcPts val="0"/>
              </a:spcAft>
            </a:pPr>
            <a:r>
              <a:rPr sz="850" b="0">
                <a:solidFill>
                  <a:srgbClr val="546966"/>
                </a:solidFill>
                <a:latin typeface="Arial"/>
              </a:rPr>
              <a:t>AI SHIELD / ABDELRAHMAN SOLIMAN</a:t>
            </a:r>
          </a:p>
        </p:txBody>
      </p:sp>
      <p:sp>
        <p:nvSpPr>
          <p:cNvPr id="10" name="TextBox 9"/>
          <p:cNvSpPr txBox="1"/>
          <p:nvPr/>
        </p:nvSpPr>
        <p:spPr>
          <a:xfrm>
            <a:off x="7175500" y="6540500"/>
            <a:ext cx="1460500" cy="169799"/>
          </a:xfrm>
          <a:prstGeom prst="rect">
            <a:avLst/>
          </a:prstGeom>
          <a:noFill/>
        </p:spPr>
        <p:txBody>
          <a:bodyPr wrap="none" lIns="0" rIns="0" tIns="0" bIns="0" anchor="t">
            <a:spAutoFit/>
          </a:bodyPr>
          <a:lstStyle/>
          <a:p>
            <a:pPr algn="l">
              <a:lnSpc>
                <a:spcPts val="1037"/>
              </a:lnSpc>
              <a:spcBef>
                <a:spcPts val="0"/>
              </a:spcBef>
              <a:spcAft>
                <a:spcPts val="0"/>
              </a:spcAft>
            </a:pPr>
            <a:r>
              <a:rPr sz="850" b="0">
                <a:solidFill>
                  <a:srgbClr val="546966"/>
                </a:solidFill>
                <a:latin typeface="Arial"/>
                <a:hlinkClick r:id="rId2"/>
              </a:rPr>
              <a:t>Training notebook</a:t>
            </a:r>
          </a:p>
        </p:txBody>
      </p:sp>
      <p:sp>
        <p:nvSpPr>
          <p:cNvPr id="11" name="TextBox 10"/>
          <p:cNvSpPr txBox="1"/>
          <p:nvPr/>
        </p:nvSpPr>
        <p:spPr>
          <a:xfrm>
            <a:off x="8648700" y="6540500"/>
            <a:ext cx="1460500" cy="169799"/>
          </a:xfrm>
          <a:prstGeom prst="rect">
            <a:avLst/>
          </a:prstGeom>
          <a:noFill/>
        </p:spPr>
        <p:txBody>
          <a:bodyPr wrap="none" lIns="0" rIns="0" tIns="0" bIns="0" anchor="t">
            <a:spAutoFit/>
          </a:bodyPr>
          <a:lstStyle/>
          <a:p>
            <a:pPr algn="l">
              <a:lnSpc>
                <a:spcPts val="1037"/>
              </a:lnSpc>
              <a:spcBef>
                <a:spcPts val="0"/>
              </a:spcBef>
              <a:spcAft>
                <a:spcPts val="0"/>
              </a:spcAft>
            </a:pPr>
            <a:r>
              <a:rPr sz="850" b="0">
                <a:solidFill>
                  <a:srgbClr val="546966"/>
                </a:solidFill>
                <a:latin typeface="Arial"/>
                <a:hlinkClick r:id="rId3"/>
              </a:rPr>
              <a:t>Results</a:t>
            </a:r>
          </a:p>
        </p:txBody>
      </p:sp>
      <p:sp>
        <p:nvSpPr>
          <p:cNvPr id="12" name="Rectangle 11"/>
          <p:cNvSpPr/>
          <p:nvPr/>
        </p:nvSpPr>
        <p:spPr>
          <a:xfrm>
            <a:off x="558800" y="2286000"/>
            <a:ext cx="50800" cy="228600"/>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2000" y="2235200"/>
            <a:ext cx="4152900" cy="301498"/>
          </a:xfrm>
          <a:prstGeom prst="rect">
            <a:avLst/>
          </a:prstGeom>
          <a:noFill/>
        </p:spPr>
        <p:txBody>
          <a:bodyPr wrap="none" lIns="0" rIns="0" tIns="0" bIns="0" anchor="t">
            <a:spAutoFit/>
          </a:bodyPr>
          <a:lstStyle/>
          <a:p>
            <a:pPr algn="l">
              <a:lnSpc>
                <a:spcPts val="2074"/>
              </a:lnSpc>
              <a:spcBef>
                <a:spcPts val="0"/>
              </a:spcBef>
              <a:spcAft>
                <a:spcPts val="0"/>
              </a:spcAft>
            </a:pPr>
            <a:r>
              <a:rPr sz="1700" b="1">
                <a:solidFill>
                  <a:srgbClr val="172C2B"/>
                </a:solidFill>
                <a:latin typeface="Arial"/>
              </a:rPr>
              <a:t>Stage 1: classifier head</a:t>
            </a:r>
          </a:p>
        </p:txBody>
      </p:sp>
      <p:sp>
        <p:nvSpPr>
          <p:cNvPr id="14" name="TextBox 13"/>
          <p:cNvSpPr txBox="1"/>
          <p:nvPr/>
        </p:nvSpPr>
        <p:spPr>
          <a:xfrm>
            <a:off x="762000" y="2625598"/>
            <a:ext cx="4152900" cy="533908"/>
          </a:xfrm>
          <a:prstGeom prst="rect">
            <a:avLst/>
          </a:prstGeom>
          <a:noFill/>
        </p:spPr>
        <p:txBody>
          <a:bodyPr wrap="none" lIns="0" rIns="0" tIns="0" bIns="0" anchor="t">
            <a:spAutoFit/>
          </a:bodyPr>
          <a:lstStyle/>
          <a:p>
            <a:pPr algn="l">
              <a:lnSpc>
                <a:spcPts val="1952"/>
              </a:lnSpc>
              <a:spcBef>
                <a:spcPts val="0"/>
              </a:spcBef>
              <a:spcAft>
                <a:spcPts val="0"/>
              </a:spcAft>
            </a:pPr>
            <a:r>
              <a:rPr sz="1600" b="0">
                <a:solidFill>
                  <a:srgbClr val="546966"/>
                </a:solidFill>
                <a:latin typeface="Arial"/>
              </a:rPr>
              <a:t>Three epochs; keep the pretrained visual</a:t>
            </a:r>
          </a:p>
          <a:p>
            <a:pPr algn="l">
              <a:lnSpc>
                <a:spcPts val="1952"/>
              </a:lnSpc>
              <a:spcBef>
                <a:spcPts val="0"/>
              </a:spcBef>
              <a:spcAft>
                <a:spcPts val="0"/>
              </a:spcAft>
            </a:pPr>
            <a:r>
              <a:rPr sz="1600" b="0">
                <a:solidFill>
                  <a:srgbClr val="546966"/>
                </a:solidFill>
                <a:latin typeface="Arial"/>
              </a:rPr>
              <a:t>backbone fixed.</a:t>
            </a:r>
          </a:p>
        </p:txBody>
      </p:sp>
      <p:sp>
        <p:nvSpPr>
          <p:cNvPr id="15" name="Rectangle 14"/>
          <p:cNvSpPr/>
          <p:nvPr/>
        </p:nvSpPr>
        <p:spPr>
          <a:xfrm>
            <a:off x="558800" y="3784600"/>
            <a:ext cx="50800" cy="228600"/>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2000" y="3733800"/>
            <a:ext cx="4152900" cy="301498"/>
          </a:xfrm>
          <a:prstGeom prst="rect">
            <a:avLst/>
          </a:prstGeom>
          <a:noFill/>
        </p:spPr>
        <p:txBody>
          <a:bodyPr wrap="none" lIns="0" rIns="0" tIns="0" bIns="0" anchor="t">
            <a:spAutoFit/>
          </a:bodyPr>
          <a:lstStyle/>
          <a:p>
            <a:pPr algn="l">
              <a:lnSpc>
                <a:spcPts val="2074"/>
              </a:lnSpc>
              <a:spcBef>
                <a:spcPts val="0"/>
              </a:spcBef>
              <a:spcAft>
                <a:spcPts val="0"/>
              </a:spcAft>
            </a:pPr>
            <a:r>
              <a:rPr sz="1700" b="1">
                <a:solidFill>
                  <a:srgbClr val="172C2B"/>
                </a:solidFill>
                <a:latin typeface="Arial"/>
              </a:rPr>
              <a:t>Stage 2: final blocks</a:t>
            </a:r>
          </a:p>
        </p:txBody>
      </p:sp>
      <p:sp>
        <p:nvSpPr>
          <p:cNvPr id="17" name="TextBox 16"/>
          <p:cNvSpPr txBox="1"/>
          <p:nvPr/>
        </p:nvSpPr>
        <p:spPr>
          <a:xfrm>
            <a:off x="762000" y="4124198"/>
            <a:ext cx="4152900" cy="533908"/>
          </a:xfrm>
          <a:prstGeom prst="rect">
            <a:avLst/>
          </a:prstGeom>
          <a:noFill/>
        </p:spPr>
        <p:txBody>
          <a:bodyPr wrap="none" lIns="0" rIns="0" tIns="0" bIns="0" anchor="t">
            <a:spAutoFit/>
          </a:bodyPr>
          <a:lstStyle/>
          <a:p>
            <a:pPr algn="l">
              <a:lnSpc>
                <a:spcPts val="1952"/>
              </a:lnSpc>
              <a:spcBef>
                <a:spcPts val="0"/>
              </a:spcBef>
              <a:spcAft>
                <a:spcPts val="0"/>
              </a:spcAft>
            </a:pPr>
            <a:r>
              <a:rPr sz="1600" b="0">
                <a:solidFill>
                  <a:srgbClr val="546966"/>
                </a:solidFill>
                <a:latin typeface="Arial"/>
              </a:rPr>
              <a:t>Three epochs; train the final two transformer</a:t>
            </a:r>
          </a:p>
          <a:p>
            <a:pPr algn="l">
              <a:lnSpc>
                <a:spcPts val="1952"/>
              </a:lnSpc>
              <a:spcBef>
                <a:spcPts val="0"/>
              </a:spcBef>
              <a:spcAft>
                <a:spcPts val="0"/>
              </a:spcAft>
            </a:pPr>
            <a:r>
              <a:rPr sz="1600" b="0">
                <a:solidFill>
                  <a:srgbClr val="546966"/>
                </a:solidFill>
                <a:latin typeface="Arial"/>
              </a:rPr>
              <a:t>blocks, normalization and head.</a:t>
            </a:r>
          </a:p>
        </p:txBody>
      </p:sp>
      <p:cxnSp>
        <p:nvCxnSpPr>
          <p:cNvPr id="18" name="Connector 17"/>
          <p:cNvCxnSpPr/>
          <p:nvPr/>
        </p:nvCxnSpPr>
        <p:spPr>
          <a:xfrm>
            <a:off x="5715000" y="4940300"/>
            <a:ext cx="5549900" cy="0"/>
          </a:xfrm>
          <a:prstGeom prst="line">
            <a:avLst/>
          </a:prstGeom>
          <a:ln w="12700">
            <a:solidFill>
              <a:srgbClr val="DCE5E2"/>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168900" y="4838700"/>
            <a:ext cx="469900" cy="208534"/>
          </a:xfrm>
          <a:prstGeom prst="rect">
            <a:avLst/>
          </a:prstGeom>
          <a:noFill/>
        </p:spPr>
        <p:txBody>
          <a:bodyPr wrap="none" lIns="0" rIns="0" tIns="0" bIns="0" anchor="t">
            <a:spAutoFit/>
          </a:bodyPr>
          <a:lstStyle/>
          <a:p>
            <a:pPr algn="l">
              <a:lnSpc>
                <a:spcPts val="1342"/>
              </a:lnSpc>
              <a:spcBef>
                <a:spcPts val="0"/>
              </a:spcBef>
              <a:spcAft>
                <a:spcPts val="0"/>
              </a:spcAft>
            </a:pPr>
            <a:r>
              <a:rPr sz="1100" b="0">
                <a:solidFill>
                  <a:srgbClr val="546966"/>
                </a:solidFill>
                <a:latin typeface="Arial"/>
              </a:rPr>
              <a:t>0.50</a:t>
            </a:r>
          </a:p>
        </p:txBody>
      </p:sp>
      <p:cxnSp>
        <p:nvCxnSpPr>
          <p:cNvPr id="20" name="Connector 19"/>
          <p:cNvCxnSpPr/>
          <p:nvPr/>
        </p:nvCxnSpPr>
        <p:spPr>
          <a:xfrm>
            <a:off x="5715000" y="3638550"/>
            <a:ext cx="5549900" cy="0"/>
          </a:xfrm>
          <a:prstGeom prst="line">
            <a:avLst/>
          </a:prstGeom>
          <a:ln w="12700">
            <a:solidFill>
              <a:srgbClr val="DCE5E2"/>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168900" y="3536950"/>
            <a:ext cx="469900" cy="208534"/>
          </a:xfrm>
          <a:prstGeom prst="rect">
            <a:avLst/>
          </a:prstGeom>
          <a:noFill/>
        </p:spPr>
        <p:txBody>
          <a:bodyPr wrap="none" lIns="0" rIns="0" tIns="0" bIns="0" anchor="t">
            <a:spAutoFit/>
          </a:bodyPr>
          <a:lstStyle/>
          <a:p>
            <a:pPr algn="l">
              <a:lnSpc>
                <a:spcPts val="1342"/>
              </a:lnSpc>
              <a:spcBef>
                <a:spcPts val="0"/>
              </a:spcBef>
              <a:spcAft>
                <a:spcPts val="0"/>
              </a:spcAft>
            </a:pPr>
            <a:r>
              <a:rPr sz="1100" b="0">
                <a:solidFill>
                  <a:srgbClr val="546966"/>
                </a:solidFill>
                <a:latin typeface="Arial"/>
              </a:rPr>
              <a:t>0.75</a:t>
            </a:r>
          </a:p>
        </p:txBody>
      </p:sp>
      <p:cxnSp>
        <p:nvCxnSpPr>
          <p:cNvPr id="22" name="Connector 21"/>
          <p:cNvCxnSpPr/>
          <p:nvPr/>
        </p:nvCxnSpPr>
        <p:spPr>
          <a:xfrm>
            <a:off x="5715000" y="2336800"/>
            <a:ext cx="5549900" cy="0"/>
          </a:xfrm>
          <a:prstGeom prst="line">
            <a:avLst/>
          </a:prstGeom>
          <a:ln w="12700">
            <a:solidFill>
              <a:srgbClr val="DCE5E2"/>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168900" y="2235200"/>
            <a:ext cx="469900" cy="208534"/>
          </a:xfrm>
          <a:prstGeom prst="rect">
            <a:avLst/>
          </a:prstGeom>
          <a:noFill/>
        </p:spPr>
        <p:txBody>
          <a:bodyPr wrap="none" lIns="0" rIns="0" tIns="0" bIns="0" anchor="t">
            <a:spAutoFit/>
          </a:bodyPr>
          <a:lstStyle/>
          <a:p>
            <a:pPr algn="l">
              <a:lnSpc>
                <a:spcPts val="1342"/>
              </a:lnSpc>
              <a:spcBef>
                <a:spcPts val="0"/>
              </a:spcBef>
              <a:spcAft>
                <a:spcPts val="0"/>
              </a:spcAft>
            </a:pPr>
            <a:r>
              <a:rPr sz="1100" b="0">
                <a:solidFill>
                  <a:srgbClr val="546966"/>
                </a:solidFill>
                <a:latin typeface="Arial"/>
              </a:rPr>
              <a:t>1.00</a:t>
            </a:r>
          </a:p>
        </p:txBody>
      </p:sp>
      <p:sp>
        <p:nvSpPr>
          <p:cNvPr id="24" name="Rectangle 23"/>
          <p:cNvSpPr/>
          <p:nvPr/>
        </p:nvSpPr>
        <p:spPr>
          <a:xfrm>
            <a:off x="6159500" y="2908554"/>
            <a:ext cx="127000" cy="127000"/>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61000" y="2489454"/>
            <a:ext cx="1524000" cy="363474"/>
          </a:xfrm>
          <a:prstGeom prst="rect">
            <a:avLst/>
          </a:prstGeom>
          <a:noFill/>
        </p:spPr>
        <p:txBody>
          <a:bodyPr wrap="none" lIns="0" rIns="0" tIns="0" bIns="0" anchor="t">
            <a:spAutoFit/>
          </a:bodyPr>
          <a:lstStyle/>
          <a:p>
            <a:pPr algn="ctr">
              <a:lnSpc>
                <a:spcPts val="2562"/>
              </a:lnSpc>
              <a:spcBef>
                <a:spcPts val="0"/>
              </a:spcBef>
              <a:spcAft>
                <a:spcPts val="0"/>
              </a:spcAft>
            </a:pPr>
            <a:r>
              <a:rPr sz="2100" b="1">
                <a:solidFill>
                  <a:srgbClr val="00796B"/>
                </a:solidFill>
                <a:latin typeface="Arial"/>
              </a:rPr>
              <a:t>0.8780</a:t>
            </a:r>
          </a:p>
        </p:txBody>
      </p:sp>
      <p:sp>
        <p:nvSpPr>
          <p:cNvPr id="26" name="TextBox 25"/>
          <p:cNvSpPr txBox="1"/>
          <p:nvPr/>
        </p:nvSpPr>
        <p:spPr>
          <a:xfrm>
            <a:off x="5397500" y="5194300"/>
            <a:ext cx="1651000" cy="255015"/>
          </a:xfrm>
          <a:prstGeom prst="rect">
            <a:avLst/>
          </a:prstGeom>
          <a:noFill/>
        </p:spPr>
        <p:txBody>
          <a:bodyPr wrap="none" lIns="0" rIns="0" tIns="0" bIns="0" anchor="t">
            <a:spAutoFit/>
          </a:bodyPr>
          <a:lstStyle/>
          <a:p>
            <a:pPr algn="ctr">
              <a:lnSpc>
                <a:spcPts val="1707"/>
              </a:lnSpc>
              <a:spcBef>
                <a:spcPts val="0"/>
              </a:spcBef>
              <a:spcAft>
                <a:spcPts val="0"/>
              </a:spcAft>
            </a:pPr>
            <a:r>
              <a:rPr sz="1400" b="0">
                <a:solidFill>
                  <a:srgbClr val="546966"/>
                </a:solidFill>
                <a:latin typeface="Arial"/>
              </a:rPr>
              <a:t>Baseline</a:t>
            </a:r>
          </a:p>
        </p:txBody>
      </p:sp>
      <p:cxnSp>
        <p:nvCxnSpPr>
          <p:cNvPr id="27" name="Connector 26"/>
          <p:cNvCxnSpPr/>
          <p:nvPr/>
        </p:nvCxnSpPr>
        <p:spPr>
          <a:xfrm flipV="1">
            <a:off x="6223000" y="2438857"/>
            <a:ext cx="2222500" cy="533197"/>
          </a:xfrm>
          <a:prstGeom prst="line">
            <a:avLst/>
          </a:prstGeom>
          <a:ln w="31750">
            <a:solidFill>
              <a:srgbClr val="00796B"/>
            </a:solidFill>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8382000" y="2375357"/>
            <a:ext cx="127000" cy="127000"/>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683500" y="1956257"/>
            <a:ext cx="1524000" cy="363474"/>
          </a:xfrm>
          <a:prstGeom prst="rect">
            <a:avLst/>
          </a:prstGeom>
          <a:noFill/>
        </p:spPr>
        <p:txBody>
          <a:bodyPr wrap="none" lIns="0" rIns="0" tIns="0" bIns="0" anchor="t">
            <a:spAutoFit/>
          </a:bodyPr>
          <a:lstStyle/>
          <a:p>
            <a:pPr algn="ctr">
              <a:lnSpc>
                <a:spcPts val="2562"/>
              </a:lnSpc>
              <a:spcBef>
                <a:spcPts val="0"/>
              </a:spcBef>
              <a:spcAft>
                <a:spcPts val="0"/>
              </a:spcAft>
            </a:pPr>
            <a:r>
              <a:rPr sz="2100" b="1">
                <a:solidFill>
                  <a:srgbClr val="00796B"/>
                </a:solidFill>
                <a:latin typeface="Arial"/>
              </a:rPr>
              <a:t>0.9804</a:t>
            </a:r>
          </a:p>
        </p:txBody>
      </p:sp>
      <p:sp>
        <p:nvSpPr>
          <p:cNvPr id="30" name="TextBox 29"/>
          <p:cNvSpPr txBox="1"/>
          <p:nvPr/>
        </p:nvSpPr>
        <p:spPr>
          <a:xfrm>
            <a:off x="7620000" y="5194300"/>
            <a:ext cx="1651000" cy="255015"/>
          </a:xfrm>
          <a:prstGeom prst="rect">
            <a:avLst/>
          </a:prstGeom>
          <a:noFill/>
        </p:spPr>
        <p:txBody>
          <a:bodyPr wrap="none" lIns="0" rIns="0" tIns="0" bIns="0" anchor="t">
            <a:spAutoFit/>
          </a:bodyPr>
          <a:lstStyle/>
          <a:p>
            <a:pPr algn="ctr">
              <a:lnSpc>
                <a:spcPts val="1707"/>
              </a:lnSpc>
              <a:spcBef>
                <a:spcPts val="0"/>
              </a:spcBef>
              <a:spcAft>
                <a:spcPts val="0"/>
              </a:spcAft>
            </a:pPr>
            <a:r>
              <a:rPr sz="1400" b="0">
                <a:solidFill>
                  <a:srgbClr val="546966"/>
                </a:solidFill>
                <a:latin typeface="Arial"/>
              </a:rPr>
              <a:t>Stage 1</a:t>
            </a:r>
          </a:p>
        </p:txBody>
      </p:sp>
      <p:cxnSp>
        <p:nvCxnSpPr>
          <p:cNvPr id="31" name="Connector 30"/>
          <p:cNvCxnSpPr/>
          <p:nvPr/>
        </p:nvCxnSpPr>
        <p:spPr>
          <a:xfrm flipV="1">
            <a:off x="8445500" y="2404491"/>
            <a:ext cx="2222500" cy="34366"/>
          </a:xfrm>
          <a:prstGeom prst="line">
            <a:avLst/>
          </a:prstGeom>
          <a:ln w="31750">
            <a:solidFill>
              <a:srgbClr val="00796B"/>
            </a:solidFill>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10604500" y="2340991"/>
            <a:ext cx="127000" cy="127000"/>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906000" y="1921891"/>
            <a:ext cx="1524000" cy="363474"/>
          </a:xfrm>
          <a:prstGeom prst="rect">
            <a:avLst/>
          </a:prstGeom>
          <a:noFill/>
        </p:spPr>
        <p:txBody>
          <a:bodyPr wrap="none" lIns="0" rIns="0" tIns="0" bIns="0" anchor="t">
            <a:spAutoFit/>
          </a:bodyPr>
          <a:lstStyle/>
          <a:p>
            <a:pPr algn="ctr">
              <a:lnSpc>
                <a:spcPts val="2562"/>
              </a:lnSpc>
              <a:spcBef>
                <a:spcPts val="0"/>
              </a:spcBef>
              <a:spcAft>
                <a:spcPts val="0"/>
              </a:spcAft>
            </a:pPr>
            <a:r>
              <a:rPr sz="2100" b="1">
                <a:solidFill>
                  <a:srgbClr val="00796B"/>
                </a:solidFill>
                <a:latin typeface="Arial"/>
              </a:rPr>
              <a:t>0.9870</a:t>
            </a:r>
          </a:p>
        </p:txBody>
      </p:sp>
      <p:sp>
        <p:nvSpPr>
          <p:cNvPr id="34" name="TextBox 33"/>
          <p:cNvSpPr txBox="1"/>
          <p:nvPr/>
        </p:nvSpPr>
        <p:spPr>
          <a:xfrm>
            <a:off x="9842500" y="5194300"/>
            <a:ext cx="1651000" cy="255015"/>
          </a:xfrm>
          <a:prstGeom prst="rect">
            <a:avLst/>
          </a:prstGeom>
          <a:noFill/>
        </p:spPr>
        <p:txBody>
          <a:bodyPr wrap="none" lIns="0" rIns="0" tIns="0" bIns="0" anchor="t">
            <a:spAutoFit/>
          </a:bodyPr>
          <a:lstStyle/>
          <a:p>
            <a:pPr algn="ctr">
              <a:lnSpc>
                <a:spcPts val="1707"/>
              </a:lnSpc>
              <a:spcBef>
                <a:spcPts val="0"/>
              </a:spcBef>
              <a:spcAft>
                <a:spcPts val="0"/>
              </a:spcAft>
            </a:pPr>
            <a:r>
              <a:rPr sz="1400" b="0">
                <a:solidFill>
                  <a:srgbClr val="546966"/>
                </a:solidFill>
                <a:latin typeface="Arial"/>
              </a:rPr>
              <a:t>Stage 2</a:t>
            </a:r>
          </a:p>
        </p:txBody>
      </p:sp>
      <p:sp>
        <p:nvSpPr>
          <p:cNvPr id="35" name="Rectangle 34"/>
          <p:cNvSpPr/>
          <p:nvPr/>
        </p:nvSpPr>
        <p:spPr>
          <a:xfrm>
            <a:off x="558800" y="5727700"/>
            <a:ext cx="11074400" cy="571500"/>
          </a:xfrm>
          <a:prstGeom prst="rect">
            <a:avLst/>
          </a:prstGeom>
          <a:solidFill>
            <a:srgbClr val="DF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2000" y="5867400"/>
            <a:ext cx="10668000" cy="301498"/>
          </a:xfrm>
          <a:prstGeom prst="rect">
            <a:avLst/>
          </a:prstGeom>
          <a:noFill/>
        </p:spPr>
        <p:txBody>
          <a:bodyPr wrap="none" lIns="0" rIns="0" tIns="0" bIns="0" anchor="t">
            <a:spAutoFit/>
          </a:bodyPr>
          <a:lstStyle/>
          <a:p>
            <a:pPr algn="l">
              <a:lnSpc>
                <a:spcPts val="2074"/>
              </a:lnSpc>
              <a:spcBef>
                <a:spcPts val="0"/>
              </a:spcBef>
              <a:spcAft>
                <a:spcPts val="0"/>
              </a:spcAft>
            </a:pPr>
            <a:r>
              <a:rPr sz="1700" b="1">
                <a:solidFill>
                  <a:srgbClr val="00796B"/>
                </a:solidFill>
                <a:latin typeface="Arial"/>
              </a:rPr>
              <a:t>Validation AUROC improved from 0.8780 to 0.9870.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600" cy="6858000"/>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58800" y="304800"/>
            <a:ext cx="10160000" cy="193040"/>
          </a:xfrm>
          <a:prstGeom prst="rect">
            <a:avLst/>
          </a:prstGeom>
          <a:noFill/>
        </p:spPr>
        <p:txBody>
          <a:bodyPr wrap="none" lIns="0" rIns="0" tIns="0" bIns="0" anchor="t">
            <a:spAutoFit/>
          </a:bodyPr>
          <a:lstStyle/>
          <a:p>
            <a:pPr algn="l">
              <a:lnSpc>
                <a:spcPts val="1220"/>
              </a:lnSpc>
              <a:spcBef>
                <a:spcPts val="0"/>
              </a:spcBef>
              <a:spcAft>
                <a:spcPts val="0"/>
              </a:spcAft>
            </a:pPr>
            <a:r>
              <a:rPr sz="1000" b="1">
                <a:solidFill>
                  <a:srgbClr val="00796B"/>
                </a:solidFill>
                <a:latin typeface="Arial"/>
              </a:rPr>
              <a:t>STAGE 5 / SAME-IMAGE EVALUATION</a:t>
            </a:r>
          </a:p>
        </p:txBody>
      </p:sp>
      <p:sp>
        <p:nvSpPr>
          <p:cNvPr id="5" name="TextBox 4"/>
          <p:cNvSpPr txBox="1"/>
          <p:nvPr/>
        </p:nvSpPr>
        <p:spPr>
          <a:xfrm>
            <a:off x="10947400" y="304800"/>
            <a:ext cx="736600" cy="193040"/>
          </a:xfrm>
          <a:prstGeom prst="rect">
            <a:avLst/>
          </a:prstGeom>
          <a:noFill/>
        </p:spPr>
        <p:txBody>
          <a:bodyPr wrap="none" lIns="0" rIns="0" tIns="0" bIns="0" anchor="t">
            <a:spAutoFit/>
          </a:bodyPr>
          <a:lstStyle/>
          <a:p>
            <a:pPr algn="l">
              <a:lnSpc>
                <a:spcPts val="1220"/>
              </a:lnSpc>
              <a:spcBef>
                <a:spcPts val="0"/>
              </a:spcBef>
              <a:spcAft>
                <a:spcPts val="0"/>
              </a:spcAft>
            </a:pPr>
            <a:r>
              <a:rPr sz="1000" b="0">
                <a:solidFill>
                  <a:srgbClr val="546966"/>
                </a:solidFill>
                <a:latin typeface="Arial"/>
              </a:rPr>
              <a:t>11 / 15</a:t>
            </a:r>
          </a:p>
        </p:txBody>
      </p:sp>
      <p:sp>
        <p:nvSpPr>
          <p:cNvPr id="6" name="TextBox 5"/>
          <p:cNvSpPr txBox="1"/>
          <p:nvPr/>
        </p:nvSpPr>
        <p:spPr>
          <a:xfrm>
            <a:off x="558800" y="762000"/>
            <a:ext cx="11074400" cy="502920"/>
          </a:xfrm>
          <a:prstGeom prst="rect">
            <a:avLst/>
          </a:prstGeom>
          <a:noFill/>
        </p:spPr>
        <p:txBody>
          <a:bodyPr wrap="none" lIns="0" rIns="0" tIns="0" bIns="0" anchor="t">
            <a:spAutoFit/>
          </a:bodyPr>
          <a:lstStyle/>
          <a:p>
            <a:pPr algn="l">
              <a:lnSpc>
                <a:spcPts val="3660"/>
              </a:lnSpc>
              <a:spcBef>
                <a:spcPts val="0"/>
              </a:spcBef>
              <a:spcAft>
                <a:spcPts val="0"/>
              </a:spcAft>
            </a:pPr>
            <a:r>
              <a:rPr sz="3000" b="1">
                <a:solidFill>
                  <a:srgbClr val="172C2B"/>
                </a:solidFill>
                <a:latin typeface="Arial"/>
              </a:rPr>
              <a:t>Fine-tuned CF became the strongest detector</a:t>
            </a:r>
          </a:p>
        </p:txBody>
      </p:sp>
      <p:sp>
        <p:nvSpPr>
          <p:cNvPr id="7" name="TextBox 6"/>
          <p:cNvSpPr txBox="1"/>
          <p:nvPr/>
        </p:nvSpPr>
        <p:spPr>
          <a:xfrm>
            <a:off x="584200" y="1409700"/>
            <a:ext cx="11049000" cy="255015"/>
          </a:xfrm>
          <a:prstGeom prst="rect">
            <a:avLst/>
          </a:prstGeom>
          <a:noFill/>
        </p:spPr>
        <p:txBody>
          <a:bodyPr wrap="none" lIns="0" rIns="0" tIns="0" bIns="0" anchor="t">
            <a:spAutoFit/>
          </a:bodyPr>
          <a:lstStyle/>
          <a:p>
            <a:pPr algn="l">
              <a:lnSpc>
                <a:spcPts val="1707"/>
              </a:lnSpc>
              <a:spcBef>
                <a:spcPts val="0"/>
              </a:spcBef>
              <a:spcAft>
                <a:spcPts val="0"/>
              </a:spcAft>
            </a:pPr>
            <a:r>
              <a:rPr sz="1400" b="0">
                <a:solidFill>
                  <a:srgbClr val="546966"/>
                </a:solidFill>
                <a:latin typeface="Arial"/>
              </a:rPr>
              <a:t>Dataset v1 final evaluation. AUROC is ranking performance, not percentage accuracy.</a:t>
            </a:r>
          </a:p>
        </p:txBody>
      </p:sp>
      <p:cxnSp>
        <p:nvCxnSpPr>
          <p:cNvPr id="8" name="Connector 7"/>
          <p:cNvCxnSpPr/>
          <p:nvPr/>
        </p:nvCxnSpPr>
        <p:spPr>
          <a:xfrm>
            <a:off x="558800" y="6375400"/>
            <a:ext cx="11074400" cy="0"/>
          </a:xfrm>
          <a:prstGeom prst="line">
            <a:avLst/>
          </a:prstGeom>
          <a:ln w="12700">
            <a:solidFill>
              <a:srgbClr val="DCE5E2"/>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58800" y="6540500"/>
            <a:ext cx="5080000" cy="169799"/>
          </a:xfrm>
          <a:prstGeom prst="rect">
            <a:avLst/>
          </a:prstGeom>
          <a:noFill/>
        </p:spPr>
        <p:txBody>
          <a:bodyPr wrap="none" lIns="0" rIns="0" tIns="0" bIns="0" anchor="t">
            <a:spAutoFit/>
          </a:bodyPr>
          <a:lstStyle/>
          <a:p>
            <a:pPr algn="l">
              <a:lnSpc>
                <a:spcPts val="1037"/>
              </a:lnSpc>
              <a:spcBef>
                <a:spcPts val="0"/>
              </a:spcBef>
              <a:spcAft>
                <a:spcPts val="0"/>
              </a:spcAft>
            </a:pPr>
            <a:r>
              <a:rPr sz="850" b="0">
                <a:solidFill>
                  <a:srgbClr val="546966"/>
                </a:solidFill>
                <a:latin typeface="Arial"/>
              </a:rPr>
              <a:t>AI SHIELD / ABDELRAHMAN SOLIMAN</a:t>
            </a:r>
          </a:p>
        </p:txBody>
      </p:sp>
      <p:sp>
        <p:nvSpPr>
          <p:cNvPr id="10" name="TextBox 9"/>
          <p:cNvSpPr txBox="1"/>
          <p:nvPr/>
        </p:nvSpPr>
        <p:spPr>
          <a:xfrm>
            <a:off x="7175500" y="6540500"/>
            <a:ext cx="1460500" cy="169799"/>
          </a:xfrm>
          <a:prstGeom prst="rect">
            <a:avLst/>
          </a:prstGeom>
          <a:noFill/>
        </p:spPr>
        <p:txBody>
          <a:bodyPr wrap="none" lIns="0" rIns="0" tIns="0" bIns="0" anchor="t">
            <a:spAutoFit/>
          </a:bodyPr>
          <a:lstStyle/>
          <a:p>
            <a:pPr algn="l">
              <a:lnSpc>
                <a:spcPts val="1037"/>
              </a:lnSpc>
              <a:spcBef>
                <a:spcPts val="0"/>
              </a:spcBef>
              <a:spcAft>
                <a:spcPts val="0"/>
              </a:spcAft>
            </a:pPr>
            <a:r>
              <a:rPr sz="850" b="0">
                <a:solidFill>
                  <a:srgbClr val="546966"/>
                </a:solidFill>
                <a:latin typeface="Arial"/>
                <a:hlinkClick r:id="rId2"/>
              </a:rPr>
              <a:t>Results</a:t>
            </a:r>
          </a:p>
        </p:txBody>
      </p:sp>
      <p:sp>
        <p:nvSpPr>
          <p:cNvPr id="11" name="TextBox 10"/>
          <p:cNvSpPr txBox="1"/>
          <p:nvPr/>
        </p:nvSpPr>
        <p:spPr>
          <a:xfrm>
            <a:off x="8648700" y="6540500"/>
            <a:ext cx="1460500" cy="169799"/>
          </a:xfrm>
          <a:prstGeom prst="rect">
            <a:avLst/>
          </a:prstGeom>
          <a:noFill/>
        </p:spPr>
        <p:txBody>
          <a:bodyPr wrap="none" lIns="0" rIns="0" tIns="0" bIns="0" anchor="t">
            <a:spAutoFit/>
          </a:bodyPr>
          <a:lstStyle/>
          <a:p>
            <a:pPr algn="l">
              <a:lnSpc>
                <a:spcPts val="1037"/>
              </a:lnSpc>
              <a:spcBef>
                <a:spcPts val="0"/>
              </a:spcBef>
              <a:spcAft>
                <a:spcPts val="0"/>
              </a:spcAft>
            </a:pPr>
            <a:r>
              <a:rPr sz="850" b="0">
                <a:solidFill>
                  <a:srgbClr val="546966"/>
                </a:solidFill>
                <a:latin typeface="Arial"/>
                <a:hlinkClick r:id="rId3"/>
              </a:rPr>
              <a:t>Training notebook</a:t>
            </a:r>
          </a:p>
        </p:txBody>
      </p:sp>
      <p:sp>
        <p:nvSpPr>
          <p:cNvPr id="12" name="TextBox 11"/>
          <p:cNvSpPr txBox="1"/>
          <p:nvPr/>
        </p:nvSpPr>
        <p:spPr>
          <a:xfrm>
            <a:off x="10121900" y="6540500"/>
            <a:ext cx="1460500" cy="169799"/>
          </a:xfrm>
          <a:prstGeom prst="rect">
            <a:avLst/>
          </a:prstGeom>
          <a:noFill/>
        </p:spPr>
        <p:txBody>
          <a:bodyPr wrap="none" lIns="0" rIns="0" tIns="0" bIns="0" anchor="t">
            <a:spAutoFit/>
          </a:bodyPr>
          <a:lstStyle/>
          <a:p>
            <a:pPr algn="l">
              <a:lnSpc>
                <a:spcPts val="1037"/>
              </a:lnSpc>
              <a:spcBef>
                <a:spcPts val="0"/>
              </a:spcBef>
              <a:spcAft>
                <a:spcPts val="0"/>
              </a:spcAft>
            </a:pPr>
            <a:r>
              <a:rPr sz="850" b="0">
                <a:solidFill>
                  <a:srgbClr val="546966"/>
                </a:solidFill>
                <a:latin typeface="Arial"/>
                <a:hlinkClick r:id="rId4"/>
              </a:rPr>
              <a:t>Comparison</a:t>
            </a:r>
          </a:p>
        </p:txBody>
      </p:sp>
      <p:sp>
        <p:nvSpPr>
          <p:cNvPr id="13" name="TextBox 12"/>
          <p:cNvSpPr txBox="1"/>
          <p:nvPr/>
        </p:nvSpPr>
        <p:spPr>
          <a:xfrm>
            <a:off x="558800" y="2120900"/>
            <a:ext cx="3556000" cy="224028"/>
          </a:xfrm>
          <a:prstGeom prst="rect">
            <a:avLst/>
          </a:prstGeom>
          <a:noFill/>
        </p:spPr>
        <p:txBody>
          <a:bodyPr wrap="none" lIns="0" rIns="0" tIns="0" bIns="0" anchor="t">
            <a:spAutoFit/>
          </a:bodyPr>
          <a:lstStyle/>
          <a:p>
            <a:pPr algn="l">
              <a:lnSpc>
                <a:spcPts val="1464"/>
              </a:lnSpc>
              <a:spcBef>
                <a:spcPts val="0"/>
              </a:spcBef>
              <a:spcAft>
                <a:spcPts val="0"/>
              </a:spcAft>
            </a:pPr>
            <a:r>
              <a:rPr sz="1200" b="1">
                <a:solidFill>
                  <a:srgbClr val="546966"/>
                </a:solidFill>
                <a:latin typeface="Arial"/>
              </a:rPr>
              <a:t>MODEL</a:t>
            </a:r>
          </a:p>
        </p:txBody>
      </p:sp>
      <p:sp>
        <p:nvSpPr>
          <p:cNvPr id="14" name="TextBox 13"/>
          <p:cNvSpPr txBox="1"/>
          <p:nvPr/>
        </p:nvSpPr>
        <p:spPr>
          <a:xfrm>
            <a:off x="4635500" y="2120900"/>
            <a:ext cx="3238500" cy="224028"/>
          </a:xfrm>
          <a:prstGeom prst="rect">
            <a:avLst/>
          </a:prstGeom>
          <a:noFill/>
        </p:spPr>
        <p:txBody>
          <a:bodyPr wrap="none" lIns="0" rIns="0" tIns="0" bIns="0" anchor="t">
            <a:spAutoFit/>
          </a:bodyPr>
          <a:lstStyle/>
          <a:p>
            <a:pPr algn="l">
              <a:lnSpc>
                <a:spcPts val="1464"/>
              </a:lnSpc>
              <a:spcBef>
                <a:spcPts val="0"/>
              </a:spcBef>
              <a:spcAft>
                <a:spcPts val="0"/>
              </a:spcAft>
            </a:pPr>
            <a:r>
              <a:rPr sz="1200" b="1">
                <a:solidFill>
                  <a:srgbClr val="546966"/>
                </a:solidFill>
                <a:latin typeface="Arial"/>
              </a:rPr>
              <a:t>ORDINARY TEST AUROC</a:t>
            </a:r>
          </a:p>
        </p:txBody>
      </p:sp>
      <p:sp>
        <p:nvSpPr>
          <p:cNvPr id="15" name="TextBox 14"/>
          <p:cNvSpPr txBox="1"/>
          <p:nvPr/>
        </p:nvSpPr>
        <p:spPr>
          <a:xfrm>
            <a:off x="8369300" y="2120900"/>
            <a:ext cx="3238500" cy="224028"/>
          </a:xfrm>
          <a:prstGeom prst="rect">
            <a:avLst/>
          </a:prstGeom>
          <a:noFill/>
        </p:spPr>
        <p:txBody>
          <a:bodyPr wrap="none" lIns="0" rIns="0" tIns="0" bIns="0" anchor="t">
            <a:spAutoFit/>
          </a:bodyPr>
          <a:lstStyle/>
          <a:p>
            <a:pPr algn="l">
              <a:lnSpc>
                <a:spcPts val="1464"/>
              </a:lnSpc>
              <a:spcBef>
                <a:spcPts val="0"/>
              </a:spcBef>
              <a:spcAft>
                <a:spcPts val="0"/>
              </a:spcAft>
            </a:pPr>
            <a:r>
              <a:rPr sz="1200" b="1">
                <a:solidFill>
                  <a:srgbClr val="546966"/>
                </a:solidFill>
                <a:latin typeface="Arial"/>
              </a:rPr>
              <a:t>GPT IMAGE 2 AUROC</a:t>
            </a:r>
          </a:p>
        </p:txBody>
      </p:sp>
      <p:sp>
        <p:nvSpPr>
          <p:cNvPr id="16" name="TextBox 15"/>
          <p:cNvSpPr txBox="1"/>
          <p:nvPr/>
        </p:nvSpPr>
        <p:spPr>
          <a:xfrm>
            <a:off x="711200" y="2667000"/>
            <a:ext cx="3619500" cy="316992"/>
          </a:xfrm>
          <a:prstGeom prst="rect">
            <a:avLst/>
          </a:prstGeom>
          <a:noFill/>
        </p:spPr>
        <p:txBody>
          <a:bodyPr wrap="none" lIns="0" rIns="0" tIns="0" bIns="0" anchor="t">
            <a:spAutoFit/>
          </a:bodyPr>
          <a:lstStyle/>
          <a:p>
            <a:pPr algn="l">
              <a:lnSpc>
                <a:spcPts val="2196"/>
              </a:lnSpc>
              <a:spcBef>
                <a:spcPts val="0"/>
              </a:spcBef>
              <a:spcAft>
                <a:spcPts val="0"/>
              </a:spcAft>
            </a:pPr>
            <a:r>
              <a:rPr sz="1800" b="1">
                <a:solidFill>
                  <a:srgbClr val="C84760"/>
                </a:solidFill>
                <a:latin typeface="Arial"/>
              </a:rPr>
              <a:t>Old AI Shield fusion</a:t>
            </a:r>
          </a:p>
        </p:txBody>
      </p:sp>
      <p:sp>
        <p:nvSpPr>
          <p:cNvPr id="17" name="Rectangle 16"/>
          <p:cNvSpPr/>
          <p:nvPr/>
        </p:nvSpPr>
        <p:spPr>
          <a:xfrm>
            <a:off x="4660900" y="2768600"/>
            <a:ext cx="1943100" cy="190500"/>
          </a:xfrm>
          <a:prstGeom prst="rect">
            <a:avLst/>
          </a:prstGeom>
          <a:solidFill>
            <a:srgbClr val="DCE5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660900" y="2768600"/>
            <a:ext cx="1177518" cy="190500"/>
          </a:xfrm>
          <a:prstGeom prst="rect">
            <a:avLst/>
          </a:prstGeom>
          <a:solidFill>
            <a:srgbClr val="C847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69100" y="2654300"/>
            <a:ext cx="1143000" cy="332486"/>
          </a:xfrm>
          <a:prstGeom prst="rect">
            <a:avLst/>
          </a:prstGeom>
          <a:noFill/>
        </p:spPr>
        <p:txBody>
          <a:bodyPr wrap="none" lIns="0" rIns="0" tIns="0" bIns="0" anchor="t">
            <a:spAutoFit/>
          </a:bodyPr>
          <a:lstStyle/>
          <a:p>
            <a:pPr algn="l">
              <a:lnSpc>
                <a:spcPts val="2318"/>
              </a:lnSpc>
              <a:spcBef>
                <a:spcPts val="0"/>
              </a:spcBef>
              <a:spcAft>
                <a:spcPts val="0"/>
              </a:spcAft>
            </a:pPr>
            <a:r>
              <a:rPr sz="1900" b="1">
                <a:solidFill>
                  <a:srgbClr val="C84760"/>
                </a:solidFill>
                <a:latin typeface="Arial"/>
              </a:rPr>
              <a:t>0.6060</a:t>
            </a:r>
          </a:p>
        </p:txBody>
      </p:sp>
      <p:sp>
        <p:nvSpPr>
          <p:cNvPr id="20" name="Rectangle 19"/>
          <p:cNvSpPr/>
          <p:nvPr/>
        </p:nvSpPr>
        <p:spPr>
          <a:xfrm>
            <a:off x="8407400" y="2768600"/>
            <a:ext cx="1943100" cy="190500"/>
          </a:xfrm>
          <a:prstGeom prst="rect">
            <a:avLst/>
          </a:prstGeom>
          <a:solidFill>
            <a:srgbClr val="DCE5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407400" y="2768600"/>
            <a:ext cx="1163916" cy="190500"/>
          </a:xfrm>
          <a:prstGeom prst="rect">
            <a:avLst/>
          </a:prstGeom>
          <a:solidFill>
            <a:srgbClr val="C847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0" y="2654300"/>
            <a:ext cx="1143000" cy="332486"/>
          </a:xfrm>
          <a:prstGeom prst="rect">
            <a:avLst/>
          </a:prstGeom>
          <a:noFill/>
        </p:spPr>
        <p:txBody>
          <a:bodyPr wrap="none" lIns="0" rIns="0" tIns="0" bIns="0" anchor="t">
            <a:spAutoFit/>
          </a:bodyPr>
          <a:lstStyle/>
          <a:p>
            <a:pPr algn="l">
              <a:lnSpc>
                <a:spcPts val="2318"/>
              </a:lnSpc>
              <a:spcBef>
                <a:spcPts val="0"/>
              </a:spcBef>
              <a:spcAft>
                <a:spcPts val="0"/>
              </a:spcAft>
            </a:pPr>
            <a:r>
              <a:rPr sz="1900" b="1">
                <a:solidFill>
                  <a:srgbClr val="C84760"/>
                </a:solidFill>
                <a:latin typeface="Arial"/>
              </a:rPr>
              <a:t>0.5990</a:t>
            </a:r>
          </a:p>
        </p:txBody>
      </p:sp>
      <p:sp>
        <p:nvSpPr>
          <p:cNvPr id="23" name="TextBox 22"/>
          <p:cNvSpPr txBox="1"/>
          <p:nvPr/>
        </p:nvSpPr>
        <p:spPr>
          <a:xfrm>
            <a:off x="711200" y="3530600"/>
            <a:ext cx="3619500" cy="316992"/>
          </a:xfrm>
          <a:prstGeom prst="rect">
            <a:avLst/>
          </a:prstGeom>
          <a:noFill/>
        </p:spPr>
        <p:txBody>
          <a:bodyPr wrap="none" lIns="0" rIns="0" tIns="0" bIns="0" anchor="t">
            <a:spAutoFit/>
          </a:bodyPr>
          <a:lstStyle/>
          <a:p>
            <a:pPr algn="l">
              <a:lnSpc>
                <a:spcPts val="2196"/>
              </a:lnSpc>
              <a:spcBef>
                <a:spcPts val="0"/>
              </a:spcBef>
              <a:spcAft>
                <a:spcPts val="0"/>
              </a:spcAft>
            </a:pPr>
            <a:r>
              <a:rPr sz="1800" b="1">
                <a:solidFill>
                  <a:srgbClr val="B77B00"/>
                </a:solidFill>
                <a:latin typeface="Arial"/>
              </a:rPr>
              <a:t>Original CF</a:t>
            </a:r>
          </a:p>
        </p:txBody>
      </p:sp>
      <p:sp>
        <p:nvSpPr>
          <p:cNvPr id="24" name="Rectangle 23"/>
          <p:cNvSpPr/>
          <p:nvPr/>
        </p:nvSpPr>
        <p:spPr>
          <a:xfrm>
            <a:off x="4660900" y="3632200"/>
            <a:ext cx="1943100" cy="190500"/>
          </a:xfrm>
          <a:prstGeom prst="rect">
            <a:avLst/>
          </a:prstGeom>
          <a:solidFill>
            <a:srgbClr val="DCE5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660900" y="3632200"/>
            <a:ext cx="1721586" cy="190500"/>
          </a:xfrm>
          <a:prstGeom prst="rect">
            <a:avLst/>
          </a:prstGeom>
          <a:solidFill>
            <a:srgbClr val="B7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69100" y="3517900"/>
            <a:ext cx="1143000" cy="332486"/>
          </a:xfrm>
          <a:prstGeom prst="rect">
            <a:avLst/>
          </a:prstGeom>
          <a:noFill/>
        </p:spPr>
        <p:txBody>
          <a:bodyPr wrap="none" lIns="0" rIns="0" tIns="0" bIns="0" anchor="t">
            <a:spAutoFit/>
          </a:bodyPr>
          <a:lstStyle/>
          <a:p>
            <a:pPr algn="l">
              <a:lnSpc>
                <a:spcPts val="2318"/>
              </a:lnSpc>
              <a:spcBef>
                <a:spcPts val="0"/>
              </a:spcBef>
              <a:spcAft>
                <a:spcPts val="0"/>
              </a:spcAft>
            </a:pPr>
            <a:r>
              <a:rPr sz="1900" b="1">
                <a:solidFill>
                  <a:srgbClr val="B77B00"/>
                </a:solidFill>
                <a:latin typeface="Arial"/>
              </a:rPr>
              <a:t>0.8860</a:t>
            </a:r>
          </a:p>
        </p:txBody>
      </p:sp>
      <p:sp>
        <p:nvSpPr>
          <p:cNvPr id="27" name="Rectangle 26"/>
          <p:cNvSpPr/>
          <p:nvPr/>
        </p:nvSpPr>
        <p:spPr>
          <a:xfrm>
            <a:off x="8407400" y="3632200"/>
            <a:ext cx="1943100" cy="190500"/>
          </a:xfrm>
          <a:prstGeom prst="rect">
            <a:avLst/>
          </a:prstGeom>
          <a:solidFill>
            <a:srgbClr val="DCE5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407400" y="3632200"/>
            <a:ext cx="1856632" cy="190500"/>
          </a:xfrm>
          <a:prstGeom prst="rect">
            <a:avLst/>
          </a:prstGeom>
          <a:solidFill>
            <a:srgbClr val="B7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0" y="3517900"/>
            <a:ext cx="1143000" cy="332486"/>
          </a:xfrm>
          <a:prstGeom prst="rect">
            <a:avLst/>
          </a:prstGeom>
          <a:noFill/>
        </p:spPr>
        <p:txBody>
          <a:bodyPr wrap="none" lIns="0" rIns="0" tIns="0" bIns="0" anchor="t">
            <a:spAutoFit/>
          </a:bodyPr>
          <a:lstStyle/>
          <a:p>
            <a:pPr algn="l">
              <a:lnSpc>
                <a:spcPts val="2318"/>
              </a:lnSpc>
              <a:spcBef>
                <a:spcPts val="0"/>
              </a:spcBef>
              <a:spcAft>
                <a:spcPts val="0"/>
              </a:spcAft>
            </a:pPr>
            <a:r>
              <a:rPr sz="1900" b="1">
                <a:solidFill>
                  <a:srgbClr val="B77B00"/>
                </a:solidFill>
                <a:latin typeface="Arial"/>
              </a:rPr>
              <a:t>0.9555</a:t>
            </a:r>
          </a:p>
        </p:txBody>
      </p:sp>
      <p:sp>
        <p:nvSpPr>
          <p:cNvPr id="30" name="Rectangle 29"/>
          <p:cNvSpPr/>
          <p:nvPr/>
        </p:nvSpPr>
        <p:spPr>
          <a:xfrm>
            <a:off x="558800" y="4229100"/>
            <a:ext cx="11074400" cy="723900"/>
          </a:xfrm>
          <a:prstGeom prst="rect">
            <a:avLst/>
          </a:prstGeom>
          <a:solidFill>
            <a:srgbClr val="DF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11200" y="4394200"/>
            <a:ext cx="3619500" cy="316992"/>
          </a:xfrm>
          <a:prstGeom prst="rect">
            <a:avLst/>
          </a:prstGeom>
          <a:noFill/>
        </p:spPr>
        <p:txBody>
          <a:bodyPr wrap="none" lIns="0" rIns="0" tIns="0" bIns="0" anchor="t">
            <a:spAutoFit/>
          </a:bodyPr>
          <a:lstStyle/>
          <a:p>
            <a:pPr algn="l">
              <a:lnSpc>
                <a:spcPts val="2196"/>
              </a:lnSpc>
              <a:spcBef>
                <a:spcPts val="0"/>
              </a:spcBef>
              <a:spcAft>
                <a:spcPts val="0"/>
              </a:spcAft>
            </a:pPr>
            <a:r>
              <a:rPr sz="1800" b="1">
                <a:solidFill>
                  <a:srgbClr val="00796B"/>
                </a:solidFill>
                <a:latin typeface="Arial"/>
              </a:rPr>
              <a:t>Fine-tuned CF</a:t>
            </a:r>
          </a:p>
        </p:txBody>
      </p:sp>
      <p:sp>
        <p:nvSpPr>
          <p:cNvPr id="32" name="Rectangle 31"/>
          <p:cNvSpPr/>
          <p:nvPr/>
        </p:nvSpPr>
        <p:spPr>
          <a:xfrm>
            <a:off x="4660900" y="4495800"/>
            <a:ext cx="1943100" cy="190500"/>
          </a:xfrm>
          <a:prstGeom prst="rect">
            <a:avLst/>
          </a:prstGeom>
          <a:solidFill>
            <a:srgbClr val="DCE5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660900" y="4495800"/>
            <a:ext cx="1920560" cy="190500"/>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9100" y="4381500"/>
            <a:ext cx="1143000" cy="332486"/>
          </a:xfrm>
          <a:prstGeom prst="rect">
            <a:avLst/>
          </a:prstGeom>
          <a:noFill/>
        </p:spPr>
        <p:txBody>
          <a:bodyPr wrap="none" lIns="0" rIns="0" tIns="0" bIns="0" anchor="t">
            <a:spAutoFit/>
          </a:bodyPr>
          <a:lstStyle/>
          <a:p>
            <a:pPr algn="l">
              <a:lnSpc>
                <a:spcPts val="2318"/>
              </a:lnSpc>
              <a:spcBef>
                <a:spcPts val="0"/>
              </a:spcBef>
              <a:spcAft>
                <a:spcPts val="0"/>
              </a:spcAft>
            </a:pPr>
            <a:r>
              <a:rPr sz="1900" b="1">
                <a:solidFill>
                  <a:srgbClr val="00796B"/>
                </a:solidFill>
                <a:latin typeface="Arial"/>
              </a:rPr>
              <a:t>0.9884</a:t>
            </a:r>
          </a:p>
        </p:txBody>
      </p:sp>
      <p:sp>
        <p:nvSpPr>
          <p:cNvPr id="35" name="Rectangle 34"/>
          <p:cNvSpPr/>
          <p:nvPr/>
        </p:nvSpPr>
        <p:spPr>
          <a:xfrm>
            <a:off x="8407400" y="4495800"/>
            <a:ext cx="1943100" cy="190500"/>
          </a:xfrm>
          <a:prstGeom prst="rect">
            <a:avLst/>
          </a:prstGeom>
          <a:solidFill>
            <a:srgbClr val="DCE5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407400" y="4495800"/>
            <a:ext cx="1932607" cy="190500"/>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515600" y="4381500"/>
            <a:ext cx="1143000" cy="332486"/>
          </a:xfrm>
          <a:prstGeom prst="rect">
            <a:avLst/>
          </a:prstGeom>
          <a:noFill/>
        </p:spPr>
        <p:txBody>
          <a:bodyPr wrap="none" lIns="0" rIns="0" tIns="0" bIns="0" anchor="t">
            <a:spAutoFit/>
          </a:bodyPr>
          <a:lstStyle/>
          <a:p>
            <a:pPr algn="l">
              <a:lnSpc>
                <a:spcPts val="2318"/>
              </a:lnSpc>
              <a:spcBef>
                <a:spcPts val="0"/>
              </a:spcBef>
              <a:spcAft>
                <a:spcPts val="0"/>
              </a:spcAft>
            </a:pPr>
            <a:r>
              <a:rPr sz="1900" b="1">
                <a:solidFill>
                  <a:srgbClr val="00796B"/>
                </a:solidFill>
                <a:latin typeface="Arial"/>
              </a:rPr>
              <a:t>0.9946</a:t>
            </a:r>
          </a:p>
        </p:txBody>
      </p:sp>
      <p:sp>
        <p:nvSpPr>
          <p:cNvPr id="38" name="TextBox 37"/>
          <p:cNvSpPr txBox="1"/>
          <p:nvPr/>
        </p:nvSpPr>
        <p:spPr>
          <a:xfrm>
            <a:off x="596900" y="5080000"/>
            <a:ext cx="10960100" cy="286004"/>
          </a:xfrm>
          <a:prstGeom prst="rect">
            <a:avLst/>
          </a:prstGeom>
          <a:noFill/>
        </p:spPr>
        <p:txBody>
          <a:bodyPr wrap="none" lIns="0" rIns="0" tIns="0" bIns="0" anchor="t">
            <a:spAutoFit/>
          </a:bodyPr>
          <a:lstStyle/>
          <a:p>
            <a:pPr algn="l">
              <a:lnSpc>
                <a:spcPts val="1952"/>
              </a:lnSpc>
              <a:spcBef>
                <a:spcPts val="0"/>
              </a:spcBef>
              <a:spcAft>
                <a:spcPts val="0"/>
              </a:spcAft>
            </a:pPr>
            <a:r>
              <a:rPr sz="1600" b="0">
                <a:solidFill>
                  <a:srgbClr val="546966"/>
                </a:solidFill>
                <a:latin typeface="Arial"/>
              </a:rPr>
              <a:t>Fine-tuned accuracy: 95.16% ordinary test | 96.60% held-out-generator test.</a:t>
            </a:r>
          </a:p>
        </p:txBody>
      </p:sp>
      <p:sp>
        <p:nvSpPr>
          <p:cNvPr id="39" name="Rectangle 38"/>
          <p:cNvSpPr/>
          <p:nvPr/>
        </p:nvSpPr>
        <p:spPr>
          <a:xfrm>
            <a:off x="558800" y="5499100"/>
            <a:ext cx="11074400" cy="774700"/>
          </a:xfrm>
          <a:prstGeom prst="rect">
            <a:avLst/>
          </a:prstGeom>
          <a:solidFill>
            <a:srgbClr val="DF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62000" y="5626100"/>
            <a:ext cx="10668000" cy="301498"/>
          </a:xfrm>
          <a:prstGeom prst="rect">
            <a:avLst/>
          </a:prstGeom>
          <a:noFill/>
        </p:spPr>
        <p:txBody>
          <a:bodyPr wrap="none" lIns="0" rIns="0" tIns="0" bIns="0" anchor="t">
            <a:spAutoFit/>
          </a:bodyPr>
          <a:lstStyle/>
          <a:p>
            <a:pPr algn="l">
              <a:lnSpc>
                <a:spcPts val="2074"/>
              </a:lnSpc>
              <a:spcBef>
                <a:spcPts val="0"/>
              </a:spcBef>
              <a:spcAft>
                <a:spcPts val="0"/>
              </a:spcAft>
            </a:pPr>
            <a:r>
              <a:rPr sz="1700" b="1">
                <a:solidFill>
                  <a:srgbClr val="00796B"/>
                </a:solidFill>
                <a:latin typeface="Arial"/>
              </a:rPr>
              <a:t>Real-image false alarms: 20.63% -&gt; 3.75% on the ordinary test.</a:t>
            </a:r>
          </a:p>
        </p:txBody>
      </p:sp>
      <p:sp>
        <p:nvSpPr>
          <p:cNvPr id="41" name="TextBox 40"/>
          <p:cNvSpPr txBox="1"/>
          <p:nvPr/>
        </p:nvSpPr>
        <p:spPr>
          <a:xfrm>
            <a:off x="762000" y="6057900"/>
            <a:ext cx="10668000" cy="177546"/>
          </a:xfrm>
          <a:prstGeom prst="rect">
            <a:avLst/>
          </a:prstGeom>
          <a:noFill/>
        </p:spPr>
        <p:txBody>
          <a:bodyPr wrap="none" lIns="0" rIns="0" tIns="0" bIns="0" anchor="t">
            <a:spAutoFit/>
          </a:bodyPr>
          <a:lstStyle/>
          <a:p>
            <a:pPr algn="l">
              <a:lnSpc>
                <a:spcPts val="1098"/>
              </a:lnSpc>
              <a:spcBef>
                <a:spcPts val="0"/>
              </a:spcBef>
              <a:spcAft>
                <a:spcPts val="0"/>
              </a:spcAft>
            </a:pPr>
            <a:r>
              <a:rPr sz="900" b="0">
                <a:solidFill>
                  <a:srgbClr val="546966"/>
                </a:solidFill>
                <a:latin typeface="Arial"/>
              </a:rPr>
              <a:t>Each CF model uses its validation-selected max-F1 cutoff; bar scales run from 0 to 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600" cy="6858000"/>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58800" y="304800"/>
            <a:ext cx="10160000" cy="193040"/>
          </a:xfrm>
          <a:prstGeom prst="rect">
            <a:avLst/>
          </a:prstGeom>
          <a:noFill/>
        </p:spPr>
        <p:txBody>
          <a:bodyPr wrap="none" lIns="0" rIns="0" tIns="0" bIns="0" anchor="t">
            <a:spAutoFit/>
          </a:bodyPr>
          <a:lstStyle/>
          <a:p>
            <a:pPr algn="l">
              <a:lnSpc>
                <a:spcPts val="1220"/>
              </a:lnSpc>
              <a:spcBef>
                <a:spcPts val="0"/>
              </a:spcBef>
              <a:spcAft>
                <a:spcPts val="0"/>
              </a:spcAft>
            </a:pPr>
            <a:r>
              <a:rPr sz="1000" b="1">
                <a:solidFill>
                  <a:srgbClr val="00796B"/>
                </a:solidFill>
                <a:latin typeface="Arial"/>
              </a:rPr>
              <a:t>STAGE 5 / TEST THE ADDED COMPLEXITY</a:t>
            </a:r>
          </a:p>
        </p:txBody>
      </p:sp>
      <p:sp>
        <p:nvSpPr>
          <p:cNvPr id="5" name="TextBox 4"/>
          <p:cNvSpPr txBox="1"/>
          <p:nvPr/>
        </p:nvSpPr>
        <p:spPr>
          <a:xfrm>
            <a:off x="10947400" y="304800"/>
            <a:ext cx="736600" cy="193040"/>
          </a:xfrm>
          <a:prstGeom prst="rect">
            <a:avLst/>
          </a:prstGeom>
          <a:noFill/>
        </p:spPr>
        <p:txBody>
          <a:bodyPr wrap="none" lIns="0" rIns="0" tIns="0" bIns="0" anchor="t">
            <a:spAutoFit/>
          </a:bodyPr>
          <a:lstStyle/>
          <a:p>
            <a:pPr algn="l">
              <a:lnSpc>
                <a:spcPts val="1220"/>
              </a:lnSpc>
              <a:spcBef>
                <a:spcPts val="0"/>
              </a:spcBef>
              <a:spcAft>
                <a:spcPts val="0"/>
              </a:spcAft>
            </a:pPr>
            <a:r>
              <a:rPr sz="1000" b="0">
                <a:solidFill>
                  <a:srgbClr val="546966"/>
                </a:solidFill>
                <a:latin typeface="Arial"/>
              </a:rPr>
              <a:t>12 / 15</a:t>
            </a:r>
          </a:p>
        </p:txBody>
      </p:sp>
      <p:sp>
        <p:nvSpPr>
          <p:cNvPr id="6" name="TextBox 5"/>
          <p:cNvSpPr txBox="1"/>
          <p:nvPr/>
        </p:nvSpPr>
        <p:spPr>
          <a:xfrm>
            <a:off x="558800" y="762000"/>
            <a:ext cx="11074400" cy="502920"/>
          </a:xfrm>
          <a:prstGeom prst="rect">
            <a:avLst/>
          </a:prstGeom>
          <a:noFill/>
        </p:spPr>
        <p:txBody>
          <a:bodyPr wrap="none" lIns="0" rIns="0" tIns="0" bIns="0" anchor="t">
            <a:spAutoFit/>
          </a:bodyPr>
          <a:lstStyle/>
          <a:p>
            <a:pPr algn="l">
              <a:lnSpc>
                <a:spcPts val="3660"/>
              </a:lnSpc>
              <a:spcBef>
                <a:spcPts val="0"/>
              </a:spcBef>
              <a:spcAft>
                <a:spcPts val="0"/>
              </a:spcAft>
            </a:pPr>
            <a:r>
              <a:rPr sz="3000" b="1">
                <a:solidFill>
                  <a:srgbClr val="172C2B"/>
                </a:solidFill>
                <a:latin typeface="Arial"/>
              </a:rPr>
              <a:t>More models did not improve this detector</a:t>
            </a:r>
          </a:p>
        </p:txBody>
      </p:sp>
      <p:sp>
        <p:nvSpPr>
          <p:cNvPr id="7" name="TextBox 6"/>
          <p:cNvSpPr txBox="1"/>
          <p:nvPr/>
        </p:nvSpPr>
        <p:spPr>
          <a:xfrm>
            <a:off x="584200" y="1409700"/>
            <a:ext cx="11049000" cy="255015"/>
          </a:xfrm>
          <a:prstGeom prst="rect">
            <a:avLst/>
          </a:prstGeom>
          <a:noFill/>
        </p:spPr>
        <p:txBody>
          <a:bodyPr wrap="none" lIns="0" rIns="0" tIns="0" bIns="0" anchor="t">
            <a:spAutoFit/>
          </a:bodyPr>
          <a:lstStyle/>
          <a:p>
            <a:pPr algn="l">
              <a:lnSpc>
                <a:spcPts val="1707"/>
              </a:lnSpc>
              <a:spcBef>
                <a:spcPts val="0"/>
              </a:spcBef>
              <a:spcAft>
                <a:spcPts val="0"/>
              </a:spcAft>
            </a:pPr>
            <a:r>
              <a:rPr sz="1400" b="0">
                <a:solidFill>
                  <a:srgbClr val="546966"/>
                </a:solidFill>
                <a:latin typeface="Arial"/>
              </a:rPr>
              <a:t>New fusion: fine-tuned CF + calibrated EfficientNet + FaceGate/OpenForensics.</a:t>
            </a:r>
          </a:p>
        </p:txBody>
      </p:sp>
      <p:cxnSp>
        <p:nvCxnSpPr>
          <p:cNvPr id="8" name="Connector 7"/>
          <p:cNvCxnSpPr/>
          <p:nvPr/>
        </p:nvCxnSpPr>
        <p:spPr>
          <a:xfrm>
            <a:off x="558800" y="6375400"/>
            <a:ext cx="11074400" cy="0"/>
          </a:xfrm>
          <a:prstGeom prst="line">
            <a:avLst/>
          </a:prstGeom>
          <a:ln w="12700">
            <a:solidFill>
              <a:srgbClr val="DCE5E2"/>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58800" y="6540500"/>
            <a:ext cx="5080000" cy="169799"/>
          </a:xfrm>
          <a:prstGeom prst="rect">
            <a:avLst/>
          </a:prstGeom>
          <a:noFill/>
        </p:spPr>
        <p:txBody>
          <a:bodyPr wrap="none" lIns="0" rIns="0" tIns="0" bIns="0" anchor="t">
            <a:spAutoFit/>
          </a:bodyPr>
          <a:lstStyle/>
          <a:p>
            <a:pPr algn="l">
              <a:lnSpc>
                <a:spcPts val="1037"/>
              </a:lnSpc>
              <a:spcBef>
                <a:spcPts val="0"/>
              </a:spcBef>
              <a:spcAft>
                <a:spcPts val="0"/>
              </a:spcAft>
            </a:pPr>
            <a:r>
              <a:rPr sz="850" b="0">
                <a:solidFill>
                  <a:srgbClr val="546966"/>
                </a:solidFill>
                <a:latin typeface="Arial"/>
              </a:rPr>
              <a:t>AI SHIELD / ABDELRAHMAN SOLIMAN</a:t>
            </a:r>
          </a:p>
        </p:txBody>
      </p:sp>
      <p:sp>
        <p:nvSpPr>
          <p:cNvPr id="10" name="TextBox 9"/>
          <p:cNvSpPr txBox="1"/>
          <p:nvPr/>
        </p:nvSpPr>
        <p:spPr>
          <a:xfrm>
            <a:off x="7175500" y="6540500"/>
            <a:ext cx="1460500" cy="169799"/>
          </a:xfrm>
          <a:prstGeom prst="rect">
            <a:avLst/>
          </a:prstGeom>
          <a:noFill/>
        </p:spPr>
        <p:txBody>
          <a:bodyPr wrap="none" lIns="0" rIns="0" tIns="0" bIns="0" anchor="t">
            <a:spAutoFit/>
          </a:bodyPr>
          <a:lstStyle/>
          <a:p>
            <a:pPr algn="l">
              <a:lnSpc>
                <a:spcPts val="1037"/>
              </a:lnSpc>
              <a:spcBef>
                <a:spcPts val="0"/>
              </a:spcBef>
              <a:spcAft>
                <a:spcPts val="0"/>
              </a:spcAft>
            </a:pPr>
            <a:r>
              <a:rPr sz="850" b="0">
                <a:solidFill>
                  <a:srgbClr val="546966"/>
                </a:solidFill>
                <a:latin typeface="Arial"/>
                <a:hlinkClick r:id="rId2"/>
              </a:rPr>
              <a:t>Fusion study</a:t>
            </a:r>
          </a:p>
        </p:txBody>
      </p:sp>
      <p:sp>
        <p:nvSpPr>
          <p:cNvPr id="11" name="TextBox 10"/>
          <p:cNvSpPr txBox="1"/>
          <p:nvPr/>
        </p:nvSpPr>
        <p:spPr>
          <a:xfrm>
            <a:off x="8648700" y="6540500"/>
            <a:ext cx="1460500" cy="169799"/>
          </a:xfrm>
          <a:prstGeom prst="rect">
            <a:avLst/>
          </a:prstGeom>
          <a:noFill/>
        </p:spPr>
        <p:txBody>
          <a:bodyPr wrap="none" lIns="0" rIns="0" tIns="0" bIns="0" anchor="t">
            <a:spAutoFit/>
          </a:bodyPr>
          <a:lstStyle/>
          <a:p>
            <a:pPr algn="l">
              <a:lnSpc>
                <a:spcPts val="1037"/>
              </a:lnSpc>
              <a:spcBef>
                <a:spcPts val="0"/>
              </a:spcBef>
              <a:spcAft>
                <a:spcPts val="0"/>
              </a:spcAft>
            </a:pPr>
            <a:r>
              <a:rPr sz="850" b="0">
                <a:solidFill>
                  <a:srgbClr val="546966"/>
                </a:solidFill>
                <a:latin typeface="Arial"/>
                <a:hlinkClick r:id="rId3"/>
              </a:rPr>
              <a:t>Results</a:t>
            </a:r>
          </a:p>
        </p:txBody>
      </p:sp>
      <p:sp>
        <p:nvSpPr>
          <p:cNvPr id="12" name="TextBox 11"/>
          <p:cNvSpPr txBox="1"/>
          <p:nvPr/>
        </p:nvSpPr>
        <p:spPr>
          <a:xfrm>
            <a:off x="736600" y="2324100"/>
            <a:ext cx="5207000" cy="224028"/>
          </a:xfrm>
          <a:prstGeom prst="rect">
            <a:avLst/>
          </a:prstGeom>
          <a:noFill/>
        </p:spPr>
        <p:txBody>
          <a:bodyPr wrap="none" lIns="0" rIns="0" tIns="0" bIns="0" anchor="t">
            <a:spAutoFit/>
          </a:bodyPr>
          <a:lstStyle/>
          <a:p>
            <a:pPr algn="l">
              <a:lnSpc>
                <a:spcPts val="1464"/>
              </a:lnSpc>
              <a:spcBef>
                <a:spcPts val="0"/>
              </a:spcBef>
              <a:spcAft>
                <a:spcPts val="0"/>
              </a:spcAft>
            </a:pPr>
            <a:r>
              <a:rPr sz="1200" b="1">
                <a:solidFill>
                  <a:srgbClr val="546966"/>
                </a:solidFill>
                <a:latin typeface="Arial"/>
              </a:rPr>
              <a:t>MODEL</a:t>
            </a:r>
          </a:p>
        </p:txBody>
      </p:sp>
      <p:sp>
        <p:nvSpPr>
          <p:cNvPr id="13" name="TextBox 12"/>
          <p:cNvSpPr txBox="1"/>
          <p:nvPr/>
        </p:nvSpPr>
        <p:spPr>
          <a:xfrm>
            <a:off x="6400800" y="2324100"/>
            <a:ext cx="2032000" cy="224028"/>
          </a:xfrm>
          <a:prstGeom prst="rect">
            <a:avLst/>
          </a:prstGeom>
          <a:noFill/>
        </p:spPr>
        <p:txBody>
          <a:bodyPr wrap="none" lIns="0" rIns="0" tIns="0" bIns="0" anchor="t">
            <a:spAutoFit/>
          </a:bodyPr>
          <a:lstStyle/>
          <a:p>
            <a:pPr algn="l">
              <a:lnSpc>
                <a:spcPts val="1464"/>
              </a:lnSpc>
              <a:spcBef>
                <a:spcPts val="0"/>
              </a:spcBef>
              <a:spcAft>
                <a:spcPts val="0"/>
              </a:spcAft>
            </a:pPr>
            <a:r>
              <a:rPr sz="1200" b="1">
                <a:solidFill>
                  <a:srgbClr val="546966"/>
                </a:solidFill>
                <a:latin typeface="Arial"/>
              </a:rPr>
              <a:t>TEST AUROC</a:t>
            </a:r>
          </a:p>
        </p:txBody>
      </p:sp>
      <p:sp>
        <p:nvSpPr>
          <p:cNvPr id="14" name="TextBox 13"/>
          <p:cNvSpPr txBox="1"/>
          <p:nvPr/>
        </p:nvSpPr>
        <p:spPr>
          <a:xfrm>
            <a:off x="8991600" y="2324100"/>
            <a:ext cx="2476500" cy="224028"/>
          </a:xfrm>
          <a:prstGeom prst="rect">
            <a:avLst/>
          </a:prstGeom>
          <a:noFill/>
        </p:spPr>
        <p:txBody>
          <a:bodyPr wrap="none" lIns="0" rIns="0" tIns="0" bIns="0" anchor="t">
            <a:spAutoFit/>
          </a:bodyPr>
          <a:lstStyle/>
          <a:p>
            <a:pPr algn="l">
              <a:lnSpc>
                <a:spcPts val="1464"/>
              </a:lnSpc>
              <a:spcBef>
                <a:spcPts val="0"/>
              </a:spcBef>
              <a:spcAft>
                <a:spcPts val="0"/>
              </a:spcAft>
            </a:pPr>
            <a:r>
              <a:rPr sz="1200" b="1">
                <a:solidFill>
                  <a:srgbClr val="546966"/>
                </a:solidFill>
                <a:latin typeface="Arial"/>
              </a:rPr>
              <a:t>GPT IMAGE 2 AUROC</a:t>
            </a:r>
          </a:p>
        </p:txBody>
      </p:sp>
      <p:sp>
        <p:nvSpPr>
          <p:cNvPr id="15" name="Rectangle 14"/>
          <p:cNvSpPr/>
          <p:nvPr/>
        </p:nvSpPr>
        <p:spPr>
          <a:xfrm>
            <a:off x="558800" y="2819400"/>
            <a:ext cx="11074400" cy="863600"/>
          </a:xfrm>
          <a:prstGeom prst="rect">
            <a:avLst/>
          </a:prstGeom>
          <a:solidFill>
            <a:srgbClr val="DF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2000" y="2997200"/>
            <a:ext cx="5334000" cy="394462"/>
          </a:xfrm>
          <a:prstGeom prst="rect">
            <a:avLst/>
          </a:prstGeom>
          <a:noFill/>
        </p:spPr>
        <p:txBody>
          <a:bodyPr wrap="none" lIns="0" rIns="0" tIns="0" bIns="0" anchor="t">
            <a:spAutoFit/>
          </a:bodyPr>
          <a:lstStyle/>
          <a:p>
            <a:pPr algn="l">
              <a:lnSpc>
                <a:spcPts val="2806"/>
              </a:lnSpc>
              <a:spcBef>
                <a:spcPts val="0"/>
              </a:spcBef>
              <a:spcAft>
                <a:spcPts val="0"/>
              </a:spcAft>
            </a:pPr>
            <a:r>
              <a:rPr sz="2300" b="1">
                <a:solidFill>
                  <a:srgbClr val="00796B"/>
                </a:solidFill>
                <a:latin typeface="Arial"/>
              </a:rPr>
              <a:t>Fine-tuned CF alone</a:t>
            </a:r>
          </a:p>
        </p:txBody>
      </p:sp>
      <p:sp>
        <p:nvSpPr>
          <p:cNvPr id="17" name="TextBox 16"/>
          <p:cNvSpPr txBox="1"/>
          <p:nvPr/>
        </p:nvSpPr>
        <p:spPr>
          <a:xfrm>
            <a:off x="6413500" y="2971800"/>
            <a:ext cx="2032000" cy="471931"/>
          </a:xfrm>
          <a:prstGeom prst="rect">
            <a:avLst/>
          </a:prstGeom>
          <a:noFill/>
        </p:spPr>
        <p:txBody>
          <a:bodyPr wrap="none" lIns="0" rIns="0" tIns="0" bIns="0" anchor="t">
            <a:spAutoFit/>
          </a:bodyPr>
          <a:lstStyle/>
          <a:p>
            <a:pPr algn="l">
              <a:lnSpc>
                <a:spcPts val="3415"/>
              </a:lnSpc>
              <a:spcBef>
                <a:spcPts val="0"/>
              </a:spcBef>
              <a:spcAft>
                <a:spcPts val="0"/>
              </a:spcAft>
            </a:pPr>
            <a:r>
              <a:rPr sz="2800" b="1">
                <a:solidFill>
                  <a:srgbClr val="00796B"/>
                </a:solidFill>
                <a:latin typeface="Arial"/>
              </a:rPr>
              <a:t>0.9884</a:t>
            </a:r>
          </a:p>
        </p:txBody>
      </p:sp>
      <p:sp>
        <p:nvSpPr>
          <p:cNvPr id="18" name="TextBox 17"/>
          <p:cNvSpPr txBox="1"/>
          <p:nvPr/>
        </p:nvSpPr>
        <p:spPr>
          <a:xfrm>
            <a:off x="9004300" y="2971800"/>
            <a:ext cx="2413000" cy="471931"/>
          </a:xfrm>
          <a:prstGeom prst="rect">
            <a:avLst/>
          </a:prstGeom>
          <a:noFill/>
        </p:spPr>
        <p:txBody>
          <a:bodyPr wrap="none" lIns="0" rIns="0" tIns="0" bIns="0" anchor="t">
            <a:spAutoFit/>
          </a:bodyPr>
          <a:lstStyle/>
          <a:p>
            <a:pPr algn="l">
              <a:lnSpc>
                <a:spcPts val="3415"/>
              </a:lnSpc>
              <a:spcBef>
                <a:spcPts val="0"/>
              </a:spcBef>
              <a:spcAft>
                <a:spcPts val="0"/>
              </a:spcAft>
            </a:pPr>
            <a:r>
              <a:rPr sz="2800" b="1">
                <a:solidFill>
                  <a:srgbClr val="00796B"/>
                </a:solidFill>
                <a:latin typeface="Arial"/>
              </a:rPr>
              <a:t>0.9946</a:t>
            </a:r>
          </a:p>
        </p:txBody>
      </p:sp>
      <p:sp>
        <p:nvSpPr>
          <p:cNvPr id="19" name="Rectangle 18"/>
          <p:cNvSpPr/>
          <p:nvPr/>
        </p:nvSpPr>
        <p:spPr>
          <a:xfrm>
            <a:off x="558800" y="3873500"/>
            <a:ext cx="11074400" cy="863600"/>
          </a:xfrm>
          <a:prstGeom prst="rect">
            <a:avLst/>
          </a:prstGeom>
          <a:solidFill>
            <a:srgbClr val="F2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000" y="4051300"/>
            <a:ext cx="5334000" cy="394462"/>
          </a:xfrm>
          <a:prstGeom prst="rect">
            <a:avLst/>
          </a:prstGeom>
          <a:noFill/>
        </p:spPr>
        <p:txBody>
          <a:bodyPr wrap="none" lIns="0" rIns="0" tIns="0" bIns="0" anchor="t">
            <a:spAutoFit/>
          </a:bodyPr>
          <a:lstStyle/>
          <a:p>
            <a:pPr algn="l">
              <a:lnSpc>
                <a:spcPts val="2806"/>
              </a:lnSpc>
              <a:spcBef>
                <a:spcPts val="0"/>
              </a:spcBef>
              <a:spcAft>
                <a:spcPts val="0"/>
              </a:spcAft>
            </a:pPr>
            <a:r>
              <a:rPr sz="2300" b="1">
                <a:solidFill>
                  <a:srgbClr val="546966"/>
                </a:solidFill>
                <a:latin typeface="Arial"/>
              </a:rPr>
              <a:t>New fusion</a:t>
            </a:r>
          </a:p>
        </p:txBody>
      </p:sp>
      <p:sp>
        <p:nvSpPr>
          <p:cNvPr id="21" name="TextBox 20"/>
          <p:cNvSpPr txBox="1"/>
          <p:nvPr/>
        </p:nvSpPr>
        <p:spPr>
          <a:xfrm>
            <a:off x="6413500" y="4025900"/>
            <a:ext cx="2032000" cy="471931"/>
          </a:xfrm>
          <a:prstGeom prst="rect">
            <a:avLst/>
          </a:prstGeom>
          <a:noFill/>
        </p:spPr>
        <p:txBody>
          <a:bodyPr wrap="none" lIns="0" rIns="0" tIns="0" bIns="0" anchor="t">
            <a:spAutoFit/>
          </a:bodyPr>
          <a:lstStyle/>
          <a:p>
            <a:pPr algn="l">
              <a:lnSpc>
                <a:spcPts val="3415"/>
              </a:lnSpc>
              <a:spcBef>
                <a:spcPts val="0"/>
              </a:spcBef>
              <a:spcAft>
                <a:spcPts val="0"/>
              </a:spcAft>
            </a:pPr>
            <a:r>
              <a:rPr sz="2800" b="1">
                <a:solidFill>
                  <a:srgbClr val="546966"/>
                </a:solidFill>
                <a:latin typeface="Arial"/>
              </a:rPr>
              <a:t>0.9854</a:t>
            </a:r>
          </a:p>
        </p:txBody>
      </p:sp>
      <p:sp>
        <p:nvSpPr>
          <p:cNvPr id="22" name="TextBox 21"/>
          <p:cNvSpPr txBox="1"/>
          <p:nvPr/>
        </p:nvSpPr>
        <p:spPr>
          <a:xfrm>
            <a:off x="9004300" y="4025900"/>
            <a:ext cx="2413000" cy="471931"/>
          </a:xfrm>
          <a:prstGeom prst="rect">
            <a:avLst/>
          </a:prstGeom>
          <a:noFill/>
        </p:spPr>
        <p:txBody>
          <a:bodyPr wrap="none" lIns="0" rIns="0" tIns="0" bIns="0" anchor="t">
            <a:spAutoFit/>
          </a:bodyPr>
          <a:lstStyle/>
          <a:p>
            <a:pPr algn="l">
              <a:lnSpc>
                <a:spcPts val="3415"/>
              </a:lnSpc>
              <a:spcBef>
                <a:spcPts val="0"/>
              </a:spcBef>
              <a:spcAft>
                <a:spcPts val="0"/>
              </a:spcAft>
            </a:pPr>
            <a:r>
              <a:rPr sz="2800" b="1">
                <a:solidFill>
                  <a:srgbClr val="546966"/>
                </a:solidFill>
                <a:latin typeface="Arial"/>
              </a:rPr>
              <a:t>0.9936</a:t>
            </a:r>
          </a:p>
        </p:txBody>
      </p:sp>
      <p:sp>
        <p:nvSpPr>
          <p:cNvPr id="23" name="TextBox 22"/>
          <p:cNvSpPr txBox="1"/>
          <p:nvPr/>
        </p:nvSpPr>
        <p:spPr>
          <a:xfrm>
            <a:off x="609600" y="5194300"/>
            <a:ext cx="10922000" cy="533908"/>
          </a:xfrm>
          <a:prstGeom prst="rect">
            <a:avLst/>
          </a:prstGeom>
          <a:noFill/>
        </p:spPr>
        <p:txBody>
          <a:bodyPr wrap="none" lIns="0" rIns="0" tIns="0" bIns="0" anchor="t">
            <a:spAutoFit/>
          </a:bodyPr>
          <a:lstStyle/>
          <a:p>
            <a:pPr algn="l">
              <a:lnSpc>
                <a:spcPts val="1952"/>
              </a:lnSpc>
              <a:spcBef>
                <a:spcPts val="0"/>
              </a:spcBef>
              <a:spcAft>
                <a:spcPts val="0"/>
              </a:spcAft>
            </a:pPr>
            <a:r>
              <a:rPr sz="1600" b="0">
                <a:solidFill>
                  <a:srgbClr val="546966"/>
                </a:solidFill>
                <a:latin typeface="Arial"/>
              </a:rPr>
              <a:t>The combination was slightly worse on both sets.</a:t>
            </a:r>
          </a:p>
          <a:p>
            <a:pPr algn="l">
              <a:lnSpc>
                <a:spcPts val="1952"/>
              </a:lnSpc>
              <a:spcBef>
                <a:spcPts val="0"/>
              </a:spcBef>
              <a:spcAft>
                <a:spcPts val="0"/>
              </a:spcAft>
            </a:pPr>
            <a:r>
              <a:rPr sz="1600" b="0">
                <a:solidFill>
                  <a:srgbClr val="546966"/>
                </a:solidFill>
                <a:latin typeface="Arial"/>
              </a:rPr>
              <a:t>This is a separate experiment from the original 17-feature GLM.</a:t>
            </a:r>
          </a:p>
        </p:txBody>
      </p:sp>
      <p:sp>
        <p:nvSpPr>
          <p:cNvPr id="24" name="Rectangle 23"/>
          <p:cNvSpPr/>
          <p:nvPr/>
        </p:nvSpPr>
        <p:spPr>
          <a:xfrm>
            <a:off x="558800" y="5778500"/>
            <a:ext cx="11074400" cy="571500"/>
          </a:xfrm>
          <a:prstGeom prst="rect">
            <a:avLst/>
          </a:prstGeom>
          <a:solidFill>
            <a:srgbClr val="DF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2000" y="5918200"/>
            <a:ext cx="10668000" cy="301498"/>
          </a:xfrm>
          <a:prstGeom prst="rect">
            <a:avLst/>
          </a:prstGeom>
          <a:noFill/>
        </p:spPr>
        <p:txBody>
          <a:bodyPr wrap="none" lIns="0" rIns="0" tIns="0" bIns="0" anchor="t">
            <a:spAutoFit/>
          </a:bodyPr>
          <a:lstStyle/>
          <a:p>
            <a:pPr algn="l">
              <a:lnSpc>
                <a:spcPts val="2074"/>
              </a:lnSpc>
              <a:spcBef>
                <a:spcPts val="0"/>
              </a:spcBef>
              <a:spcAft>
                <a:spcPts val="0"/>
              </a:spcAft>
            </a:pPr>
            <a:r>
              <a:rPr sz="1700" b="1">
                <a:solidFill>
                  <a:srgbClr val="00796B"/>
                </a:solidFill>
                <a:latin typeface="Arial"/>
              </a:rPr>
              <a:t>Decision: select CF alone; pause further model-fusion experiments.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600" cy="6858000"/>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58800" y="304800"/>
            <a:ext cx="10160000" cy="193040"/>
          </a:xfrm>
          <a:prstGeom prst="rect">
            <a:avLst/>
          </a:prstGeom>
          <a:noFill/>
        </p:spPr>
        <p:txBody>
          <a:bodyPr wrap="none" lIns="0" rIns="0" tIns="0" bIns="0" anchor="t">
            <a:spAutoFit/>
          </a:bodyPr>
          <a:lstStyle/>
          <a:p>
            <a:pPr algn="l">
              <a:lnSpc>
                <a:spcPts val="1220"/>
              </a:lnSpc>
              <a:spcBef>
                <a:spcPts val="0"/>
              </a:spcBef>
              <a:spcAft>
                <a:spcPts val="0"/>
              </a:spcAft>
            </a:pPr>
            <a:r>
              <a:rPr sz="1000" b="1">
                <a:solidFill>
                  <a:srgbClr val="00796B"/>
                </a:solidFill>
                <a:latin typeface="Arial"/>
              </a:rPr>
              <a:t>STAGE 6 / REPEATABLE INFERENCE</a:t>
            </a:r>
          </a:p>
        </p:txBody>
      </p:sp>
      <p:sp>
        <p:nvSpPr>
          <p:cNvPr id="5" name="TextBox 4"/>
          <p:cNvSpPr txBox="1"/>
          <p:nvPr/>
        </p:nvSpPr>
        <p:spPr>
          <a:xfrm>
            <a:off x="10947400" y="304800"/>
            <a:ext cx="736600" cy="193040"/>
          </a:xfrm>
          <a:prstGeom prst="rect">
            <a:avLst/>
          </a:prstGeom>
          <a:noFill/>
        </p:spPr>
        <p:txBody>
          <a:bodyPr wrap="none" lIns="0" rIns="0" tIns="0" bIns="0" anchor="t">
            <a:spAutoFit/>
          </a:bodyPr>
          <a:lstStyle/>
          <a:p>
            <a:pPr algn="l">
              <a:lnSpc>
                <a:spcPts val="1220"/>
              </a:lnSpc>
              <a:spcBef>
                <a:spcPts val="0"/>
              </a:spcBef>
              <a:spcAft>
                <a:spcPts val="0"/>
              </a:spcAft>
            </a:pPr>
            <a:r>
              <a:rPr sz="1000" b="0">
                <a:solidFill>
                  <a:srgbClr val="546966"/>
                </a:solidFill>
                <a:latin typeface="Arial"/>
              </a:rPr>
              <a:t>13 / 15</a:t>
            </a:r>
          </a:p>
        </p:txBody>
      </p:sp>
      <p:sp>
        <p:nvSpPr>
          <p:cNvPr id="6" name="TextBox 5"/>
          <p:cNvSpPr txBox="1"/>
          <p:nvPr/>
        </p:nvSpPr>
        <p:spPr>
          <a:xfrm>
            <a:off x="558800" y="762000"/>
            <a:ext cx="11074400" cy="502920"/>
          </a:xfrm>
          <a:prstGeom prst="rect">
            <a:avLst/>
          </a:prstGeom>
          <a:noFill/>
        </p:spPr>
        <p:txBody>
          <a:bodyPr wrap="none" lIns="0" rIns="0" tIns="0" bIns="0" anchor="t">
            <a:spAutoFit/>
          </a:bodyPr>
          <a:lstStyle/>
          <a:p>
            <a:pPr algn="l">
              <a:lnSpc>
                <a:spcPts val="3660"/>
              </a:lnSpc>
              <a:spcBef>
                <a:spcPts val="0"/>
              </a:spcBef>
              <a:spcAft>
                <a:spcPts val="0"/>
              </a:spcAft>
            </a:pPr>
            <a:r>
              <a:rPr sz="3000" b="1">
                <a:solidFill>
                  <a:srgbClr val="172C2B"/>
                </a:solidFill>
                <a:latin typeface="Arial"/>
              </a:rPr>
              <a:t>Locked the detector before building around it</a:t>
            </a:r>
          </a:p>
        </p:txBody>
      </p:sp>
      <p:sp>
        <p:nvSpPr>
          <p:cNvPr id="7" name="TextBox 6"/>
          <p:cNvSpPr txBox="1"/>
          <p:nvPr/>
        </p:nvSpPr>
        <p:spPr>
          <a:xfrm>
            <a:off x="584200" y="1409700"/>
            <a:ext cx="11049000" cy="255015"/>
          </a:xfrm>
          <a:prstGeom prst="rect">
            <a:avLst/>
          </a:prstGeom>
          <a:noFill/>
        </p:spPr>
        <p:txBody>
          <a:bodyPr wrap="none" lIns="0" rIns="0" tIns="0" bIns="0" anchor="t">
            <a:spAutoFit/>
          </a:bodyPr>
          <a:lstStyle/>
          <a:p>
            <a:pPr algn="l">
              <a:lnSpc>
                <a:spcPts val="1707"/>
              </a:lnSpc>
              <a:spcBef>
                <a:spcPts val="0"/>
              </a:spcBef>
              <a:spcAft>
                <a:spcPts val="0"/>
              </a:spcAft>
            </a:pPr>
            <a:r>
              <a:rPr sz="1400" b="0">
                <a:solidFill>
                  <a:srgbClr val="546966"/>
                </a:solidFill>
                <a:latin typeface="Arial"/>
              </a:rPr>
              <a:t>Frozen = same weights, same image preparation, same decision cutoff.</a:t>
            </a:r>
          </a:p>
        </p:txBody>
      </p:sp>
      <p:cxnSp>
        <p:nvCxnSpPr>
          <p:cNvPr id="8" name="Connector 7"/>
          <p:cNvCxnSpPr/>
          <p:nvPr/>
        </p:nvCxnSpPr>
        <p:spPr>
          <a:xfrm>
            <a:off x="558800" y="6375400"/>
            <a:ext cx="11074400" cy="0"/>
          </a:xfrm>
          <a:prstGeom prst="line">
            <a:avLst/>
          </a:prstGeom>
          <a:ln w="12700">
            <a:solidFill>
              <a:srgbClr val="DCE5E2"/>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58800" y="6540500"/>
            <a:ext cx="5080000" cy="169799"/>
          </a:xfrm>
          <a:prstGeom prst="rect">
            <a:avLst/>
          </a:prstGeom>
          <a:noFill/>
        </p:spPr>
        <p:txBody>
          <a:bodyPr wrap="none" lIns="0" rIns="0" tIns="0" bIns="0" anchor="t">
            <a:spAutoFit/>
          </a:bodyPr>
          <a:lstStyle/>
          <a:p>
            <a:pPr algn="l">
              <a:lnSpc>
                <a:spcPts val="1037"/>
              </a:lnSpc>
              <a:spcBef>
                <a:spcPts val="0"/>
              </a:spcBef>
              <a:spcAft>
                <a:spcPts val="0"/>
              </a:spcAft>
            </a:pPr>
            <a:r>
              <a:rPr sz="850" b="0">
                <a:solidFill>
                  <a:srgbClr val="546966"/>
                </a:solidFill>
                <a:latin typeface="Arial"/>
              </a:rPr>
              <a:t>AI SHIELD / ABDELRAHMAN SOLIMAN</a:t>
            </a:r>
          </a:p>
        </p:txBody>
      </p:sp>
      <p:sp>
        <p:nvSpPr>
          <p:cNvPr id="10" name="TextBox 9"/>
          <p:cNvSpPr txBox="1"/>
          <p:nvPr/>
        </p:nvSpPr>
        <p:spPr>
          <a:xfrm>
            <a:off x="7175500" y="6540500"/>
            <a:ext cx="1460500" cy="169799"/>
          </a:xfrm>
          <a:prstGeom prst="rect">
            <a:avLst/>
          </a:prstGeom>
          <a:noFill/>
        </p:spPr>
        <p:txBody>
          <a:bodyPr wrap="none" lIns="0" rIns="0" tIns="0" bIns="0" anchor="t">
            <a:spAutoFit/>
          </a:bodyPr>
          <a:lstStyle/>
          <a:p>
            <a:pPr algn="l">
              <a:lnSpc>
                <a:spcPts val="1037"/>
              </a:lnSpc>
              <a:spcBef>
                <a:spcPts val="0"/>
              </a:spcBef>
              <a:spcAft>
                <a:spcPts val="0"/>
              </a:spcAft>
            </a:pPr>
            <a:r>
              <a:rPr sz="850" b="0">
                <a:solidFill>
                  <a:srgbClr val="546966"/>
                </a:solidFill>
                <a:latin typeface="Arial"/>
                <a:hlinkClick r:id="rId2"/>
              </a:rPr>
              <a:t>Freeze checks</a:t>
            </a:r>
          </a:p>
        </p:txBody>
      </p:sp>
      <p:sp>
        <p:nvSpPr>
          <p:cNvPr id="11" name="TextBox 10"/>
          <p:cNvSpPr txBox="1"/>
          <p:nvPr/>
        </p:nvSpPr>
        <p:spPr>
          <a:xfrm>
            <a:off x="8648700" y="6540500"/>
            <a:ext cx="1460500" cy="169799"/>
          </a:xfrm>
          <a:prstGeom prst="rect">
            <a:avLst/>
          </a:prstGeom>
          <a:noFill/>
        </p:spPr>
        <p:txBody>
          <a:bodyPr wrap="none" lIns="0" rIns="0" tIns="0" bIns="0" anchor="t">
            <a:spAutoFit/>
          </a:bodyPr>
          <a:lstStyle/>
          <a:p>
            <a:pPr algn="l">
              <a:lnSpc>
                <a:spcPts val="1037"/>
              </a:lnSpc>
              <a:spcBef>
                <a:spcPts val="0"/>
              </a:spcBef>
              <a:spcAft>
                <a:spcPts val="0"/>
              </a:spcAft>
            </a:pPr>
            <a:r>
              <a:rPr sz="850" b="0">
                <a:solidFill>
                  <a:srgbClr val="546966"/>
                </a:solidFill>
                <a:latin typeface="Arial"/>
                <a:hlinkClick r:id="rId3"/>
              </a:rPr>
              <a:t>Saved artifacts</a:t>
            </a:r>
          </a:p>
        </p:txBody>
      </p:sp>
      <p:sp>
        <p:nvSpPr>
          <p:cNvPr id="12" name="Rectangle 11"/>
          <p:cNvSpPr/>
          <p:nvPr/>
        </p:nvSpPr>
        <p:spPr>
          <a:xfrm>
            <a:off x="558800" y="2146300"/>
            <a:ext cx="11074400" cy="698500"/>
          </a:xfrm>
          <a:prstGeom prst="rect">
            <a:avLst/>
          </a:prstGeom>
          <a:solidFill>
            <a:srgbClr val="F2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2000" y="2298700"/>
            <a:ext cx="596900" cy="347980"/>
          </a:xfrm>
          <a:prstGeom prst="rect">
            <a:avLst/>
          </a:prstGeom>
          <a:noFill/>
        </p:spPr>
        <p:txBody>
          <a:bodyPr wrap="none" lIns="0" rIns="0" tIns="0" bIns="0" anchor="t">
            <a:spAutoFit/>
          </a:bodyPr>
          <a:lstStyle/>
          <a:p>
            <a:pPr algn="l">
              <a:lnSpc>
                <a:spcPts val="2440"/>
              </a:lnSpc>
              <a:spcBef>
                <a:spcPts val="0"/>
              </a:spcBef>
              <a:spcAft>
                <a:spcPts val="0"/>
              </a:spcAft>
            </a:pPr>
            <a:r>
              <a:rPr sz="2000" b="1">
                <a:solidFill>
                  <a:srgbClr val="00796B"/>
                </a:solidFill>
                <a:latin typeface="Arial"/>
              </a:rPr>
              <a:t>01</a:t>
            </a:r>
          </a:p>
        </p:txBody>
      </p:sp>
      <p:sp>
        <p:nvSpPr>
          <p:cNvPr id="14" name="TextBox 13"/>
          <p:cNvSpPr txBox="1"/>
          <p:nvPr/>
        </p:nvSpPr>
        <p:spPr>
          <a:xfrm>
            <a:off x="1511300" y="2324100"/>
            <a:ext cx="3238500" cy="316992"/>
          </a:xfrm>
          <a:prstGeom prst="rect">
            <a:avLst/>
          </a:prstGeom>
          <a:noFill/>
        </p:spPr>
        <p:txBody>
          <a:bodyPr wrap="none" lIns="0" rIns="0" tIns="0" bIns="0" anchor="t">
            <a:spAutoFit/>
          </a:bodyPr>
          <a:lstStyle/>
          <a:p>
            <a:pPr algn="l">
              <a:lnSpc>
                <a:spcPts val="2196"/>
              </a:lnSpc>
              <a:spcBef>
                <a:spcPts val="0"/>
              </a:spcBef>
              <a:spcAft>
                <a:spcPts val="0"/>
              </a:spcAft>
            </a:pPr>
            <a:r>
              <a:rPr sz="1800" b="1">
                <a:solidFill>
                  <a:srgbClr val="172C2B"/>
                </a:solidFill>
                <a:latin typeface="Arial"/>
              </a:rPr>
              <a:t>Checkpoint hash</a:t>
            </a:r>
          </a:p>
        </p:txBody>
      </p:sp>
      <p:sp>
        <p:nvSpPr>
          <p:cNvPr id="15" name="TextBox 14"/>
          <p:cNvSpPr txBox="1"/>
          <p:nvPr/>
        </p:nvSpPr>
        <p:spPr>
          <a:xfrm>
            <a:off x="4889500" y="2298700"/>
            <a:ext cx="6477000" cy="286004"/>
          </a:xfrm>
          <a:prstGeom prst="rect">
            <a:avLst/>
          </a:prstGeom>
          <a:noFill/>
        </p:spPr>
        <p:txBody>
          <a:bodyPr wrap="none" lIns="0" rIns="0" tIns="0" bIns="0" anchor="t">
            <a:spAutoFit/>
          </a:bodyPr>
          <a:lstStyle/>
          <a:p>
            <a:pPr algn="l">
              <a:lnSpc>
                <a:spcPts val="1952"/>
              </a:lnSpc>
              <a:spcBef>
                <a:spcPts val="0"/>
              </a:spcBef>
              <a:spcAft>
                <a:spcPts val="0"/>
              </a:spcAft>
            </a:pPr>
            <a:r>
              <a:rPr sz="1600" b="0">
                <a:solidFill>
                  <a:srgbClr val="546966"/>
                </a:solidFill>
                <a:latin typeface="Arial"/>
              </a:rPr>
              <a:t>A digital fingerprint confirms the exact fine-tuned model file.</a:t>
            </a:r>
          </a:p>
        </p:txBody>
      </p:sp>
      <p:sp>
        <p:nvSpPr>
          <p:cNvPr id="16" name="Rectangle 15"/>
          <p:cNvSpPr/>
          <p:nvPr/>
        </p:nvSpPr>
        <p:spPr>
          <a:xfrm>
            <a:off x="558800" y="3009900"/>
            <a:ext cx="11074400" cy="698500"/>
          </a:xfrm>
          <a:prstGeom prst="rect">
            <a:avLst/>
          </a:prstGeom>
          <a:solidFill>
            <a:srgbClr val="F2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2000" y="3162300"/>
            <a:ext cx="596900" cy="347980"/>
          </a:xfrm>
          <a:prstGeom prst="rect">
            <a:avLst/>
          </a:prstGeom>
          <a:noFill/>
        </p:spPr>
        <p:txBody>
          <a:bodyPr wrap="none" lIns="0" rIns="0" tIns="0" bIns="0" anchor="t">
            <a:spAutoFit/>
          </a:bodyPr>
          <a:lstStyle/>
          <a:p>
            <a:pPr algn="l">
              <a:lnSpc>
                <a:spcPts val="2440"/>
              </a:lnSpc>
              <a:spcBef>
                <a:spcPts val="0"/>
              </a:spcBef>
              <a:spcAft>
                <a:spcPts val="0"/>
              </a:spcAft>
            </a:pPr>
            <a:r>
              <a:rPr sz="2000" b="1">
                <a:solidFill>
                  <a:srgbClr val="00796B"/>
                </a:solidFill>
                <a:latin typeface="Arial"/>
              </a:rPr>
              <a:t>02</a:t>
            </a:r>
          </a:p>
        </p:txBody>
      </p:sp>
      <p:sp>
        <p:nvSpPr>
          <p:cNvPr id="18" name="TextBox 17"/>
          <p:cNvSpPr txBox="1"/>
          <p:nvPr/>
        </p:nvSpPr>
        <p:spPr>
          <a:xfrm>
            <a:off x="1511300" y="3187700"/>
            <a:ext cx="3238500" cy="316992"/>
          </a:xfrm>
          <a:prstGeom prst="rect">
            <a:avLst/>
          </a:prstGeom>
          <a:noFill/>
        </p:spPr>
        <p:txBody>
          <a:bodyPr wrap="none" lIns="0" rIns="0" tIns="0" bIns="0" anchor="t">
            <a:spAutoFit/>
          </a:bodyPr>
          <a:lstStyle/>
          <a:p>
            <a:pPr algn="l">
              <a:lnSpc>
                <a:spcPts val="2196"/>
              </a:lnSpc>
              <a:spcBef>
                <a:spcPts val="0"/>
              </a:spcBef>
              <a:spcAft>
                <a:spcPts val="0"/>
              </a:spcAft>
            </a:pPr>
            <a:r>
              <a:rPr sz="1800" b="1">
                <a:solidFill>
                  <a:srgbClr val="172C2B"/>
                </a:solidFill>
                <a:latin typeface="Arial"/>
              </a:rPr>
              <a:t>Exact preprocessing</a:t>
            </a:r>
          </a:p>
        </p:txBody>
      </p:sp>
      <p:sp>
        <p:nvSpPr>
          <p:cNvPr id="19" name="TextBox 18"/>
          <p:cNvSpPr txBox="1"/>
          <p:nvPr/>
        </p:nvSpPr>
        <p:spPr>
          <a:xfrm>
            <a:off x="4889500" y="3162300"/>
            <a:ext cx="6477000" cy="286004"/>
          </a:xfrm>
          <a:prstGeom prst="rect">
            <a:avLst/>
          </a:prstGeom>
          <a:noFill/>
        </p:spPr>
        <p:txBody>
          <a:bodyPr wrap="none" lIns="0" rIns="0" tIns="0" bIns="0" anchor="t">
            <a:spAutoFit/>
          </a:bodyPr>
          <a:lstStyle/>
          <a:p>
            <a:pPr algn="l">
              <a:lnSpc>
                <a:spcPts val="1952"/>
              </a:lnSpc>
              <a:spcBef>
                <a:spcPts val="0"/>
              </a:spcBef>
              <a:spcAft>
                <a:spcPts val="0"/>
              </a:spcAft>
            </a:pPr>
            <a:r>
              <a:rPr sz="1600" b="0">
                <a:solidFill>
                  <a:srgbClr val="546966"/>
                </a:solidFill>
                <a:latin typeface="Arial"/>
              </a:rPr>
              <a:t>Orientation -&gt; RGB -&gt; resize -&gt; crop -&gt; normalization.</a:t>
            </a:r>
          </a:p>
        </p:txBody>
      </p:sp>
      <p:sp>
        <p:nvSpPr>
          <p:cNvPr id="20" name="Rectangle 19"/>
          <p:cNvSpPr/>
          <p:nvPr/>
        </p:nvSpPr>
        <p:spPr>
          <a:xfrm>
            <a:off x="558800" y="3873500"/>
            <a:ext cx="11074400" cy="698500"/>
          </a:xfrm>
          <a:prstGeom prst="rect">
            <a:avLst/>
          </a:prstGeom>
          <a:solidFill>
            <a:srgbClr val="F2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2000" y="4025900"/>
            <a:ext cx="596900" cy="347980"/>
          </a:xfrm>
          <a:prstGeom prst="rect">
            <a:avLst/>
          </a:prstGeom>
          <a:noFill/>
        </p:spPr>
        <p:txBody>
          <a:bodyPr wrap="none" lIns="0" rIns="0" tIns="0" bIns="0" anchor="t">
            <a:spAutoFit/>
          </a:bodyPr>
          <a:lstStyle/>
          <a:p>
            <a:pPr algn="l">
              <a:lnSpc>
                <a:spcPts val="2440"/>
              </a:lnSpc>
              <a:spcBef>
                <a:spcPts val="0"/>
              </a:spcBef>
              <a:spcAft>
                <a:spcPts val="0"/>
              </a:spcAft>
            </a:pPr>
            <a:r>
              <a:rPr sz="2000" b="1">
                <a:solidFill>
                  <a:srgbClr val="00796B"/>
                </a:solidFill>
                <a:latin typeface="Arial"/>
              </a:rPr>
              <a:t>03</a:t>
            </a:r>
          </a:p>
        </p:txBody>
      </p:sp>
      <p:sp>
        <p:nvSpPr>
          <p:cNvPr id="22" name="TextBox 21"/>
          <p:cNvSpPr txBox="1"/>
          <p:nvPr/>
        </p:nvSpPr>
        <p:spPr>
          <a:xfrm>
            <a:off x="1511300" y="4051300"/>
            <a:ext cx="3238500" cy="316992"/>
          </a:xfrm>
          <a:prstGeom prst="rect">
            <a:avLst/>
          </a:prstGeom>
          <a:noFill/>
        </p:spPr>
        <p:txBody>
          <a:bodyPr wrap="none" lIns="0" rIns="0" tIns="0" bIns="0" anchor="t">
            <a:spAutoFit/>
          </a:bodyPr>
          <a:lstStyle/>
          <a:p>
            <a:pPr algn="l">
              <a:lnSpc>
                <a:spcPts val="2196"/>
              </a:lnSpc>
              <a:spcBef>
                <a:spcPts val="0"/>
              </a:spcBef>
              <a:spcAft>
                <a:spcPts val="0"/>
              </a:spcAft>
            </a:pPr>
            <a:r>
              <a:rPr sz="1800" b="1">
                <a:solidFill>
                  <a:srgbClr val="172C2B"/>
                </a:solidFill>
                <a:latin typeface="Arial"/>
              </a:rPr>
              <a:t>Fixed threshold</a:t>
            </a:r>
          </a:p>
        </p:txBody>
      </p:sp>
      <p:sp>
        <p:nvSpPr>
          <p:cNvPr id="23" name="TextBox 22"/>
          <p:cNvSpPr txBox="1"/>
          <p:nvPr/>
        </p:nvSpPr>
        <p:spPr>
          <a:xfrm>
            <a:off x="4889500" y="4025900"/>
            <a:ext cx="6477000" cy="286004"/>
          </a:xfrm>
          <a:prstGeom prst="rect">
            <a:avLst/>
          </a:prstGeom>
          <a:noFill/>
        </p:spPr>
        <p:txBody>
          <a:bodyPr wrap="none" lIns="0" rIns="0" tIns="0" bIns="0" anchor="t">
            <a:spAutoFit/>
          </a:bodyPr>
          <a:lstStyle/>
          <a:p>
            <a:pPr algn="l">
              <a:lnSpc>
                <a:spcPts val="1952"/>
              </a:lnSpc>
              <a:spcBef>
                <a:spcPts val="0"/>
              </a:spcBef>
              <a:spcAft>
                <a:spcPts val="0"/>
              </a:spcAft>
            </a:pPr>
            <a:r>
              <a:rPr sz="1600" b="0">
                <a:solidFill>
                  <a:srgbClr val="546966"/>
                </a:solidFill>
                <a:latin typeface="Arial"/>
              </a:rPr>
              <a:t>About 0.634, selected using validation F1 (precision/recall balance).</a:t>
            </a:r>
          </a:p>
        </p:txBody>
      </p:sp>
      <p:sp>
        <p:nvSpPr>
          <p:cNvPr id="24" name="Rectangle 23"/>
          <p:cNvSpPr/>
          <p:nvPr/>
        </p:nvSpPr>
        <p:spPr>
          <a:xfrm>
            <a:off x="558800" y="4737100"/>
            <a:ext cx="11074400" cy="698500"/>
          </a:xfrm>
          <a:prstGeom prst="rect">
            <a:avLst/>
          </a:prstGeom>
          <a:solidFill>
            <a:srgbClr val="F2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2000" y="4889500"/>
            <a:ext cx="596900" cy="347980"/>
          </a:xfrm>
          <a:prstGeom prst="rect">
            <a:avLst/>
          </a:prstGeom>
          <a:noFill/>
        </p:spPr>
        <p:txBody>
          <a:bodyPr wrap="none" lIns="0" rIns="0" tIns="0" bIns="0" anchor="t">
            <a:spAutoFit/>
          </a:bodyPr>
          <a:lstStyle/>
          <a:p>
            <a:pPr algn="l">
              <a:lnSpc>
                <a:spcPts val="2440"/>
              </a:lnSpc>
              <a:spcBef>
                <a:spcPts val="0"/>
              </a:spcBef>
              <a:spcAft>
                <a:spcPts val="0"/>
              </a:spcAft>
            </a:pPr>
            <a:r>
              <a:rPr sz="2000" b="1">
                <a:solidFill>
                  <a:srgbClr val="00796B"/>
                </a:solidFill>
                <a:latin typeface="Arial"/>
              </a:rPr>
              <a:t>04</a:t>
            </a:r>
          </a:p>
        </p:txBody>
      </p:sp>
      <p:sp>
        <p:nvSpPr>
          <p:cNvPr id="26" name="TextBox 25"/>
          <p:cNvSpPr txBox="1"/>
          <p:nvPr/>
        </p:nvSpPr>
        <p:spPr>
          <a:xfrm>
            <a:off x="1511300" y="4914900"/>
            <a:ext cx="3238500" cy="316992"/>
          </a:xfrm>
          <a:prstGeom prst="rect">
            <a:avLst/>
          </a:prstGeom>
          <a:noFill/>
        </p:spPr>
        <p:txBody>
          <a:bodyPr wrap="none" lIns="0" rIns="0" tIns="0" bIns="0" anchor="t">
            <a:spAutoFit/>
          </a:bodyPr>
          <a:lstStyle/>
          <a:p>
            <a:pPr algn="l">
              <a:lnSpc>
                <a:spcPts val="2196"/>
              </a:lnSpc>
              <a:spcBef>
                <a:spcPts val="0"/>
              </a:spcBef>
              <a:spcAft>
                <a:spcPts val="0"/>
              </a:spcAft>
            </a:pPr>
            <a:r>
              <a:rPr sz="1800" b="1">
                <a:solidFill>
                  <a:srgbClr val="172C2B"/>
                </a:solidFill>
                <a:latin typeface="Arial"/>
              </a:rPr>
              <a:t>Reference-image checks</a:t>
            </a:r>
          </a:p>
        </p:txBody>
      </p:sp>
      <p:sp>
        <p:nvSpPr>
          <p:cNvPr id="27" name="TextBox 26"/>
          <p:cNvSpPr txBox="1"/>
          <p:nvPr/>
        </p:nvSpPr>
        <p:spPr>
          <a:xfrm>
            <a:off x="4889500" y="4889500"/>
            <a:ext cx="6477000" cy="533908"/>
          </a:xfrm>
          <a:prstGeom prst="rect">
            <a:avLst/>
          </a:prstGeom>
          <a:noFill/>
        </p:spPr>
        <p:txBody>
          <a:bodyPr wrap="none" lIns="0" rIns="0" tIns="0" bIns="0" anchor="t">
            <a:spAutoFit/>
          </a:bodyPr>
          <a:lstStyle/>
          <a:p>
            <a:pPr algn="l">
              <a:lnSpc>
                <a:spcPts val="1952"/>
              </a:lnSpc>
              <a:spcBef>
                <a:spcPts val="0"/>
              </a:spcBef>
              <a:spcAft>
                <a:spcPts val="0"/>
              </a:spcAft>
            </a:pPr>
            <a:r>
              <a:rPr sz="1600" b="0">
                <a:solidFill>
                  <a:srgbClr val="546966"/>
                </a:solidFill>
                <a:latin typeface="Arial"/>
              </a:rPr>
              <a:t>Six saved examples matched scores within tolerance and kept their</a:t>
            </a:r>
          </a:p>
          <a:p>
            <a:pPr algn="l">
              <a:lnSpc>
                <a:spcPts val="1952"/>
              </a:lnSpc>
              <a:spcBef>
                <a:spcPts val="0"/>
              </a:spcBef>
              <a:spcAft>
                <a:spcPts val="0"/>
              </a:spcAft>
            </a:pPr>
            <a:r>
              <a:rPr sz="1600" b="0">
                <a:solidFill>
                  <a:srgbClr val="546966"/>
                </a:solidFill>
                <a:latin typeface="Arial"/>
              </a:rPr>
              <a:t>labels.</a:t>
            </a:r>
          </a:p>
        </p:txBody>
      </p:sp>
      <p:sp>
        <p:nvSpPr>
          <p:cNvPr id="28" name="TextBox 27"/>
          <p:cNvSpPr txBox="1"/>
          <p:nvPr/>
        </p:nvSpPr>
        <p:spPr>
          <a:xfrm>
            <a:off x="609600" y="5892800"/>
            <a:ext cx="10922000" cy="255015"/>
          </a:xfrm>
          <a:prstGeom prst="rect">
            <a:avLst/>
          </a:prstGeom>
          <a:noFill/>
        </p:spPr>
        <p:txBody>
          <a:bodyPr wrap="none" lIns="0" rIns="0" tIns="0" bIns="0" anchor="t">
            <a:spAutoFit/>
          </a:bodyPr>
          <a:lstStyle/>
          <a:p>
            <a:pPr algn="l">
              <a:lnSpc>
                <a:spcPts val="1707"/>
              </a:lnSpc>
              <a:spcBef>
                <a:spcPts val="0"/>
              </a:spcBef>
              <a:spcAft>
                <a:spcPts val="0"/>
              </a:spcAft>
            </a:pPr>
            <a:r>
              <a:rPr sz="1400" b="0">
                <a:solidFill>
                  <a:srgbClr val="546966"/>
                </a:solidFill>
                <a:latin typeface="Arial"/>
              </a:rPr>
              <a:t>These are implementation-consistency checks, not a new accuracy benchmark.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600" cy="6858000"/>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58800" y="304800"/>
            <a:ext cx="10160000" cy="193040"/>
          </a:xfrm>
          <a:prstGeom prst="rect">
            <a:avLst/>
          </a:prstGeom>
          <a:noFill/>
        </p:spPr>
        <p:txBody>
          <a:bodyPr wrap="none" lIns="0" rIns="0" tIns="0" bIns="0" anchor="t">
            <a:spAutoFit/>
          </a:bodyPr>
          <a:lstStyle/>
          <a:p>
            <a:pPr algn="l">
              <a:lnSpc>
                <a:spcPts val="1220"/>
              </a:lnSpc>
              <a:spcBef>
                <a:spcPts val="0"/>
              </a:spcBef>
              <a:spcAft>
                <a:spcPts val="0"/>
              </a:spcAft>
            </a:pPr>
            <a:r>
              <a:rPr sz="1000" b="1">
                <a:solidFill>
                  <a:srgbClr val="00796B"/>
                </a:solidFill>
                <a:latin typeface="Arial"/>
              </a:rPr>
              <a:t>STAGE 6 / CURRENT LOCAL SYSTEM</a:t>
            </a:r>
          </a:p>
        </p:txBody>
      </p:sp>
      <p:sp>
        <p:nvSpPr>
          <p:cNvPr id="5" name="TextBox 4"/>
          <p:cNvSpPr txBox="1"/>
          <p:nvPr/>
        </p:nvSpPr>
        <p:spPr>
          <a:xfrm>
            <a:off x="10947400" y="304800"/>
            <a:ext cx="736600" cy="193040"/>
          </a:xfrm>
          <a:prstGeom prst="rect">
            <a:avLst/>
          </a:prstGeom>
          <a:noFill/>
        </p:spPr>
        <p:txBody>
          <a:bodyPr wrap="none" lIns="0" rIns="0" tIns="0" bIns="0" anchor="t">
            <a:spAutoFit/>
          </a:bodyPr>
          <a:lstStyle/>
          <a:p>
            <a:pPr algn="l">
              <a:lnSpc>
                <a:spcPts val="1220"/>
              </a:lnSpc>
              <a:spcBef>
                <a:spcPts val="0"/>
              </a:spcBef>
              <a:spcAft>
                <a:spcPts val="0"/>
              </a:spcAft>
            </a:pPr>
            <a:r>
              <a:rPr sz="1000" b="0">
                <a:solidFill>
                  <a:srgbClr val="546966"/>
                </a:solidFill>
                <a:latin typeface="Arial"/>
              </a:rPr>
              <a:t>14 / 15</a:t>
            </a:r>
          </a:p>
        </p:txBody>
      </p:sp>
      <p:sp>
        <p:nvSpPr>
          <p:cNvPr id="6" name="TextBox 5"/>
          <p:cNvSpPr txBox="1"/>
          <p:nvPr/>
        </p:nvSpPr>
        <p:spPr>
          <a:xfrm>
            <a:off x="558800" y="762000"/>
            <a:ext cx="11074400" cy="502920"/>
          </a:xfrm>
          <a:prstGeom prst="rect">
            <a:avLst/>
          </a:prstGeom>
          <a:noFill/>
        </p:spPr>
        <p:txBody>
          <a:bodyPr wrap="none" lIns="0" rIns="0" tIns="0" bIns="0" anchor="t">
            <a:spAutoFit/>
          </a:bodyPr>
          <a:lstStyle/>
          <a:p>
            <a:pPr algn="l">
              <a:lnSpc>
                <a:spcPts val="3660"/>
              </a:lnSpc>
              <a:spcBef>
                <a:spcPts val="0"/>
              </a:spcBef>
              <a:spcAft>
                <a:spcPts val="0"/>
              </a:spcAft>
            </a:pPr>
            <a:r>
              <a:rPr sz="3000" b="1">
                <a:solidFill>
                  <a:srgbClr val="172C2B"/>
                </a:solidFill>
                <a:latin typeface="Arial"/>
              </a:rPr>
              <a:t>Added recorded provenance beside the AI score</a:t>
            </a:r>
          </a:p>
        </p:txBody>
      </p:sp>
      <p:sp>
        <p:nvSpPr>
          <p:cNvPr id="7" name="TextBox 6"/>
          <p:cNvSpPr txBox="1"/>
          <p:nvPr/>
        </p:nvSpPr>
        <p:spPr>
          <a:xfrm>
            <a:off x="584200" y="1409700"/>
            <a:ext cx="11049000" cy="255015"/>
          </a:xfrm>
          <a:prstGeom prst="rect">
            <a:avLst/>
          </a:prstGeom>
          <a:noFill/>
        </p:spPr>
        <p:txBody>
          <a:bodyPr wrap="none" lIns="0" rIns="0" tIns="0" bIns="0" anchor="t">
            <a:spAutoFit/>
          </a:bodyPr>
          <a:lstStyle/>
          <a:p>
            <a:pPr algn="l">
              <a:lnSpc>
                <a:spcPts val="1707"/>
              </a:lnSpc>
              <a:spcBef>
                <a:spcPts val="0"/>
              </a:spcBef>
              <a:spcAft>
                <a:spcPts val="0"/>
              </a:spcAft>
            </a:pPr>
            <a:r>
              <a:rPr sz="1400" b="0">
                <a:solidFill>
                  <a:srgbClr val="546966"/>
                </a:solidFill>
                <a:latin typeface="Arial"/>
              </a:rPr>
              <a:t>FastAPI = the Python service that runs both checks for the future website.</a:t>
            </a:r>
          </a:p>
        </p:txBody>
      </p:sp>
      <p:cxnSp>
        <p:nvCxnSpPr>
          <p:cNvPr id="8" name="Connector 7"/>
          <p:cNvCxnSpPr/>
          <p:nvPr/>
        </p:nvCxnSpPr>
        <p:spPr>
          <a:xfrm>
            <a:off x="558800" y="6375400"/>
            <a:ext cx="11074400" cy="0"/>
          </a:xfrm>
          <a:prstGeom prst="line">
            <a:avLst/>
          </a:prstGeom>
          <a:ln w="12700">
            <a:solidFill>
              <a:srgbClr val="DCE5E2"/>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58800" y="6540500"/>
            <a:ext cx="5080000" cy="169799"/>
          </a:xfrm>
          <a:prstGeom prst="rect">
            <a:avLst/>
          </a:prstGeom>
          <a:noFill/>
        </p:spPr>
        <p:txBody>
          <a:bodyPr wrap="none" lIns="0" rIns="0" tIns="0" bIns="0" anchor="t">
            <a:spAutoFit/>
          </a:bodyPr>
          <a:lstStyle/>
          <a:p>
            <a:pPr algn="l">
              <a:lnSpc>
                <a:spcPts val="1037"/>
              </a:lnSpc>
              <a:spcBef>
                <a:spcPts val="0"/>
              </a:spcBef>
              <a:spcAft>
                <a:spcPts val="0"/>
              </a:spcAft>
            </a:pPr>
            <a:r>
              <a:rPr sz="850" b="0">
                <a:solidFill>
                  <a:srgbClr val="546966"/>
                </a:solidFill>
                <a:latin typeface="Arial"/>
              </a:rPr>
              <a:t>AI SHIELD / ABDELRAHMAN SOLIMAN</a:t>
            </a:r>
          </a:p>
        </p:txBody>
      </p:sp>
      <p:sp>
        <p:nvSpPr>
          <p:cNvPr id="10" name="TextBox 9"/>
          <p:cNvSpPr txBox="1"/>
          <p:nvPr/>
        </p:nvSpPr>
        <p:spPr>
          <a:xfrm>
            <a:off x="7175500" y="6540500"/>
            <a:ext cx="1460500" cy="169799"/>
          </a:xfrm>
          <a:prstGeom prst="rect">
            <a:avLst/>
          </a:prstGeom>
          <a:noFill/>
        </p:spPr>
        <p:txBody>
          <a:bodyPr wrap="none" lIns="0" rIns="0" tIns="0" bIns="0" anchor="t">
            <a:spAutoFit/>
          </a:bodyPr>
          <a:lstStyle/>
          <a:p>
            <a:pPr algn="l">
              <a:lnSpc>
                <a:spcPts val="1037"/>
              </a:lnSpc>
              <a:spcBef>
                <a:spcPts val="0"/>
              </a:spcBef>
              <a:spcAft>
                <a:spcPts val="0"/>
              </a:spcAft>
            </a:pPr>
            <a:r>
              <a:rPr sz="850" b="0">
                <a:solidFill>
                  <a:srgbClr val="546966"/>
                </a:solidFill>
                <a:latin typeface="Arial"/>
                <a:hlinkClick r:id="rId2"/>
              </a:rPr>
              <a:t>Project notes</a:t>
            </a:r>
          </a:p>
        </p:txBody>
      </p:sp>
      <p:sp>
        <p:nvSpPr>
          <p:cNvPr id="11" name="TextBox 10"/>
          <p:cNvSpPr txBox="1"/>
          <p:nvPr/>
        </p:nvSpPr>
        <p:spPr>
          <a:xfrm>
            <a:off x="8648700" y="6540500"/>
            <a:ext cx="1460500" cy="169799"/>
          </a:xfrm>
          <a:prstGeom prst="rect">
            <a:avLst/>
          </a:prstGeom>
          <a:noFill/>
        </p:spPr>
        <p:txBody>
          <a:bodyPr wrap="none" lIns="0" rIns="0" tIns="0" bIns="0" anchor="t">
            <a:spAutoFit/>
          </a:bodyPr>
          <a:lstStyle/>
          <a:p>
            <a:pPr algn="l">
              <a:lnSpc>
                <a:spcPts val="1037"/>
              </a:lnSpc>
              <a:spcBef>
                <a:spcPts val="0"/>
              </a:spcBef>
              <a:spcAft>
                <a:spcPts val="0"/>
              </a:spcAft>
            </a:pPr>
            <a:r>
              <a:rPr sz="850" b="0">
                <a:solidFill>
                  <a:srgbClr val="546966"/>
                </a:solidFill>
                <a:latin typeface="Arial"/>
                <a:hlinkClick r:id="rId3"/>
              </a:rPr>
              <a:t>Freeze checks</a:t>
            </a:r>
          </a:p>
        </p:txBody>
      </p:sp>
      <p:sp>
        <p:nvSpPr>
          <p:cNvPr id="12" name="Rectangle 11"/>
          <p:cNvSpPr/>
          <p:nvPr/>
        </p:nvSpPr>
        <p:spPr>
          <a:xfrm>
            <a:off x="558800" y="3136900"/>
            <a:ext cx="1905000" cy="1003300"/>
          </a:xfrm>
          <a:prstGeom prst="rect">
            <a:avLst/>
          </a:prstGeom>
          <a:solidFill>
            <a:srgbClr val="F2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3900" y="3340100"/>
            <a:ext cx="1574800" cy="657860"/>
          </a:xfrm>
          <a:prstGeom prst="rect">
            <a:avLst/>
          </a:prstGeom>
          <a:noFill/>
        </p:spPr>
        <p:txBody>
          <a:bodyPr wrap="none" lIns="0" rIns="0" tIns="0" bIns="0" anchor="t">
            <a:spAutoFit/>
          </a:bodyPr>
          <a:lstStyle/>
          <a:p>
            <a:pPr algn="ctr">
              <a:lnSpc>
                <a:spcPts val="2440"/>
              </a:lnSpc>
              <a:spcBef>
                <a:spcPts val="0"/>
              </a:spcBef>
              <a:spcAft>
                <a:spcPts val="0"/>
              </a:spcAft>
            </a:pPr>
            <a:r>
              <a:rPr sz="2000" b="1">
                <a:solidFill>
                  <a:srgbClr val="172C2B"/>
                </a:solidFill>
                <a:latin typeface="Arial"/>
              </a:rPr>
              <a:t>Original</a:t>
            </a:r>
          </a:p>
          <a:p>
            <a:pPr algn="ctr">
              <a:lnSpc>
                <a:spcPts val="2440"/>
              </a:lnSpc>
              <a:spcBef>
                <a:spcPts val="0"/>
              </a:spcBef>
              <a:spcAft>
                <a:spcPts val="0"/>
              </a:spcAft>
            </a:pPr>
            <a:r>
              <a:rPr sz="2000" b="1">
                <a:solidFill>
                  <a:srgbClr val="172C2B"/>
                </a:solidFill>
                <a:latin typeface="Arial"/>
              </a:rPr>
              <a:t>upload</a:t>
            </a:r>
          </a:p>
        </p:txBody>
      </p:sp>
      <p:sp>
        <p:nvSpPr>
          <p:cNvPr id="14" name="Rectangle 13"/>
          <p:cNvSpPr/>
          <p:nvPr/>
        </p:nvSpPr>
        <p:spPr>
          <a:xfrm>
            <a:off x="3568700" y="2171700"/>
            <a:ext cx="4165600" cy="1092200"/>
          </a:xfrm>
          <a:prstGeom prst="rect">
            <a:avLst/>
          </a:prstGeom>
          <a:solidFill>
            <a:srgbClr val="DF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97300" y="2362200"/>
            <a:ext cx="3683000" cy="363474"/>
          </a:xfrm>
          <a:prstGeom prst="rect">
            <a:avLst/>
          </a:prstGeom>
          <a:noFill/>
        </p:spPr>
        <p:txBody>
          <a:bodyPr wrap="none" lIns="0" rIns="0" tIns="0" bIns="0" anchor="t">
            <a:spAutoFit/>
          </a:bodyPr>
          <a:lstStyle/>
          <a:p>
            <a:pPr algn="l">
              <a:lnSpc>
                <a:spcPts val="2562"/>
              </a:lnSpc>
              <a:spcBef>
                <a:spcPts val="0"/>
              </a:spcBef>
              <a:spcAft>
                <a:spcPts val="0"/>
              </a:spcAft>
            </a:pPr>
            <a:r>
              <a:rPr sz="2100" b="1">
                <a:solidFill>
                  <a:srgbClr val="00796B"/>
                </a:solidFill>
                <a:latin typeface="Arial"/>
              </a:rPr>
              <a:t>CF detector</a:t>
            </a:r>
          </a:p>
        </p:txBody>
      </p:sp>
      <p:sp>
        <p:nvSpPr>
          <p:cNvPr id="16" name="TextBox 15"/>
          <p:cNvSpPr txBox="1"/>
          <p:nvPr/>
        </p:nvSpPr>
        <p:spPr>
          <a:xfrm>
            <a:off x="3797300" y="2806700"/>
            <a:ext cx="3683000" cy="270510"/>
          </a:xfrm>
          <a:prstGeom prst="rect">
            <a:avLst/>
          </a:prstGeom>
          <a:noFill/>
        </p:spPr>
        <p:txBody>
          <a:bodyPr wrap="none" lIns="0" rIns="0" tIns="0" bIns="0" anchor="t">
            <a:spAutoFit/>
          </a:bodyPr>
          <a:lstStyle/>
          <a:p>
            <a:pPr algn="l">
              <a:lnSpc>
                <a:spcPts val="1830"/>
              </a:lnSpc>
              <a:spcBef>
                <a:spcPts val="0"/>
              </a:spcBef>
              <a:spcAft>
                <a:spcPts val="0"/>
              </a:spcAft>
            </a:pPr>
            <a:r>
              <a:rPr sz="1500" b="0">
                <a:solidFill>
                  <a:srgbClr val="546966"/>
                </a:solidFill>
                <a:latin typeface="Arial"/>
              </a:rPr>
              <a:t>Visual AI-generation score</a:t>
            </a:r>
          </a:p>
        </p:txBody>
      </p:sp>
      <p:sp>
        <p:nvSpPr>
          <p:cNvPr id="17" name="Rectangle 16"/>
          <p:cNvSpPr/>
          <p:nvPr/>
        </p:nvSpPr>
        <p:spPr>
          <a:xfrm>
            <a:off x="3568700" y="3810000"/>
            <a:ext cx="4165600" cy="1371600"/>
          </a:xfrm>
          <a:prstGeom prst="rect">
            <a:avLst/>
          </a:prstGeom>
          <a:solidFill>
            <a:srgbClr val="F2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97300" y="4000500"/>
            <a:ext cx="3683000" cy="363474"/>
          </a:xfrm>
          <a:prstGeom prst="rect">
            <a:avLst/>
          </a:prstGeom>
          <a:noFill/>
        </p:spPr>
        <p:txBody>
          <a:bodyPr wrap="none" lIns="0" rIns="0" tIns="0" bIns="0" anchor="t">
            <a:spAutoFit/>
          </a:bodyPr>
          <a:lstStyle/>
          <a:p>
            <a:pPr algn="l">
              <a:lnSpc>
                <a:spcPts val="2562"/>
              </a:lnSpc>
              <a:spcBef>
                <a:spcPts val="0"/>
              </a:spcBef>
              <a:spcAft>
                <a:spcPts val="0"/>
              </a:spcAft>
            </a:pPr>
            <a:r>
              <a:rPr sz="2100" b="1">
                <a:solidFill>
                  <a:srgbClr val="172C2B"/>
                </a:solidFill>
                <a:latin typeface="Arial"/>
              </a:rPr>
              <a:t>ExifTool + C2PA</a:t>
            </a:r>
          </a:p>
        </p:txBody>
      </p:sp>
      <p:sp>
        <p:nvSpPr>
          <p:cNvPr id="19" name="TextBox 18"/>
          <p:cNvSpPr txBox="1"/>
          <p:nvPr/>
        </p:nvSpPr>
        <p:spPr>
          <a:xfrm>
            <a:off x="3797300" y="4445000"/>
            <a:ext cx="3683000" cy="533908"/>
          </a:xfrm>
          <a:prstGeom prst="rect">
            <a:avLst/>
          </a:prstGeom>
          <a:noFill/>
        </p:spPr>
        <p:txBody>
          <a:bodyPr wrap="none" lIns="0" rIns="0" tIns="0" bIns="0" anchor="t">
            <a:spAutoFit/>
          </a:bodyPr>
          <a:lstStyle/>
          <a:p>
            <a:pPr algn="l">
              <a:lnSpc>
                <a:spcPts val="1952"/>
              </a:lnSpc>
              <a:spcBef>
                <a:spcPts val="0"/>
              </a:spcBef>
              <a:spcAft>
                <a:spcPts val="0"/>
              </a:spcAft>
            </a:pPr>
            <a:r>
              <a:rPr sz="1600" b="0">
                <a:solidFill>
                  <a:srgbClr val="546966"/>
                </a:solidFill>
                <a:latin typeface="Arial"/>
              </a:rPr>
              <a:t>Stored image details + signed</a:t>
            </a:r>
          </a:p>
          <a:p>
            <a:pPr algn="l">
              <a:lnSpc>
                <a:spcPts val="1952"/>
              </a:lnSpc>
              <a:spcBef>
                <a:spcPts val="0"/>
              </a:spcBef>
              <a:spcAft>
                <a:spcPts val="0"/>
              </a:spcAft>
            </a:pPr>
            <a:r>
              <a:rPr sz="1600" b="0">
                <a:solidFill>
                  <a:srgbClr val="546966"/>
                </a:solidFill>
                <a:latin typeface="Arial"/>
              </a:rPr>
              <a:t>creation/editing record checks</a:t>
            </a:r>
          </a:p>
        </p:txBody>
      </p:sp>
      <p:sp>
        <p:nvSpPr>
          <p:cNvPr id="20" name="Rectangle 19"/>
          <p:cNvSpPr/>
          <p:nvPr/>
        </p:nvSpPr>
        <p:spPr>
          <a:xfrm>
            <a:off x="9004300" y="3111500"/>
            <a:ext cx="2628900" cy="1193800"/>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07500" y="3352800"/>
            <a:ext cx="2222500" cy="688848"/>
          </a:xfrm>
          <a:prstGeom prst="rect">
            <a:avLst/>
          </a:prstGeom>
          <a:noFill/>
        </p:spPr>
        <p:txBody>
          <a:bodyPr wrap="none" lIns="0" rIns="0" tIns="0" bIns="0" anchor="t">
            <a:spAutoFit/>
          </a:bodyPr>
          <a:lstStyle/>
          <a:p>
            <a:pPr algn="ctr">
              <a:lnSpc>
                <a:spcPts val="2562"/>
              </a:lnSpc>
              <a:spcBef>
                <a:spcPts val="0"/>
              </a:spcBef>
              <a:spcAft>
                <a:spcPts val="0"/>
              </a:spcAft>
            </a:pPr>
            <a:r>
              <a:rPr sz="2100" b="1">
                <a:solidFill>
                  <a:srgbClr val="FFFFFF"/>
                </a:solidFill>
                <a:latin typeface="Arial"/>
              </a:rPr>
              <a:t>Combined</a:t>
            </a:r>
          </a:p>
          <a:p>
            <a:pPr algn="ctr">
              <a:lnSpc>
                <a:spcPts val="2562"/>
              </a:lnSpc>
              <a:spcBef>
                <a:spcPts val="0"/>
              </a:spcBef>
              <a:spcAft>
                <a:spcPts val="0"/>
              </a:spcAft>
            </a:pPr>
            <a:r>
              <a:rPr sz="2100" b="1">
                <a:solidFill>
                  <a:srgbClr val="FFFFFF"/>
                </a:solidFill>
                <a:latin typeface="Arial"/>
              </a:rPr>
              <a:t>evidence report</a:t>
            </a:r>
          </a:p>
        </p:txBody>
      </p:sp>
      <p:cxnSp>
        <p:nvCxnSpPr>
          <p:cNvPr id="22" name="Connector 21"/>
          <p:cNvCxnSpPr/>
          <p:nvPr/>
        </p:nvCxnSpPr>
        <p:spPr>
          <a:xfrm flipV="1">
            <a:off x="2463800" y="2730500"/>
            <a:ext cx="1028700" cy="749300"/>
          </a:xfrm>
          <a:prstGeom prst="line">
            <a:avLst/>
          </a:prstGeom>
          <a:ln w="20320">
            <a:solidFill>
              <a:srgbClr val="00796B"/>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3454532" y="2730500"/>
            <a:ext cx="37968" cy="80384"/>
          </a:xfrm>
          <a:prstGeom prst="line">
            <a:avLst/>
          </a:prstGeom>
          <a:ln w="20320">
            <a:solidFill>
              <a:srgbClr val="00796B"/>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3404344" y="2730500"/>
            <a:ext cx="88156" cy="11483"/>
          </a:xfrm>
          <a:prstGeom prst="line">
            <a:avLst/>
          </a:prstGeom>
          <a:ln w="20320">
            <a:solidFill>
              <a:srgbClr val="00796B"/>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463800" y="3835400"/>
            <a:ext cx="1028700" cy="647700"/>
          </a:xfrm>
          <a:prstGeom prst="line">
            <a:avLst/>
          </a:prstGeom>
          <a:ln w="20320">
            <a:solidFill>
              <a:srgbClr val="00796B"/>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3403770" y="4477598"/>
            <a:ext cx="88730" cy="5502"/>
          </a:xfrm>
          <a:prstGeom prst="line">
            <a:avLst/>
          </a:prstGeom>
          <a:ln w="20320">
            <a:solidFill>
              <a:srgbClr val="00796B"/>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3449188" y="4405464"/>
            <a:ext cx="43312" cy="77636"/>
          </a:xfrm>
          <a:prstGeom prst="line">
            <a:avLst/>
          </a:prstGeom>
          <a:ln w="20320">
            <a:solidFill>
              <a:srgbClr val="00796B"/>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734300" y="2730500"/>
            <a:ext cx="1193800" cy="749300"/>
          </a:xfrm>
          <a:prstGeom prst="line">
            <a:avLst/>
          </a:prstGeom>
          <a:ln w="20320">
            <a:solidFill>
              <a:srgbClr val="00796B"/>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8839362" y="3474423"/>
            <a:ext cx="88738" cy="5377"/>
          </a:xfrm>
          <a:prstGeom prst="line">
            <a:avLst/>
          </a:prstGeom>
          <a:ln w="20320">
            <a:solidFill>
              <a:srgbClr val="00796B"/>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8884678" y="3402225"/>
            <a:ext cx="43422" cy="77575"/>
          </a:xfrm>
          <a:prstGeom prst="line">
            <a:avLst/>
          </a:prstGeom>
          <a:ln w="20320">
            <a:solidFill>
              <a:srgbClr val="00796B"/>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7734300" y="3937000"/>
            <a:ext cx="1193800" cy="546100"/>
          </a:xfrm>
          <a:prstGeom prst="line">
            <a:avLst/>
          </a:prstGeom>
          <a:ln w="20320">
            <a:solidFill>
              <a:srgbClr val="00796B"/>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8874883" y="3937000"/>
            <a:ext cx="53217" cy="71212"/>
          </a:xfrm>
          <a:prstGeom prst="line">
            <a:avLst/>
          </a:prstGeom>
          <a:ln w="20320">
            <a:solidFill>
              <a:srgbClr val="00796B"/>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8839423" y="3930696"/>
            <a:ext cx="88677" cy="6304"/>
          </a:xfrm>
          <a:prstGeom prst="line">
            <a:avLst/>
          </a:prstGeom>
          <a:ln w="20320">
            <a:solidFill>
              <a:srgbClr val="00796B"/>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09600" y="5511800"/>
            <a:ext cx="10922000" cy="301498"/>
          </a:xfrm>
          <a:prstGeom prst="rect">
            <a:avLst/>
          </a:prstGeom>
          <a:noFill/>
        </p:spPr>
        <p:txBody>
          <a:bodyPr wrap="none" lIns="0" rIns="0" tIns="0" bIns="0" anchor="t">
            <a:spAutoFit/>
          </a:bodyPr>
          <a:lstStyle/>
          <a:p>
            <a:pPr algn="l">
              <a:lnSpc>
                <a:spcPts val="2074"/>
              </a:lnSpc>
              <a:spcBef>
                <a:spcPts val="0"/>
              </a:spcBef>
              <a:spcAft>
                <a:spcPts val="0"/>
              </a:spcAft>
            </a:pPr>
            <a:r>
              <a:rPr sz="1700" b="1">
                <a:solidFill>
                  <a:srgbClr val="00796B"/>
                </a:solidFill>
                <a:latin typeface="Arial"/>
              </a:rPr>
              <a:t>38 tests passed | 6 reference images matched through the live upload API.</a:t>
            </a:r>
          </a:p>
        </p:txBody>
      </p:sp>
      <p:sp>
        <p:nvSpPr>
          <p:cNvPr id="35" name="TextBox 34"/>
          <p:cNvSpPr txBox="1"/>
          <p:nvPr/>
        </p:nvSpPr>
        <p:spPr>
          <a:xfrm>
            <a:off x="609600" y="5905500"/>
            <a:ext cx="10922000" cy="208534"/>
          </a:xfrm>
          <a:prstGeom prst="rect">
            <a:avLst/>
          </a:prstGeom>
          <a:noFill/>
        </p:spPr>
        <p:txBody>
          <a:bodyPr wrap="none" lIns="0" rIns="0" tIns="0" bIns="0" anchor="t">
            <a:spAutoFit/>
          </a:bodyPr>
          <a:lstStyle/>
          <a:p>
            <a:pPr algn="l">
              <a:lnSpc>
                <a:spcPts val="1342"/>
              </a:lnSpc>
              <a:spcBef>
                <a:spcPts val="0"/>
              </a:spcBef>
              <a:spcAft>
                <a:spcPts val="0"/>
              </a:spcAft>
            </a:pPr>
            <a:r>
              <a:rPr sz="1100" b="0">
                <a:solidFill>
                  <a:srgbClr val="546966"/>
                </a:solidFill>
                <a:latin typeface="Arial"/>
              </a:rPr>
              <a:t>EXIF = stored camera/software/date details. C2PA = signed creation/editing records.</a:t>
            </a:r>
          </a:p>
        </p:txBody>
      </p:sp>
      <p:sp>
        <p:nvSpPr>
          <p:cNvPr id="36" name="TextBox 35"/>
          <p:cNvSpPr txBox="1"/>
          <p:nvPr/>
        </p:nvSpPr>
        <p:spPr>
          <a:xfrm>
            <a:off x="609600" y="6134100"/>
            <a:ext cx="10922000" cy="193040"/>
          </a:xfrm>
          <a:prstGeom prst="rect">
            <a:avLst/>
          </a:prstGeom>
          <a:noFill/>
        </p:spPr>
        <p:txBody>
          <a:bodyPr wrap="none" lIns="0" rIns="0" tIns="0" bIns="0" anchor="t">
            <a:spAutoFit/>
          </a:bodyPr>
          <a:lstStyle/>
          <a:p>
            <a:pPr algn="l">
              <a:lnSpc>
                <a:spcPts val="1220"/>
              </a:lnSpc>
              <a:spcBef>
                <a:spcPts val="0"/>
              </a:spcBef>
              <a:spcAft>
                <a:spcPts val="0"/>
              </a:spcAft>
            </a:pPr>
            <a:r>
              <a:rPr sz="1000" b="0">
                <a:solidFill>
                  <a:srgbClr val="546966"/>
                </a:solidFill>
                <a:latin typeface="Arial"/>
              </a:rPr>
              <a:t>Missing metadata = unknown. Photoshop is not proof of AI. Credential validity is not scene truth.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600" cy="6858000"/>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58800" y="304800"/>
            <a:ext cx="10160000" cy="193040"/>
          </a:xfrm>
          <a:prstGeom prst="rect">
            <a:avLst/>
          </a:prstGeom>
          <a:noFill/>
        </p:spPr>
        <p:txBody>
          <a:bodyPr wrap="none" lIns="0" rIns="0" tIns="0" bIns="0" anchor="t">
            <a:spAutoFit/>
          </a:bodyPr>
          <a:lstStyle/>
          <a:p>
            <a:pPr algn="l">
              <a:lnSpc>
                <a:spcPts val="1220"/>
              </a:lnSpc>
              <a:spcBef>
                <a:spcPts val="0"/>
              </a:spcBef>
              <a:spcAft>
                <a:spcPts val="0"/>
              </a:spcAft>
            </a:pPr>
            <a:r>
              <a:rPr sz="1000" b="1">
                <a:solidFill>
                  <a:srgbClr val="00796B"/>
                </a:solidFill>
                <a:latin typeface="Arial"/>
              </a:rPr>
              <a:t>CURRENT STATE / DISCUSSION</a:t>
            </a:r>
          </a:p>
        </p:txBody>
      </p:sp>
      <p:sp>
        <p:nvSpPr>
          <p:cNvPr id="5" name="TextBox 4"/>
          <p:cNvSpPr txBox="1"/>
          <p:nvPr/>
        </p:nvSpPr>
        <p:spPr>
          <a:xfrm>
            <a:off x="10947400" y="304800"/>
            <a:ext cx="736600" cy="193040"/>
          </a:xfrm>
          <a:prstGeom prst="rect">
            <a:avLst/>
          </a:prstGeom>
          <a:noFill/>
        </p:spPr>
        <p:txBody>
          <a:bodyPr wrap="none" lIns="0" rIns="0" tIns="0" bIns="0" anchor="t">
            <a:spAutoFit/>
          </a:bodyPr>
          <a:lstStyle/>
          <a:p>
            <a:pPr algn="l">
              <a:lnSpc>
                <a:spcPts val="1220"/>
              </a:lnSpc>
              <a:spcBef>
                <a:spcPts val="0"/>
              </a:spcBef>
              <a:spcAft>
                <a:spcPts val="0"/>
              </a:spcAft>
            </a:pPr>
            <a:r>
              <a:rPr sz="1000" b="0">
                <a:solidFill>
                  <a:srgbClr val="546966"/>
                </a:solidFill>
                <a:latin typeface="Arial"/>
              </a:rPr>
              <a:t>15 / 15</a:t>
            </a:r>
          </a:p>
        </p:txBody>
      </p:sp>
      <p:sp>
        <p:nvSpPr>
          <p:cNvPr id="6" name="TextBox 5"/>
          <p:cNvSpPr txBox="1"/>
          <p:nvPr/>
        </p:nvSpPr>
        <p:spPr>
          <a:xfrm>
            <a:off x="558800" y="762000"/>
            <a:ext cx="11074400" cy="502920"/>
          </a:xfrm>
          <a:prstGeom prst="rect">
            <a:avLst/>
          </a:prstGeom>
          <a:noFill/>
        </p:spPr>
        <p:txBody>
          <a:bodyPr wrap="none" lIns="0" rIns="0" tIns="0" bIns="0" anchor="t">
            <a:spAutoFit/>
          </a:bodyPr>
          <a:lstStyle/>
          <a:p>
            <a:pPr algn="l">
              <a:lnSpc>
                <a:spcPts val="3660"/>
              </a:lnSpc>
              <a:spcBef>
                <a:spcPts val="0"/>
              </a:spcBef>
              <a:spcAft>
                <a:spcPts val="0"/>
              </a:spcAft>
            </a:pPr>
            <a:r>
              <a:rPr sz="3000" b="1">
                <a:solidFill>
                  <a:srgbClr val="172C2B"/>
                </a:solidFill>
                <a:latin typeface="Arial"/>
              </a:rPr>
              <a:t>Working locally; evaluation and deployment come next</a:t>
            </a:r>
          </a:p>
        </p:txBody>
      </p:sp>
      <p:sp>
        <p:nvSpPr>
          <p:cNvPr id="7" name="TextBox 6"/>
          <p:cNvSpPr txBox="1"/>
          <p:nvPr/>
        </p:nvSpPr>
        <p:spPr>
          <a:xfrm>
            <a:off x="584200" y="1409700"/>
            <a:ext cx="11049000" cy="255015"/>
          </a:xfrm>
          <a:prstGeom prst="rect">
            <a:avLst/>
          </a:prstGeom>
          <a:noFill/>
        </p:spPr>
        <p:txBody>
          <a:bodyPr wrap="none" lIns="0" rIns="0" tIns="0" bIns="0" anchor="t">
            <a:spAutoFit/>
          </a:bodyPr>
          <a:lstStyle/>
          <a:p>
            <a:pPr algn="l">
              <a:lnSpc>
                <a:spcPts val="1707"/>
              </a:lnSpc>
              <a:spcBef>
                <a:spcPts val="0"/>
              </a:spcBef>
              <a:spcAft>
                <a:spcPts val="0"/>
              </a:spcAft>
            </a:pPr>
            <a:r>
              <a:rPr sz="1400" b="0">
                <a:solidFill>
                  <a:srgbClr val="546966"/>
                </a:solidFill>
                <a:latin typeface="Arial"/>
              </a:rPr>
              <a:t>The hosted Hugging Face demo still uses the older system.</a:t>
            </a:r>
          </a:p>
        </p:txBody>
      </p:sp>
      <p:cxnSp>
        <p:nvCxnSpPr>
          <p:cNvPr id="8" name="Connector 7"/>
          <p:cNvCxnSpPr/>
          <p:nvPr/>
        </p:nvCxnSpPr>
        <p:spPr>
          <a:xfrm>
            <a:off x="558800" y="6375400"/>
            <a:ext cx="11074400" cy="0"/>
          </a:xfrm>
          <a:prstGeom prst="line">
            <a:avLst/>
          </a:prstGeom>
          <a:ln w="12700">
            <a:solidFill>
              <a:srgbClr val="DCE5E2"/>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58800" y="6540500"/>
            <a:ext cx="5080000" cy="169799"/>
          </a:xfrm>
          <a:prstGeom prst="rect">
            <a:avLst/>
          </a:prstGeom>
          <a:noFill/>
        </p:spPr>
        <p:txBody>
          <a:bodyPr wrap="none" lIns="0" rIns="0" tIns="0" bIns="0" anchor="t">
            <a:spAutoFit/>
          </a:bodyPr>
          <a:lstStyle/>
          <a:p>
            <a:pPr algn="l">
              <a:lnSpc>
                <a:spcPts val="1037"/>
              </a:lnSpc>
              <a:spcBef>
                <a:spcPts val="0"/>
              </a:spcBef>
              <a:spcAft>
                <a:spcPts val="0"/>
              </a:spcAft>
            </a:pPr>
            <a:r>
              <a:rPr sz="850" b="0">
                <a:solidFill>
                  <a:srgbClr val="546966"/>
                </a:solidFill>
                <a:latin typeface="Arial"/>
              </a:rPr>
              <a:t>AI SHIELD / ABDELRAHMAN SOLIMAN</a:t>
            </a:r>
          </a:p>
        </p:txBody>
      </p:sp>
      <p:sp>
        <p:nvSpPr>
          <p:cNvPr id="10" name="TextBox 9"/>
          <p:cNvSpPr txBox="1"/>
          <p:nvPr/>
        </p:nvSpPr>
        <p:spPr>
          <a:xfrm>
            <a:off x="7175500" y="6540500"/>
            <a:ext cx="1460500" cy="169799"/>
          </a:xfrm>
          <a:prstGeom prst="rect">
            <a:avLst/>
          </a:prstGeom>
          <a:noFill/>
        </p:spPr>
        <p:txBody>
          <a:bodyPr wrap="none" lIns="0" rIns="0" tIns="0" bIns="0" anchor="t">
            <a:spAutoFit/>
          </a:bodyPr>
          <a:lstStyle/>
          <a:p>
            <a:pPr algn="l">
              <a:lnSpc>
                <a:spcPts val="1037"/>
              </a:lnSpc>
              <a:spcBef>
                <a:spcPts val="0"/>
              </a:spcBef>
              <a:spcAft>
                <a:spcPts val="0"/>
              </a:spcAft>
            </a:pPr>
            <a:r>
              <a:rPr sz="850" b="0">
                <a:solidFill>
                  <a:srgbClr val="546966"/>
                </a:solidFill>
                <a:latin typeface="Arial"/>
                <a:hlinkClick r:id="rId2"/>
              </a:rPr>
              <a:t>Project notes</a:t>
            </a:r>
          </a:p>
        </p:txBody>
      </p:sp>
      <p:sp>
        <p:nvSpPr>
          <p:cNvPr id="11" name="TextBox 10"/>
          <p:cNvSpPr txBox="1"/>
          <p:nvPr/>
        </p:nvSpPr>
        <p:spPr>
          <a:xfrm>
            <a:off x="8648700" y="6540500"/>
            <a:ext cx="1460500" cy="169799"/>
          </a:xfrm>
          <a:prstGeom prst="rect">
            <a:avLst/>
          </a:prstGeom>
          <a:noFill/>
        </p:spPr>
        <p:txBody>
          <a:bodyPr wrap="none" lIns="0" rIns="0" tIns="0" bIns="0" anchor="t">
            <a:spAutoFit/>
          </a:bodyPr>
          <a:lstStyle/>
          <a:p>
            <a:pPr algn="l">
              <a:lnSpc>
                <a:spcPts val="1037"/>
              </a:lnSpc>
              <a:spcBef>
                <a:spcPts val="0"/>
              </a:spcBef>
              <a:spcAft>
                <a:spcPts val="0"/>
              </a:spcAft>
            </a:pPr>
            <a:r>
              <a:rPr sz="850" b="0">
                <a:solidFill>
                  <a:srgbClr val="546966"/>
                </a:solidFill>
                <a:latin typeface="Arial"/>
                <a:hlinkClick r:id="rId3"/>
              </a:rPr>
              <a:t>Repository</a:t>
            </a:r>
          </a:p>
        </p:txBody>
      </p:sp>
      <p:sp>
        <p:nvSpPr>
          <p:cNvPr id="12" name="Rectangle 11"/>
          <p:cNvSpPr/>
          <p:nvPr/>
        </p:nvSpPr>
        <p:spPr>
          <a:xfrm>
            <a:off x="558800" y="2184400"/>
            <a:ext cx="3403600" cy="63500"/>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8800" y="2514600"/>
            <a:ext cx="3403600" cy="286004"/>
          </a:xfrm>
          <a:prstGeom prst="rect">
            <a:avLst/>
          </a:prstGeom>
          <a:noFill/>
        </p:spPr>
        <p:txBody>
          <a:bodyPr wrap="none" lIns="0" rIns="0" tIns="0" bIns="0" anchor="t">
            <a:spAutoFit/>
          </a:bodyPr>
          <a:lstStyle/>
          <a:p>
            <a:pPr algn="l">
              <a:lnSpc>
                <a:spcPts val="1952"/>
              </a:lnSpc>
              <a:spcBef>
                <a:spcPts val="0"/>
              </a:spcBef>
              <a:spcAft>
                <a:spcPts val="0"/>
              </a:spcAft>
            </a:pPr>
            <a:r>
              <a:rPr sz="1600" b="1">
                <a:solidFill>
                  <a:srgbClr val="00796B"/>
                </a:solidFill>
                <a:latin typeface="Arial"/>
              </a:rPr>
              <a:t>WORKING NOW</a:t>
            </a:r>
          </a:p>
        </p:txBody>
      </p:sp>
      <p:sp>
        <p:nvSpPr>
          <p:cNvPr id="14" name="TextBox 13"/>
          <p:cNvSpPr txBox="1"/>
          <p:nvPr/>
        </p:nvSpPr>
        <p:spPr>
          <a:xfrm>
            <a:off x="558800" y="3098800"/>
            <a:ext cx="3403600" cy="1153668"/>
          </a:xfrm>
          <a:prstGeom prst="rect">
            <a:avLst/>
          </a:prstGeom>
          <a:noFill/>
        </p:spPr>
        <p:txBody>
          <a:bodyPr wrap="none" lIns="0" rIns="0" tIns="0" bIns="0" anchor="t">
            <a:spAutoFit/>
          </a:bodyPr>
          <a:lstStyle/>
          <a:p>
            <a:pPr algn="l">
              <a:lnSpc>
                <a:spcPts val="2196"/>
              </a:lnSpc>
              <a:spcBef>
                <a:spcPts val="0"/>
              </a:spcBef>
              <a:spcAft>
                <a:spcPts val="0"/>
              </a:spcAft>
            </a:pPr>
            <a:r>
              <a:rPr sz="1800" b="0">
                <a:solidFill>
                  <a:srgbClr val="546966"/>
                </a:solidFill>
                <a:latin typeface="Arial"/>
              </a:rPr>
              <a:t>Fine-tuned CF detector</a:t>
            </a:r>
          </a:p>
          <a:p>
            <a:pPr algn="l">
              <a:lnSpc>
                <a:spcPts val="2196"/>
              </a:lnSpc>
              <a:spcBef>
                <a:spcPts val="0"/>
              </a:spcBef>
              <a:spcAft>
                <a:spcPts val="0"/>
              </a:spcAft>
            </a:pPr>
            <a:r>
              <a:rPr sz="1800" b="0">
                <a:solidFill>
                  <a:srgbClr val="546966"/>
                </a:solidFill>
                <a:latin typeface="Arial"/>
              </a:rPr>
              <a:t>Repeatable inference</a:t>
            </a:r>
          </a:p>
          <a:p>
            <a:pPr algn="l">
              <a:lnSpc>
                <a:spcPts val="2196"/>
              </a:lnSpc>
              <a:spcBef>
                <a:spcPts val="0"/>
              </a:spcBef>
              <a:spcAft>
                <a:spcPts val="0"/>
              </a:spcAft>
            </a:pPr>
            <a:r>
              <a:rPr sz="1800" b="0">
                <a:solidFill>
                  <a:srgbClr val="546966"/>
                </a:solidFill>
                <a:latin typeface="Arial"/>
              </a:rPr>
              <a:t>EXIF / C2PA reporting</a:t>
            </a:r>
          </a:p>
          <a:p>
            <a:pPr algn="l">
              <a:lnSpc>
                <a:spcPts val="2196"/>
              </a:lnSpc>
              <a:spcBef>
                <a:spcPts val="0"/>
              </a:spcBef>
              <a:spcAft>
                <a:spcPts val="0"/>
              </a:spcAft>
            </a:pPr>
            <a:r>
              <a:rPr sz="1800" b="0">
                <a:solidFill>
                  <a:srgbClr val="546966"/>
                </a:solidFill>
                <a:latin typeface="Arial"/>
              </a:rPr>
              <a:t>Combined local upload API</a:t>
            </a:r>
          </a:p>
        </p:txBody>
      </p:sp>
      <p:sp>
        <p:nvSpPr>
          <p:cNvPr id="15" name="Rectangle 14"/>
          <p:cNvSpPr/>
          <p:nvPr/>
        </p:nvSpPr>
        <p:spPr>
          <a:xfrm>
            <a:off x="4368800" y="2184400"/>
            <a:ext cx="3403600" cy="63500"/>
          </a:xfrm>
          <a:prstGeom prst="rect">
            <a:avLst/>
          </a:prstGeom>
          <a:solidFill>
            <a:srgbClr val="B7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68800" y="2514600"/>
            <a:ext cx="3403600" cy="286004"/>
          </a:xfrm>
          <a:prstGeom prst="rect">
            <a:avLst/>
          </a:prstGeom>
          <a:noFill/>
        </p:spPr>
        <p:txBody>
          <a:bodyPr wrap="none" lIns="0" rIns="0" tIns="0" bIns="0" anchor="t">
            <a:spAutoFit/>
          </a:bodyPr>
          <a:lstStyle/>
          <a:p>
            <a:pPr algn="l">
              <a:lnSpc>
                <a:spcPts val="1952"/>
              </a:lnSpc>
              <a:spcBef>
                <a:spcPts val="0"/>
              </a:spcBef>
              <a:spcAft>
                <a:spcPts val="0"/>
              </a:spcAft>
            </a:pPr>
            <a:r>
              <a:rPr sz="1600" b="1">
                <a:solidFill>
                  <a:srgbClr val="B77B00"/>
                </a:solidFill>
                <a:latin typeface="Arial"/>
              </a:rPr>
              <a:t>NEXT</a:t>
            </a:r>
          </a:p>
        </p:txBody>
      </p:sp>
      <p:sp>
        <p:nvSpPr>
          <p:cNvPr id="17" name="TextBox 16"/>
          <p:cNvSpPr txBox="1"/>
          <p:nvPr/>
        </p:nvSpPr>
        <p:spPr>
          <a:xfrm>
            <a:off x="4368800" y="3098800"/>
            <a:ext cx="3403600" cy="1153668"/>
          </a:xfrm>
          <a:prstGeom prst="rect">
            <a:avLst/>
          </a:prstGeom>
          <a:noFill/>
        </p:spPr>
        <p:txBody>
          <a:bodyPr wrap="none" lIns="0" rIns="0" tIns="0" bIns="0" anchor="t">
            <a:spAutoFit/>
          </a:bodyPr>
          <a:lstStyle/>
          <a:p>
            <a:pPr algn="l">
              <a:lnSpc>
                <a:spcPts val="2196"/>
              </a:lnSpc>
              <a:spcBef>
                <a:spcPts val="0"/>
              </a:spcBef>
              <a:spcAft>
                <a:spcPts val="0"/>
              </a:spcAft>
            </a:pPr>
            <a:r>
              <a:rPr sz="1800" b="0">
                <a:solidFill>
                  <a:srgbClr val="546966"/>
                </a:solidFill>
                <a:latin typeface="Arial"/>
              </a:rPr>
              <a:t>JPEG / resize robustness</a:t>
            </a:r>
          </a:p>
          <a:p>
            <a:pPr algn="l">
              <a:lnSpc>
                <a:spcPts val="2196"/>
              </a:lnSpc>
              <a:spcBef>
                <a:spcPts val="0"/>
              </a:spcBef>
              <a:spcAft>
                <a:spcPts val="0"/>
              </a:spcAft>
            </a:pPr>
            <a:r>
              <a:rPr sz="1800" b="0">
                <a:solidFill>
                  <a:srgbClr val="546966"/>
                </a:solidFill>
                <a:latin typeface="Arial"/>
              </a:rPr>
              <a:t>Artwork and edited-photo tests</a:t>
            </a:r>
          </a:p>
          <a:p>
            <a:pPr algn="l">
              <a:lnSpc>
                <a:spcPts val="2196"/>
              </a:lnSpc>
              <a:spcBef>
                <a:spcPts val="0"/>
              </a:spcBef>
              <a:spcAft>
                <a:spcPts val="0"/>
              </a:spcAft>
            </a:pPr>
            <a:r>
              <a:rPr sz="1800" b="0">
                <a:solidFill>
                  <a:srgbClr val="546966"/>
                </a:solidFill>
                <a:latin typeface="Arial"/>
              </a:rPr>
              <a:t>Publish code + build website</a:t>
            </a:r>
          </a:p>
          <a:p>
            <a:pPr algn="l">
              <a:lnSpc>
                <a:spcPts val="2196"/>
              </a:lnSpc>
              <a:spcBef>
                <a:spcPts val="0"/>
              </a:spcBef>
              <a:spcAft>
                <a:spcPts val="0"/>
              </a:spcAft>
            </a:pPr>
            <a:r>
              <a:rPr sz="1800" b="0">
                <a:solidFill>
                  <a:srgbClr val="546966"/>
                </a:solidFill>
                <a:latin typeface="Arial"/>
              </a:rPr>
              <a:t>Prepare public deployment</a:t>
            </a:r>
          </a:p>
        </p:txBody>
      </p:sp>
      <p:sp>
        <p:nvSpPr>
          <p:cNvPr id="18" name="Rectangle 17"/>
          <p:cNvSpPr/>
          <p:nvPr/>
        </p:nvSpPr>
        <p:spPr>
          <a:xfrm>
            <a:off x="8178800" y="2184400"/>
            <a:ext cx="3403600" cy="63500"/>
          </a:xfrm>
          <a:prstGeom prst="rect">
            <a:avLst/>
          </a:prstGeom>
          <a:solidFill>
            <a:srgbClr val="5469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78800" y="2514600"/>
            <a:ext cx="3403600" cy="286004"/>
          </a:xfrm>
          <a:prstGeom prst="rect">
            <a:avLst/>
          </a:prstGeom>
          <a:noFill/>
        </p:spPr>
        <p:txBody>
          <a:bodyPr wrap="none" lIns="0" rIns="0" tIns="0" bIns="0" anchor="t">
            <a:spAutoFit/>
          </a:bodyPr>
          <a:lstStyle/>
          <a:p>
            <a:pPr algn="l">
              <a:lnSpc>
                <a:spcPts val="1952"/>
              </a:lnSpc>
              <a:spcBef>
                <a:spcPts val="0"/>
              </a:spcBef>
              <a:spcAft>
                <a:spcPts val="0"/>
              </a:spcAft>
            </a:pPr>
            <a:r>
              <a:rPr sz="1600" b="1">
                <a:solidFill>
                  <a:srgbClr val="546966"/>
                </a:solidFill>
                <a:latin typeface="Arial"/>
              </a:rPr>
              <a:t>LATER</a:t>
            </a:r>
          </a:p>
        </p:txBody>
      </p:sp>
      <p:sp>
        <p:nvSpPr>
          <p:cNvPr id="20" name="TextBox 19"/>
          <p:cNvSpPr txBox="1"/>
          <p:nvPr/>
        </p:nvSpPr>
        <p:spPr>
          <a:xfrm>
            <a:off x="8178800" y="3098800"/>
            <a:ext cx="3403600" cy="874776"/>
          </a:xfrm>
          <a:prstGeom prst="rect">
            <a:avLst/>
          </a:prstGeom>
          <a:noFill/>
        </p:spPr>
        <p:txBody>
          <a:bodyPr wrap="none" lIns="0" rIns="0" tIns="0" bIns="0" anchor="t">
            <a:spAutoFit/>
          </a:bodyPr>
          <a:lstStyle/>
          <a:p>
            <a:pPr algn="l">
              <a:lnSpc>
                <a:spcPts val="2196"/>
              </a:lnSpc>
              <a:spcBef>
                <a:spcPts val="0"/>
              </a:spcBef>
              <a:spcAft>
                <a:spcPts val="0"/>
              </a:spcAft>
            </a:pPr>
            <a:r>
              <a:rPr sz="1800" b="0">
                <a:solidFill>
                  <a:srgbClr val="546966"/>
                </a:solidFill>
                <a:latin typeface="Arial"/>
              </a:rPr>
              <a:t>Image / claim consistency</a:t>
            </a:r>
          </a:p>
          <a:p>
            <a:pPr algn="l">
              <a:lnSpc>
                <a:spcPts val="2196"/>
              </a:lnSpc>
              <a:spcBef>
                <a:spcPts val="0"/>
              </a:spcBef>
              <a:spcAft>
                <a:spcPts val="0"/>
              </a:spcAft>
            </a:pPr>
            <a:r>
              <a:rPr sz="1800" b="0">
                <a:solidFill>
                  <a:srgbClr val="546966"/>
                </a:solidFill>
                <a:latin typeface="Arial"/>
              </a:rPr>
              <a:t>Short-video support</a:t>
            </a:r>
          </a:p>
          <a:p>
            <a:pPr algn="l">
              <a:lnSpc>
                <a:spcPts val="2196"/>
              </a:lnSpc>
              <a:spcBef>
                <a:spcPts val="0"/>
              </a:spcBef>
              <a:spcAft>
                <a:spcPts val="0"/>
              </a:spcAft>
            </a:pPr>
            <a:r>
              <a:rPr sz="1800" b="0">
                <a:solidFill>
                  <a:srgbClr val="546966"/>
                </a:solidFill>
                <a:latin typeface="Arial"/>
              </a:rPr>
              <a:t>Broader source evaluation</a:t>
            </a:r>
          </a:p>
        </p:txBody>
      </p:sp>
      <p:sp>
        <p:nvSpPr>
          <p:cNvPr id="21" name="Rectangle 20"/>
          <p:cNvSpPr/>
          <p:nvPr/>
        </p:nvSpPr>
        <p:spPr>
          <a:xfrm>
            <a:off x="558800" y="5156200"/>
            <a:ext cx="11074400" cy="1054100"/>
          </a:xfrm>
          <a:prstGeom prst="rect">
            <a:avLst/>
          </a:prstGeom>
          <a:solidFill>
            <a:srgbClr val="DF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2000" y="5321300"/>
            <a:ext cx="10668000" cy="286004"/>
          </a:xfrm>
          <a:prstGeom prst="rect">
            <a:avLst/>
          </a:prstGeom>
          <a:noFill/>
        </p:spPr>
        <p:txBody>
          <a:bodyPr wrap="none" lIns="0" rIns="0" tIns="0" bIns="0" anchor="t">
            <a:spAutoFit/>
          </a:bodyPr>
          <a:lstStyle/>
          <a:p>
            <a:pPr algn="l">
              <a:lnSpc>
                <a:spcPts val="1952"/>
              </a:lnSpc>
              <a:spcBef>
                <a:spcPts val="0"/>
              </a:spcBef>
              <a:spcAft>
                <a:spcPts val="0"/>
              </a:spcAft>
            </a:pPr>
            <a:r>
              <a:rPr sz="1600" b="1">
                <a:solidFill>
                  <a:srgbClr val="00796B"/>
                </a:solidFill>
                <a:latin typeface="Arial"/>
              </a:rPr>
              <a:t>For discussion</a:t>
            </a:r>
          </a:p>
        </p:txBody>
      </p:sp>
      <p:sp>
        <p:nvSpPr>
          <p:cNvPr id="23" name="TextBox 22"/>
          <p:cNvSpPr txBox="1"/>
          <p:nvPr/>
        </p:nvSpPr>
        <p:spPr>
          <a:xfrm>
            <a:off x="762000" y="5676900"/>
            <a:ext cx="10668000" cy="533908"/>
          </a:xfrm>
          <a:prstGeom prst="rect">
            <a:avLst/>
          </a:prstGeom>
          <a:noFill/>
        </p:spPr>
        <p:txBody>
          <a:bodyPr wrap="none" lIns="0" rIns="0" tIns="0" bIns="0" anchor="t">
            <a:spAutoFit/>
          </a:bodyPr>
          <a:lstStyle/>
          <a:p>
            <a:pPr algn="l">
              <a:lnSpc>
                <a:spcPts val="1952"/>
              </a:lnSpc>
              <a:spcBef>
                <a:spcPts val="0"/>
              </a:spcBef>
              <a:spcAft>
                <a:spcPts val="0"/>
              </a:spcAft>
            </a:pPr>
            <a:r>
              <a:rPr sz="1600" b="0">
                <a:solidFill>
                  <a:srgbClr val="172C2B"/>
                </a:solidFill>
                <a:latin typeface="Arial"/>
              </a:rPr>
              <a:t>Which evaluation would make the capstone most convincing?</a:t>
            </a:r>
          </a:p>
          <a:p>
            <a:pPr algn="l">
              <a:lnSpc>
                <a:spcPts val="1952"/>
              </a:lnSpc>
              <a:spcBef>
                <a:spcPts val="0"/>
              </a:spcBef>
              <a:spcAft>
                <a:spcPts val="0"/>
              </a:spcAft>
            </a:pPr>
            <a:r>
              <a:rPr sz="1600" b="0">
                <a:solidFill>
                  <a:srgbClr val="172C2B"/>
                </a:solidFill>
                <a:latin typeface="Arial"/>
              </a:rPr>
              <a:t>How should uncertain or conflicting evidence be presented?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Shield: Capstone Research and Development</dc:title>
  <dc:subject>A milestone-based project history without calendar dates</dc:subject>
  <dc:creator>Abdelrahman Soliman</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